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4"/>
  </p:sldMasterIdLst>
  <p:notesMasterIdLst>
    <p:notesMasterId r:id="rId27"/>
  </p:notesMasterIdLst>
  <p:sldIdLst>
    <p:sldId id="256" r:id="rId5"/>
    <p:sldId id="258" r:id="rId6"/>
    <p:sldId id="259" r:id="rId7"/>
    <p:sldId id="260" r:id="rId8"/>
    <p:sldId id="261" r:id="rId9"/>
    <p:sldId id="262" r:id="rId10"/>
    <p:sldId id="264" r:id="rId11"/>
    <p:sldId id="268" r:id="rId12"/>
    <p:sldId id="265" r:id="rId13"/>
    <p:sldId id="266" r:id="rId14"/>
    <p:sldId id="267" r:id="rId15"/>
    <p:sldId id="269" r:id="rId16"/>
    <p:sldId id="270" r:id="rId17"/>
    <p:sldId id="271" r:id="rId18"/>
    <p:sldId id="272" r:id="rId19"/>
    <p:sldId id="273" r:id="rId20"/>
    <p:sldId id="274" r:id="rId21"/>
    <p:sldId id="277" r:id="rId22"/>
    <p:sldId id="276" r:id="rId23"/>
    <p:sldId id="278" r:id="rId24"/>
    <p:sldId id="275" r:id="rId25"/>
    <p:sldId id="27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D9E5"/>
    <a:srgbClr val="2E0C27"/>
    <a:srgbClr val="1C324E"/>
    <a:srgbClr val="0B1C3A"/>
    <a:srgbClr val="240B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BCC408-A6C4-46E3-8582-4FDD73FF2BBD}" v="22" dt="2026-06-22T05:30:33.29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Estilo medio 3 - Énfasis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22" autoAdjust="0"/>
    <p:restoredTop sz="94296" autoAdjust="0"/>
  </p:normalViewPr>
  <p:slideViewPr>
    <p:cSldViewPr snapToGrid="0">
      <p:cViewPr varScale="1">
        <p:scale>
          <a:sx n="97" d="100"/>
          <a:sy n="97" d="100"/>
        </p:scale>
        <p:origin x="1454" y="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200" b="1" i="0" u="none" strike="noStrike" kern="1200" baseline="0">
              <a:solidFill>
                <a:schemeClr val="bg1"/>
              </a:solidFill>
              <a:latin typeface="+mn-lt"/>
              <a:ea typeface="+mn-ea"/>
              <a:cs typeface="+mn-cs"/>
            </a:defRPr>
          </a:pPr>
          <a:endParaRPr lang="es-CL"/>
        </a:p>
      </c:txPr>
    </c:title>
    <c:autoTitleDeleted val="0"/>
    <c:plotArea>
      <c:layout/>
      <c:pieChart>
        <c:varyColors val="1"/>
        <c:ser>
          <c:idx val="0"/>
          <c:order val="0"/>
          <c:tx>
            <c:strRef>
              <c:f>Hoja1!$B$1</c:f>
              <c:strCache>
                <c:ptCount val="1"/>
                <c:pt idx="0">
                  <c:v>Vistas</c:v>
                </c:pt>
              </c:strCache>
            </c:strRef>
          </c:tx>
          <c:dPt>
            <c:idx val="0"/>
            <c:bubble3D val="0"/>
            <c:spPr>
              <a:solidFill>
                <a:schemeClr val="accent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AB47-4C2B-8C6E-D56C50202FFC}"/>
              </c:ext>
            </c:extLst>
          </c:dPt>
          <c:dPt>
            <c:idx val="1"/>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AB47-4C2B-8C6E-D56C50202FFC}"/>
              </c:ext>
            </c:extLst>
          </c:dPt>
          <c:dPt>
            <c:idx val="2"/>
            <c:bubble3D val="0"/>
            <c:spPr>
              <a:solidFill>
                <a:schemeClr val="accent3"/>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AB47-4C2B-8C6E-D56C50202FFC}"/>
              </c:ext>
            </c:extLst>
          </c:dPt>
          <c:dPt>
            <c:idx val="3"/>
            <c:bubble3D val="0"/>
            <c:spPr>
              <a:solidFill>
                <a:schemeClr val="accent4"/>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7-AB47-4C2B-8C6E-D56C50202FFC}"/>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s-CL"/>
              </a:p>
            </c:txPr>
            <c:dLblPos val="inEnd"/>
            <c:showLegendKey val="0"/>
            <c:showVal val="1"/>
            <c:showCatName val="0"/>
            <c:showSerName val="0"/>
            <c:showPercent val="1"/>
            <c:showBubbleSize val="0"/>
            <c:separator>
</c:separator>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Hoja1!$A$2:$A$5</c:f>
              <c:strCache>
                <c:ptCount val="4"/>
                <c:pt idx="0">
                  <c:v>/eduram</c:v>
                </c:pt>
                <c:pt idx="1">
                  <c:v>/micomunidad</c:v>
                </c:pt>
                <c:pt idx="2">
                  <c:v>/restaurante</c:v>
                </c:pt>
                <c:pt idx="3">
                  <c:v>/encuesta-pasaje</c:v>
                </c:pt>
              </c:strCache>
            </c:strRef>
          </c:cat>
          <c:val>
            <c:numRef>
              <c:f>Hoja1!$B$2:$B$5</c:f>
              <c:numCache>
                <c:formatCode>General</c:formatCode>
                <c:ptCount val="4"/>
                <c:pt idx="0">
                  <c:v>131</c:v>
                </c:pt>
                <c:pt idx="1">
                  <c:v>29</c:v>
                </c:pt>
                <c:pt idx="2">
                  <c:v>20</c:v>
                </c:pt>
                <c:pt idx="3">
                  <c:v>20</c:v>
                </c:pt>
              </c:numCache>
            </c:numRef>
          </c:val>
          <c:extLst>
            <c:ext xmlns:c16="http://schemas.microsoft.com/office/drawing/2014/chart" uri="{C3380CC4-5D6E-409C-BE32-E72D297353CC}">
              <c16:uniqueId val="{00000000-3942-441E-945C-4DAB1FCA5E0C}"/>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b"/>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s-C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7"/>
    </mc:Choice>
    <mc:Fallback>
      <c:style val="7"/>
    </mc:Fallback>
  </mc:AlternateContent>
  <c:chart>
    <c:title>
      <c:overlay val="0"/>
      <c:spPr>
        <a:noFill/>
        <a:ln>
          <a:noFill/>
        </a:ln>
        <a:effectLst/>
      </c:spPr>
      <c:txPr>
        <a:bodyPr rot="0" spcFirstLastPara="1" vertOverflow="ellipsis" vert="horz" wrap="square" anchor="ctr" anchorCtr="1"/>
        <a:lstStyle/>
        <a:p>
          <a:pPr>
            <a:defRPr sz="2200" b="1" i="0" u="none" strike="noStrike" kern="1200" baseline="0">
              <a:solidFill>
                <a:schemeClr val="bg1"/>
              </a:solidFill>
              <a:latin typeface="+mn-lt"/>
              <a:ea typeface="+mn-ea"/>
              <a:cs typeface="+mn-cs"/>
            </a:defRPr>
          </a:pPr>
          <a:endParaRPr lang="es-CL"/>
        </a:p>
      </c:txPr>
    </c:title>
    <c:autoTitleDeleted val="0"/>
    <c:plotArea>
      <c:layout/>
      <c:ofPieChart>
        <c:ofPieType val="pie"/>
        <c:varyColors val="1"/>
        <c:ser>
          <c:idx val="0"/>
          <c:order val="0"/>
          <c:tx>
            <c:strRef>
              <c:f>Hoja1!$B$1</c:f>
              <c:strCache>
                <c:ptCount val="1"/>
                <c:pt idx="0">
                  <c:v>Llegó a la lección</c:v>
                </c:pt>
              </c:strCache>
            </c:strRef>
          </c:tx>
          <c:dPt>
            <c:idx val="0"/>
            <c:bubble3D val="0"/>
            <c:spPr>
              <a:solidFill>
                <a:schemeClr val="accent5">
                  <a:shade val="58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9B7F-4C0B-8AFF-D890564FD11D}"/>
              </c:ext>
            </c:extLst>
          </c:dPt>
          <c:dPt>
            <c:idx val="1"/>
            <c:bubble3D val="0"/>
            <c:spPr>
              <a:solidFill>
                <a:schemeClr val="accent5">
                  <a:shade val="86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9B7F-4C0B-8AFF-D890564FD11D}"/>
              </c:ext>
            </c:extLst>
          </c:dPt>
          <c:dPt>
            <c:idx val="2"/>
            <c:bubble3D val="0"/>
            <c:spPr>
              <a:solidFill>
                <a:schemeClr val="accent5">
                  <a:tint val="86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9B7F-4C0B-8AFF-D890564FD11D}"/>
              </c:ext>
            </c:extLst>
          </c:dPt>
          <c:dPt>
            <c:idx val="3"/>
            <c:bubble3D val="0"/>
            <c:spPr>
              <a:solidFill>
                <a:schemeClr val="accent5">
                  <a:tint val="58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7-9B7F-4C0B-8AFF-D890564FD11D}"/>
              </c:ext>
            </c:extLst>
          </c:dPt>
          <c:dPt>
            <c:idx val="4"/>
            <c:bubble3D val="0"/>
            <c:spPr>
              <a:solidFill>
                <a:schemeClr val="accent5">
                  <a:tint val="3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48FE-4DCE-86B0-C93A62EA75E7}"/>
              </c:ext>
            </c:extLst>
          </c:dPt>
          <c:dLbls>
            <c:dLbl>
              <c:idx val="4"/>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85000"/>
                          <a:lumOff val="15000"/>
                        </a:schemeClr>
                      </a:solidFill>
                      <a:latin typeface="+mn-lt"/>
                      <a:ea typeface="+mn-ea"/>
                      <a:cs typeface="+mn-cs"/>
                    </a:defRPr>
                  </a:pPr>
                  <a:endParaRPr lang="es-CL"/>
                </a:p>
              </c:txPr>
              <c:dLblPos val="inEnd"/>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8FE-4DCE-86B0-C93A62EA75E7}"/>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s-CL"/>
              </a:p>
            </c:txPr>
            <c:dLblPos val="inEnd"/>
            <c:showLegendKey val="0"/>
            <c:showVal val="1"/>
            <c:showCatName val="0"/>
            <c:showSerName val="0"/>
            <c:showPercent val="1"/>
            <c:showBubbleSize val="0"/>
            <c:separator>
</c:separator>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Hoja1!$A$3:$A$5</c:f>
              <c:strCache>
                <c:ptCount val="3"/>
                <c:pt idx="0">
                  <c:v>No</c:v>
                </c:pt>
                <c:pt idx="1">
                  <c:v>Toda</c:v>
                </c:pt>
                <c:pt idx="2">
                  <c:v>No Toda</c:v>
                </c:pt>
              </c:strCache>
            </c:strRef>
          </c:cat>
          <c:val>
            <c:numRef>
              <c:f>Hoja1!$B$2:$B$5</c:f>
              <c:numCache>
                <c:formatCode>General</c:formatCode>
                <c:ptCount val="4"/>
                <c:pt idx="1">
                  <c:v>90</c:v>
                </c:pt>
                <c:pt idx="2">
                  <c:v>41</c:v>
                </c:pt>
                <c:pt idx="3">
                  <c:v>69</c:v>
                </c:pt>
              </c:numCache>
            </c:numRef>
          </c:val>
          <c:extLst>
            <c:ext xmlns:c16="http://schemas.microsoft.com/office/drawing/2014/chart" uri="{C3380CC4-5D6E-409C-BE32-E72D297353CC}">
              <c16:uniqueId val="{00000000-48FE-4DCE-86B0-C93A62EA75E7}"/>
            </c:ext>
          </c:extLst>
        </c:ser>
        <c:dLbls>
          <c:dLblPos val="inEnd"/>
          <c:showLegendKey val="0"/>
          <c:showVal val="0"/>
          <c:showCatName val="0"/>
          <c:showSerName val="0"/>
          <c:showPercent val="1"/>
          <c:showBubbleSize val="0"/>
          <c:showLeaderLines val="1"/>
        </c:dLbls>
        <c:gapWidth val="51"/>
        <c:splitType val="pos"/>
        <c:splitPos val="2"/>
        <c:secondPieSize val="65"/>
        <c:serLines>
          <c:spPr>
            <a:ln w="9525" cap="flat" cmpd="sng" algn="ctr">
              <a:solidFill>
                <a:schemeClr val="dk1">
                  <a:lumMod val="35000"/>
                  <a:lumOff val="65000"/>
                </a:schemeClr>
              </a:solidFill>
              <a:round/>
            </a:ln>
            <a:effectLst/>
          </c:spPr>
        </c:serLines>
      </c:ofPieChart>
      <c:spPr>
        <a:noFill/>
        <a:ln>
          <a:noFill/>
        </a:ln>
        <a:effectLst/>
      </c:spPr>
    </c:plotArea>
    <c:legend>
      <c:legendPos val="b"/>
      <c:layout>
        <c:manualLayout>
          <c:xMode val="edge"/>
          <c:yMode val="edge"/>
          <c:x val="0.11890570896866201"/>
          <c:y val="0.87156814865935872"/>
          <c:w val="0.72285144607288943"/>
          <c:h val="9.9313228491005698E-2"/>
        </c:manualLayout>
      </c:layout>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tx1">
                  <a:lumMod val="85000"/>
                  <a:lumOff val="15000"/>
                </a:schemeClr>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diagrams/_rels/data1.xml.rels><?xml version="1.0" encoding="UTF-8" standalone="yes"?>
<Relationships xmlns="http://schemas.openxmlformats.org/package/2006/relationships"><Relationship Id="rId3" Type="http://schemas.openxmlformats.org/officeDocument/2006/relationships/hyperlink" Target="https://github.com/nachoparada/IIC2531/tree/main/2026-1" TargetMode="External"/><Relationship Id="rId2" Type="http://schemas.openxmlformats.org/officeDocument/2006/relationships/hyperlink" Target="https://www.sernac.cl/portal/607/articles-86577_archivo_01.pdf" TargetMode="External"/><Relationship Id="rId1" Type="http://schemas.openxmlformats.org/officeDocument/2006/relationships/hyperlink" Target="https://www.microsoft.com/es-cl/security/business/security-101/what-is-phishing" TargetMode="External"/><Relationship Id="rId5" Type="http://schemas.openxmlformats.org/officeDocument/2006/relationships/hyperlink" Target="https://github.com/16Kmi16/Proyecto_seguridad" TargetMode="External"/><Relationship Id="rId4" Type="http://schemas.openxmlformats.org/officeDocument/2006/relationships/hyperlink" Target="https://libro-de-reclamos-login.netlify.app/" TargetMode="External"/></Relationships>
</file>

<file path=ppt/diagrams/_rels/drawing1.xml.rels><?xml version="1.0" encoding="UTF-8" standalone="yes"?>
<Relationships xmlns="http://schemas.openxmlformats.org/package/2006/relationships"><Relationship Id="rId3" Type="http://schemas.openxmlformats.org/officeDocument/2006/relationships/hyperlink" Target="https://github.com/nachoparada/IIC2531/tree/main/2026-1" TargetMode="External"/><Relationship Id="rId2" Type="http://schemas.openxmlformats.org/officeDocument/2006/relationships/hyperlink" Target="https://www.sernac.cl/portal/607/articles-86577_archivo_01.pdf" TargetMode="External"/><Relationship Id="rId1" Type="http://schemas.openxmlformats.org/officeDocument/2006/relationships/hyperlink" Target="https://www.microsoft.com/es-cl/security/business/security-101/what-is-phishing" TargetMode="External"/><Relationship Id="rId5" Type="http://schemas.openxmlformats.org/officeDocument/2006/relationships/hyperlink" Target="https://github.com/16Kmi16/Proyecto_seguridad" TargetMode="External"/><Relationship Id="rId4" Type="http://schemas.openxmlformats.org/officeDocument/2006/relationships/hyperlink" Target="https://libro-de-reclamos-login.netlify.app/" TargetMode="Externa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9CD0DC-3BE2-4743-90FB-592EDBB984FF}" type="doc">
      <dgm:prSet loTypeId="urn:microsoft.com/office/officeart/2008/layout/VerticalCurvedList" loCatId="list" qsTypeId="urn:microsoft.com/office/officeart/2005/8/quickstyle/simple1" qsCatId="simple" csTypeId="urn:microsoft.com/office/officeart/2005/8/colors/colorful4" csCatId="colorful" phldr="1"/>
      <dgm:spPr/>
      <dgm:t>
        <a:bodyPr/>
        <a:lstStyle/>
        <a:p>
          <a:endParaRPr lang="es-CL"/>
        </a:p>
      </dgm:t>
    </dgm:pt>
    <dgm:pt modelId="{B6D7A156-0169-48D4-850E-9619CA922973}">
      <dgm:prSet/>
      <dgm:spPr/>
      <dgm:t>
        <a:bodyPr/>
        <a:lstStyle/>
        <a:p>
          <a:pPr>
            <a:buNone/>
          </a:pPr>
          <a:r>
            <a:rPr lang="es-CL" noProof="0" dirty="0"/>
            <a:t>Microsoft. (s.f.). </a:t>
          </a:r>
          <a:r>
            <a:rPr lang="es-CL" i="1" noProof="0" dirty="0"/>
            <a:t>¿Qué es el phishing?</a:t>
          </a:r>
          <a:r>
            <a:rPr lang="es-CL" noProof="0" dirty="0"/>
            <a:t> Microsoft Security. Recuperado el 20 de junio de 2026, de </a:t>
          </a:r>
          <a:r>
            <a:rPr lang="es-CL" noProof="0" dirty="0">
              <a:hlinkClick xmlns:r="http://schemas.openxmlformats.org/officeDocument/2006/relationships" r:id="rId1"/>
            </a:rPr>
            <a:t>https://www.microsoft.com/es-cl/security/business/security-101/what-is-phishing</a:t>
          </a:r>
          <a:endParaRPr lang="es-CL" noProof="0" dirty="0"/>
        </a:p>
      </dgm:t>
    </dgm:pt>
    <dgm:pt modelId="{C84E56A3-88AD-463D-AB32-154FA9289A3A}" type="parTrans" cxnId="{7921285F-8816-43C2-AB45-39763221E14C}">
      <dgm:prSet/>
      <dgm:spPr/>
      <dgm:t>
        <a:bodyPr/>
        <a:lstStyle/>
        <a:p>
          <a:endParaRPr lang="es-CL"/>
        </a:p>
      </dgm:t>
    </dgm:pt>
    <dgm:pt modelId="{AEA21C37-8007-4669-9730-62F63A426454}" type="sibTrans" cxnId="{7921285F-8816-43C2-AB45-39763221E14C}">
      <dgm:prSet/>
      <dgm:spPr/>
      <dgm:t>
        <a:bodyPr/>
        <a:lstStyle/>
        <a:p>
          <a:endParaRPr lang="es-CL"/>
        </a:p>
      </dgm:t>
    </dgm:pt>
    <dgm:pt modelId="{52847BF6-02E8-44E0-BA1E-616193AE27CC}">
      <dgm:prSet/>
      <dgm:spPr/>
      <dgm:t>
        <a:bodyPr/>
        <a:lstStyle/>
        <a:p>
          <a:pPr>
            <a:buNone/>
          </a:pPr>
          <a:r>
            <a:rPr lang="es-CL" noProof="0" dirty="0"/>
            <a:t>Servicio Nacional del Consumidor [SERNAC]. (s.f.). </a:t>
          </a:r>
          <a:r>
            <a:rPr lang="es-CL" i="1" noProof="0" dirty="0"/>
            <a:t>¡No escanees ese código QR! Guía de recomendaciones para evitar el fraude</a:t>
          </a:r>
          <a:r>
            <a:rPr lang="es-CL" noProof="0" dirty="0"/>
            <a:t>. Gobierno de Chile. Recuperado el 20 de junio de 2026, de </a:t>
          </a:r>
          <a:r>
            <a:rPr lang="es-CL" noProof="0" dirty="0">
              <a:hlinkClick xmlns:r="http://schemas.openxmlformats.org/officeDocument/2006/relationships" r:id="rId2"/>
            </a:rPr>
            <a:t>https://www.sernac.cl/portal/607/articles-86577_archivo_01.pdf</a:t>
          </a:r>
          <a:endParaRPr lang="es-CL" noProof="0" dirty="0"/>
        </a:p>
      </dgm:t>
    </dgm:pt>
    <dgm:pt modelId="{D35D213F-3F75-4C12-BA16-3502888DA1FC}" type="parTrans" cxnId="{00ADBD75-16A0-4F30-B2D9-57BA689C740C}">
      <dgm:prSet/>
      <dgm:spPr/>
      <dgm:t>
        <a:bodyPr/>
        <a:lstStyle/>
        <a:p>
          <a:endParaRPr lang="es-CL"/>
        </a:p>
      </dgm:t>
    </dgm:pt>
    <dgm:pt modelId="{1D0EA3FF-A3F0-4FA5-B395-ADD1762D8012}" type="sibTrans" cxnId="{00ADBD75-16A0-4F30-B2D9-57BA689C740C}">
      <dgm:prSet/>
      <dgm:spPr/>
      <dgm:t>
        <a:bodyPr/>
        <a:lstStyle/>
        <a:p>
          <a:endParaRPr lang="es-CL"/>
        </a:p>
      </dgm:t>
    </dgm:pt>
    <dgm:pt modelId="{92636047-59F0-4AEC-97D0-680EE1167441}">
      <dgm:prSet/>
      <dgm:spPr/>
      <dgm:t>
        <a:bodyPr/>
        <a:lstStyle/>
        <a:p>
          <a:pPr>
            <a:buNone/>
          </a:pPr>
          <a:r>
            <a:rPr lang="es-CL" noProof="0" dirty="0" err="1"/>
            <a:t>nachoparada</a:t>
          </a:r>
          <a:r>
            <a:rPr lang="es-CL" noProof="0" dirty="0"/>
            <a:t>. (2026). </a:t>
          </a:r>
          <a:r>
            <a:rPr lang="es-CL" i="1" noProof="0" dirty="0"/>
            <a:t>IIC2531</a:t>
          </a:r>
          <a:r>
            <a:rPr lang="es-CL" noProof="0" dirty="0"/>
            <a:t> (Directorio 2026-1). GitHub. </a:t>
          </a:r>
          <a:r>
            <a:rPr lang="es-CL" noProof="0" dirty="0">
              <a:hlinkClick xmlns:r="http://schemas.openxmlformats.org/officeDocument/2006/relationships" r:id="rId3"/>
            </a:rPr>
            <a:t>https://github.com/nachoparada/IIC2531/tree/main/2026-1</a:t>
          </a:r>
          <a:endParaRPr lang="es-CL" noProof="0" dirty="0"/>
        </a:p>
      </dgm:t>
    </dgm:pt>
    <dgm:pt modelId="{9689D3F4-2893-457B-911A-DAEA462F0AA8}" type="parTrans" cxnId="{06DA7028-B699-495A-8BE0-440FD4151E94}">
      <dgm:prSet/>
      <dgm:spPr/>
      <dgm:t>
        <a:bodyPr/>
        <a:lstStyle/>
        <a:p>
          <a:endParaRPr lang="es-CL"/>
        </a:p>
      </dgm:t>
    </dgm:pt>
    <dgm:pt modelId="{0D083C49-695B-48D9-AC61-1C0A9FA0A406}" type="sibTrans" cxnId="{06DA7028-B699-495A-8BE0-440FD4151E94}">
      <dgm:prSet/>
      <dgm:spPr/>
      <dgm:t>
        <a:bodyPr/>
        <a:lstStyle/>
        <a:p>
          <a:endParaRPr lang="es-CL"/>
        </a:p>
      </dgm:t>
    </dgm:pt>
    <dgm:pt modelId="{EF422ABF-9B63-441A-A6F0-A8A6A1C32966}">
      <dgm:prSet/>
      <dgm:spPr/>
      <dgm:t>
        <a:bodyPr/>
        <a:lstStyle/>
        <a:p>
          <a:pPr>
            <a:buNone/>
          </a:pPr>
          <a:r>
            <a:rPr lang="es-CL" noProof="0" dirty="0" err="1"/>
            <a:t>Deploy</a:t>
          </a:r>
          <a:r>
            <a:rPr lang="es-CL" noProof="0" dirty="0"/>
            <a:t>: </a:t>
          </a:r>
          <a:r>
            <a:rPr lang="es-CL" noProof="0" dirty="0">
              <a:hlinkClick xmlns:r="http://schemas.openxmlformats.org/officeDocument/2006/relationships" r:id="rId4"/>
            </a:rPr>
            <a:t>https://libro-de-reclamos-login.netlify.app/</a:t>
          </a:r>
          <a:endParaRPr lang="es-CL" noProof="0" dirty="0"/>
        </a:p>
      </dgm:t>
    </dgm:pt>
    <dgm:pt modelId="{C827232C-50BF-465A-9EC6-C0D73B6B599F}" type="parTrans" cxnId="{212567FB-20B8-4B33-A69B-316161F46F8A}">
      <dgm:prSet/>
      <dgm:spPr/>
      <dgm:t>
        <a:bodyPr/>
        <a:lstStyle/>
        <a:p>
          <a:endParaRPr lang="es-CL"/>
        </a:p>
      </dgm:t>
    </dgm:pt>
    <dgm:pt modelId="{345C0ADF-9E72-43DE-980B-B8E08DB8D07F}" type="sibTrans" cxnId="{212567FB-20B8-4B33-A69B-316161F46F8A}">
      <dgm:prSet/>
      <dgm:spPr/>
      <dgm:t>
        <a:bodyPr/>
        <a:lstStyle/>
        <a:p>
          <a:endParaRPr lang="es-CL"/>
        </a:p>
      </dgm:t>
    </dgm:pt>
    <dgm:pt modelId="{6E656BE5-68B5-4203-9BB6-8CAD6BE4BB38}">
      <dgm:prSet/>
      <dgm:spPr/>
      <dgm:t>
        <a:bodyPr/>
        <a:lstStyle/>
        <a:p>
          <a:pPr>
            <a:buNone/>
          </a:pPr>
          <a:r>
            <a:rPr lang="es-CL" noProof="0" dirty="0"/>
            <a:t>Repositorio: </a:t>
          </a:r>
          <a:r>
            <a:rPr lang="es-CL" noProof="0" dirty="0">
              <a:hlinkClick xmlns:r="http://schemas.openxmlformats.org/officeDocument/2006/relationships" r:id="rId5"/>
            </a:rPr>
            <a:t>https://github.com/16Kmi16/Proyecto_seguridad</a:t>
          </a:r>
          <a:endParaRPr lang="es-CL" noProof="0" dirty="0"/>
        </a:p>
      </dgm:t>
    </dgm:pt>
    <dgm:pt modelId="{74A88760-0D63-4A00-885B-9386FC006FBB}" type="parTrans" cxnId="{9D9A6190-DA6E-4EA3-9642-FE2686F9ABEE}">
      <dgm:prSet/>
      <dgm:spPr/>
      <dgm:t>
        <a:bodyPr/>
        <a:lstStyle/>
        <a:p>
          <a:endParaRPr lang="es-CL"/>
        </a:p>
      </dgm:t>
    </dgm:pt>
    <dgm:pt modelId="{49EEDF72-1A7B-419C-B963-F1440B81D370}" type="sibTrans" cxnId="{9D9A6190-DA6E-4EA3-9642-FE2686F9ABEE}">
      <dgm:prSet/>
      <dgm:spPr/>
      <dgm:t>
        <a:bodyPr/>
        <a:lstStyle/>
        <a:p>
          <a:endParaRPr lang="es-CL"/>
        </a:p>
      </dgm:t>
    </dgm:pt>
    <dgm:pt modelId="{EFC9A0A2-14C8-4599-8B5D-DAF3464B8BC4}" type="pres">
      <dgm:prSet presAssocID="{D69CD0DC-3BE2-4743-90FB-592EDBB984FF}" presName="Name0" presStyleCnt="0">
        <dgm:presLayoutVars>
          <dgm:chMax val="7"/>
          <dgm:chPref val="7"/>
          <dgm:dir/>
        </dgm:presLayoutVars>
      </dgm:prSet>
      <dgm:spPr/>
    </dgm:pt>
    <dgm:pt modelId="{140D7F11-3900-41E0-BC7C-616D4F721CED}" type="pres">
      <dgm:prSet presAssocID="{D69CD0DC-3BE2-4743-90FB-592EDBB984FF}" presName="Name1" presStyleCnt="0"/>
      <dgm:spPr/>
    </dgm:pt>
    <dgm:pt modelId="{5CE2BFE7-3AF4-4B2B-BB81-779E46A3A103}" type="pres">
      <dgm:prSet presAssocID="{D69CD0DC-3BE2-4743-90FB-592EDBB984FF}" presName="cycle" presStyleCnt="0"/>
      <dgm:spPr/>
    </dgm:pt>
    <dgm:pt modelId="{230B3028-545E-44C5-A8F2-E4323179A88A}" type="pres">
      <dgm:prSet presAssocID="{D69CD0DC-3BE2-4743-90FB-592EDBB984FF}" presName="srcNode" presStyleLbl="node1" presStyleIdx="0" presStyleCnt="5"/>
      <dgm:spPr/>
    </dgm:pt>
    <dgm:pt modelId="{F58276DE-63F3-4DED-99A3-1734ECA3F228}" type="pres">
      <dgm:prSet presAssocID="{D69CD0DC-3BE2-4743-90FB-592EDBB984FF}" presName="conn" presStyleLbl="parChTrans1D2" presStyleIdx="0" presStyleCnt="1"/>
      <dgm:spPr/>
    </dgm:pt>
    <dgm:pt modelId="{8F6E4E66-616D-4456-91DA-6B7ABCF371D5}" type="pres">
      <dgm:prSet presAssocID="{D69CD0DC-3BE2-4743-90FB-592EDBB984FF}" presName="extraNode" presStyleLbl="node1" presStyleIdx="0" presStyleCnt="5"/>
      <dgm:spPr/>
    </dgm:pt>
    <dgm:pt modelId="{5484AEF8-A79F-4DC0-9B7D-0D136A3D552C}" type="pres">
      <dgm:prSet presAssocID="{D69CD0DC-3BE2-4743-90FB-592EDBB984FF}" presName="dstNode" presStyleLbl="node1" presStyleIdx="0" presStyleCnt="5"/>
      <dgm:spPr/>
    </dgm:pt>
    <dgm:pt modelId="{F14FDF93-9B53-47EF-8F1D-8B2C7222BB31}" type="pres">
      <dgm:prSet presAssocID="{B6D7A156-0169-48D4-850E-9619CA922973}" presName="text_1" presStyleLbl="node1" presStyleIdx="0" presStyleCnt="5">
        <dgm:presLayoutVars>
          <dgm:bulletEnabled val="1"/>
        </dgm:presLayoutVars>
      </dgm:prSet>
      <dgm:spPr/>
    </dgm:pt>
    <dgm:pt modelId="{38F73C8B-38FD-4C20-9DD7-27715B0B0EE3}" type="pres">
      <dgm:prSet presAssocID="{B6D7A156-0169-48D4-850E-9619CA922973}" presName="accent_1" presStyleCnt="0"/>
      <dgm:spPr/>
    </dgm:pt>
    <dgm:pt modelId="{E1C8B5FB-42CB-4165-90AB-8FEA24CB2C11}" type="pres">
      <dgm:prSet presAssocID="{B6D7A156-0169-48D4-850E-9619CA922973}" presName="accentRepeatNode" presStyleLbl="solidFgAcc1" presStyleIdx="0" presStyleCnt="5"/>
      <dgm:spPr/>
    </dgm:pt>
    <dgm:pt modelId="{B06F1A0E-BB55-49BB-B97D-8214CDB37683}" type="pres">
      <dgm:prSet presAssocID="{52847BF6-02E8-44E0-BA1E-616193AE27CC}" presName="text_2" presStyleLbl="node1" presStyleIdx="1" presStyleCnt="5">
        <dgm:presLayoutVars>
          <dgm:bulletEnabled val="1"/>
        </dgm:presLayoutVars>
      </dgm:prSet>
      <dgm:spPr/>
    </dgm:pt>
    <dgm:pt modelId="{485700EC-74E5-47CF-80F7-3A90FB00CABE}" type="pres">
      <dgm:prSet presAssocID="{52847BF6-02E8-44E0-BA1E-616193AE27CC}" presName="accent_2" presStyleCnt="0"/>
      <dgm:spPr/>
    </dgm:pt>
    <dgm:pt modelId="{611671B0-4978-455C-9D8A-8A66B8595028}" type="pres">
      <dgm:prSet presAssocID="{52847BF6-02E8-44E0-BA1E-616193AE27CC}" presName="accentRepeatNode" presStyleLbl="solidFgAcc1" presStyleIdx="1" presStyleCnt="5"/>
      <dgm:spPr/>
    </dgm:pt>
    <dgm:pt modelId="{E6DFA60B-7586-42AC-ACEB-3EE06D4FF940}" type="pres">
      <dgm:prSet presAssocID="{92636047-59F0-4AEC-97D0-680EE1167441}" presName="text_3" presStyleLbl="node1" presStyleIdx="2" presStyleCnt="5">
        <dgm:presLayoutVars>
          <dgm:bulletEnabled val="1"/>
        </dgm:presLayoutVars>
      </dgm:prSet>
      <dgm:spPr/>
    </dgm:pt>
    <dgm:pt modelId="{2261F550-10F6-495F-A2B2-F45B9AFFB736}" type="pres">
      <dgm:prSet presAssocID="{92636047-59F0-4AEC-97D0-680EE1167441}" presName="accent_3" presStyleCnt="0"/>
      <dgm:spPr/>
    </dgm:pt>
    <dgm:pt modelId="{F7C3EA85-AF5B-4E90-9676-3A892461A078}" type="pres">
      <dgm:prSet presAssocID="{92636047-59F0-4AEC-97D0-680EE1167441}" presName="accentRepeatNode" presStyleLbl="solidFgAcc1" presStyleIdx="2" presStyleCnt="5"/>
      <dgm:spPr/>
    </dgm:pt>
    <dgm:pt modelId="{1749CA65-4AA8-478E-A202-61B298B47300}" type="pres">
      <dgm:prSet presAssocID="{EF422ABF-9B63-441A-A6F0-A8A6A1C32966}" presName="text_4" presStyleLbl="node1" presStyleIdx="3" presStyleCnt="5">
        <dgm:presLayoutVars>
          <dgm:bulletEnabled val="1"/>
        </dgm:presLayoutVars>
      </dgm:prSet>
      <dgm:spPr/>
    </dgm:pt>
    <dgm:pt modelId="{CDD779FF-6548-4DEE-AF4F-F18FA0F3C7C4}" type="pres">
      <dgm:prSet presAssocID="{EF422ABF-9B63-441A-A6F0-A8A6A1C32966}" presName="accent_4" presStyleCnt="0"/>
      <dgm:spPr/>
    </dgm:pt>
    <dgm:pt modelId="{6C315CD0-2863-40F5-B2B5-53F2E8DB73C3}" type="pres">
      <dgm:prSet presAssocID="{EF422ABF-9B63-441A-A6F0-A8A6A1C32966}" presName="accentRepeatNode" presStyleLbl="solidFgAcc1" presStyleIdx="3" presStyleCnt="5"/>
      <dgm:spPr/>
    </dgm:pt>
    <dgm:pt modelId="{B5808625-CBFC-4C8A-B9A5-6452D41311AF}" type="pres">
      <dgm:prSet presAssocID="{6E656BE5-68B5-4203-9BB6-8CAD6BE4BB38}" presName="text_5" presStyleLbl="node1" presStyleIdx="4" presStyleCnt="5">
        <dgm:presLayoutVars>
          <dgm:bulletEnabled val="1"/>
        </dgm:presLayoutVars>
      </dgm:prSet>
      <dgm:spPr/>
    </dgm:pt>
    <dgm:pt modelId="{26687F30-08C9-4426-A80D-DDEBDE321E30}" type="pres">
      <dgm:prSet presAssocID="{6E656BE5-68B5-4203-9BB6-8CAD6BE4BB38}" presName="accent_5" presStyleCnt="0"/>
      <dgm:spPr/>
    </dgm:pt>
    <dgm:pt modelId="{AFBA6FE8-C028-4415-A0FF-302A133B2E8F}" type="pres">
      <dgm:prSet presAssocID="{6E656BE5-68B5-4203-9BB6-8CAD6BE4BB38}" presName="accentRepeatNode" presStyleLbl="solidFgAcc1" presStyleIdx="4" presStyleCnt="5"/>
      <dgm:spPr/>
    </dgm:pt>
  </dgm:ptLst>
  <dgm:cxnLst>
    <dgm:cxn modelId="{BA05B916-5AEA-410F-986C-F9DABFFEDBB1}" type="presOf" srcId="{B6D7A156-0169-48D4-850E-9619CA922973}" destId="{F14FDF93-9B53-47EF-8F1D-8B2C7222BB31}" srcOrd="0" destOrd="0" presId="urn:microsoft.com/office/officeart/2008/layout/VerticalCurvedList"/>
    <dgm:cxn modelId="{06DA7028-B699-495A-8BE0-440FD4151E94}" srcId="{D69CD0DC-3BE2-4743-90FB-592EDBB984FF}" destId="{92636047-59F0-4AEC-97D0-680EE1167441}" srcOrd="2" destOrd="0" parTransId="{9689D3F4-2893-457B-911A-DAEA462F0AA8}" sibTransId="{0D083C49-695B-48D9-AC61-1C0A9FA0A406}"/>
    <dgm:cxn modelId="{7921285F-8816-43C2-AB45-39763221E14C}" srcId="{D69CD0DC-3BE2-4743-90FB-592EDBB984FF}" destId="{B6D7A156-0169-48D4-850E-9619CA922973}" srcOrd="0" destOrd="0" parTransId="{C84E56A3-88AD-463D-AB32-154FA9289A3A}" sibTransId="{AEA21C37-8007-4669-9730-62F63A426454}"/>
    <dgm:cxn modelId="{00ADBD75-16A0-4F30-B2D9-57BA689C740C}" srcId="{D69CD0DC-3BE2-4743-90FB-592EDBB984FF}" destId="{52847BF6-02E8-44E0-BA1E-616193AE27CC}" srcOrd="1" destOrd="0" parTransId="{D35D213F-3F75-4C12-BA16-3502888DA1FC}" sibTransId="{1D0EA3FF-A3F0-4FA5-B395-ADD1762D8012}"/>
    <dgm:cxn modelId="{FC27A98B-A047-4B2E-85EB-AF1E086598CC}" type="presOf" srcId="{92636047-59F0-4AEC-97D0-680EE1167441}" destId="{E6DFA60B-7586-42AC-ACEB-3EE06D4FF940}" srcOrd="0" destOrd="0" presId="urn:microsoft.com/office/officeart/2008/layout/VerticalCurvedList"/>
    <dgm:cxn modelId="{898BF88D-90DB-4A44-A026-898811BA8ACC}" type="presOf" srcId="{D69CD0DC-3BE2-4743-90FB-592EDBB984FF}" destId="{EFC9A0A2-14C8-4599-8B5D-DAF3464B8BC4}" srcOrd="0" destOrd="0" presId="urn:microsoft.com/office/officeart/2008/layout/VerticalCurvedList"/>
    <dgm:cxn modelId="{9D9A6190-DA6E-4EA3-9642-FE2686F9ABEE}" srcId="{D69CD0DC-3BE2-4743-90FB-592EDBB984FF}" destId="{6E656BE5-68B5-4203-9BB6-8CAD6BE4BB38}" srcOrd="4" destOrd="0" parTransId="{74A88760-0D63-4A00-885B-9386FC006FBB}" sibTransId="{49EEDF72-1A7B-419C-B963-F1440B81D370}"/>
    <dgm:cxn modelId="{E6641892-C680-4131-8068-FBFB7D84AD0D}" type="presOf" srcId="{52847BF6-02E8-44E0-BA1E-616193AE27CC}" destId="{B06F1A0E-BB55-49BB-B97D-8214CDB37683}" srcOrd="0" destOrd="0" presId="urn:microsoft.com/office/officeart/2008/layout/VerticalCurvedList"/>
    <dgm:cxn modelId="{E8FE20A1-54E1-448E-B7CB-44E1D2722927}" type="presOf" srcId="{6E656BE5-68B5-4203-9BB6-8CAD6BE4BB38}" destId="{B5808625-CBFC-4C8A-B9A5-6452D41311AF}" srcOrd="0" destOrd="0" presId="urn:microsoft.com/office/officeart/2008/layout/VerticalCurvedList"/>
    <dgm:cxn modelId="{DDAC4BA8-F804-428E-8E39-118DE71EDDDA}" type="presOf" srcId="{AEA21C37-8007-4669-9730-62F63A426454}" destId="{F58276DE-63F3-4DED-99A3-1734ECA3F228}" srcOrd="0" destOrd="0" presId="urn:microsoft.com/office/officeart/2008/layout/VerticalCurvedList"/>
    <dgm:cxn modelId="{712036CC-1C64-49ED-93EF-FDAFFBF7033D}" type="presOf" srcId="{EF422ABF-9B63-441A-A6F0-A8A6A1C32966}" destId="{1749CA65-4AA8-478E-A202-61B298B47300}" srcOrd="0" destOrd="0" presId="urn:microsoft.com/office/officeart/2008/layout/VerticalCurvedList"/>
    <dgm:cxn modelId="{212567FB-20B8-4B33-A69B-316161F46F8A}" srcId="{D69CD0DC-3BE2-4743-90FB-592EDBB984FF}" destId="{EF422ABF-9B63-441A-A6F0-A8A6A1C32966}" srcOrd="3" destOrd="0" parTransId="{C827232C-50BF-465A-9EC6-C0D73B6B599F}" sibTransId="{345C0ADF-9E72-43DE-980B-B8E08DB8D07F}"/>
    <dgm:cxn modelId="{97316469-E81F-4E15-8B95-45DE163BAEBA}" type="presParOf" srcId="{EFC9A0A2-14C8-4599-8B5D-DAF3464B8BC4}" destId="{140D7F11-3900-41E0-BC7C-616D4F721CED}" srcOrd="0" destOrd="0" presId="urn:microsoft.com/office/officeart/2008/layout/VerticalCurvedList"/>
    <dgm:cxn modelId="{74357F13-9B8F-4170-904D-88D9E6FAB308}" type="presParOf" srcId="{140D7F11-3900-41E0-BC7C-616D4F721CED}" destId="{5CE2BFE7-3AF4-4B2B-BB81-779E46A3A103}" srcOrd="0" destOrd="0" presId="urn:microsoft.com/office/officeart/2008/layout/VerticalCurvedList"/>
    <dgm:cxn modelId="{43B2E35D-D914-45B5-A1B1-60C2ACCDDDC4}" type="presParOf" srcId="{5CE2BFE7-3AF4-4B2B-BB81-779E46A3A103}" destId="{230B3028-545E-44C5-A8F2-E4323179A88A}" srcOrd="0" destOrd="0" presId="urn:microsoft.com/office/officeart/2008/layout/VerticalCurvedList"/>
    <dgm:cxn modelId="{4F3754AF-6CCA-4F8F-BD9D-0DBA10ED61DF}" type="presParOf" srcId="{5CE2BFE7-3AF4-4B2B-BB81-779E46A3A103}" destId="{F58276DE-63F3-4DED-99A3-1734ECA3F228}" srcOrd="1" destOrd="0" presId="urn:microsoft.com/office/officeart/2008/layout/VerticalCurvedList"/>
    <dgm:cxn modelId="{22CFF250-F486-44EF-BEE6-D7B0E0F7AE9B}" type="presParOf" srcId="{5CE2BFE7-3AF4-4B2B-BB81-779E46A3A103}" destId="{8F6E4E66-616D-4456-91DA-6B7ABCF371D5}" srcOrd="2" destOrd="0" presId="urn:microsoft.com/office/officeart/2008/layout/VerticalCurvedList"/>
    <dgm:cxn modelId="{F4CE9F29-F485-4BD5-A1A3-5DC2CFE338A6}" type="presParOf" srcId="{5CE2BFE7-3AF4-4B2B-BB81-779E46A3A103}" destId="{5484AEF8-A79F-4DC0-9B7D-0D136A3D552C}" srcOrd="3" destOrd="0" presId="urn:microsoft.com/office/officeart/2008/layout/VerticalCurvedList"/>
    <dgm:cxn modelId="{EE407A2C-D297-4977-B32B-CC3901D14171}" type="presParOf" srcId="{140D7F11-3900-41E0-BC7C-616D4F721CED}" destId="{F14FDF93-9B53-47EF-8F1D-8B2C7222BB31}" srcOrd="1" destOrd="0" presId="urn:microsoft.com/office/officeart/2008/layout/VerticalCurvedList"/>
    <dgm:cxn modelId="{22BE7969-109E-4D50-8344-43CF853C9DAB}" type="presParOf" srcId="{140D7F11-3900-41E0-BC7C-616D4F721CED}" destId="{38F73C8B-38FD-4C20-9DD7-27715B0B0EE3}" srcOrd="2" destOrd="0" presId="urn:microsoft.com/office/officeart/2008/layout/VerticalCurvedList"/>
    <dgm:cxn modelId="{A5BFC00E-E8BE-48E6-AEFC-134D5FB320B6}" type="presParOf" srcId="{38F73C8B-38FD-4C20-9DD7-27715B0B0EE3}" destId="{E1C8B5FB-42CB-4165-90AB-8FEA24CB2C11}" srcOrd="0" destOrd="0" presId="urn:microsoft.com/office/officeart/2008/layout/VerticalCurvedList"/>
    <dgm:cxn modelId="{271E4393-304F-49D2-AA10-A27A47BC88BD}" type="presParOf" srcId="{140D7F11-3900-41E0-BC7C-616D4F721CED}" destId="{B06F1A0E-BB55-49BB-B97D-8214CDB37683}" srcOrd="3" destOrd="0" presId="urn:microsoft.com/office/officeart/2008/layout/VerticalCurvedList"/>
    <dgm:cxn modelId="{B6879C1C-1F25-450E-8CC2-0261BDB1A4C8}" type="presParOf" srcId="{140D7F11-3900-41E0-BC7C-616D4F721CED}" destId="{485700EC-74E5-47CF-80F7-3A90FB00CABE}" srcOrd="4" destOrd="0" presId="urn:microsoft.com/office/officeart/2008/layout/VerticalCurvedList"/>
    <dgm:cxn modelId="{7E48E951-6FE9-429B-AF8F-35661312A6B1}" type="presParOf" srcId="{485700EC-74E5-47CF-80F7-3A90FB00CABE}" destId="{611671B0-4978-455C-9D8A-8A66B8595028}" srcOrd="0" destOrd="0" presId="urn:microsoft.com/office/officeart/2008/layout/VerticalCurvedList"/>
    <dgm:cxn modelId="{34467564-EA69-425B-89B2-3F273E28AC3F}" type="presParOf" srcId="{140D7F11-3900-41E0-BC7C-616D4F721CED}" destId="{E6DFA60B-7586-42AC-ACEB-3EE06D4FF940}" srcOrd="5" destOrd="0" presId="urn:microsoft.com/office/officeart/2008/layout/VerticalCurvedList"/>
    <dgm:cxn modelId="{5C9B4DDC-96B1-4DE4-A5BB-4B9F5302333A}" type="presParOf" srcId="{140D7F11-3900-41E0-BC7C-616D4F721CED}" destId="{2261F550-10F6-495F-A2B2-F45B9AFFB736}" srcOrd="6" destOrd="0" presId="urn:microsoft.com/office/officeart/2008/layout/VerticalCurvedList"/>
    <dgm:cxn modelId="{1090A7F4-8ECE-41F7-A62A-B330D0957BE6}" type="presParOf" srcId="{2261F550-10F6-495F-A2B2-F45B9AFFB736}" destId="{F7C3EA85-AF5B-4E90-9676-3A892461A078}" srcOrd="0" destOrd="0" presId="urn:microsoft.com/office/officeart/2008/layout/VerticalCurvedList"/>
    <dgm:cxn modelId="{CEC707FC-7128-4715-8CC1-90FC99A4EB51}" type="presParOf" srcId="{140D7F11-3900-41E0-BC7C-616D4F721CED}" destId="{1749CA65-4AA8-478E-A202-61B298B47300}" srcOrd="7" destOrd="0" presId="urn:microsoft.com/office/officeart/2008/layout/VerticalCurvedList"/>
    <dgm:cxn modelId="{691B07A3-D053-4B5C-9BB0-46FAED877B75}" type="presParOf" srcId="{140D7F11-3900-41E0-BC7C-616D4F721CED}" destId="{CDD779FF-6548-4DEE-AF4F-F18FA0F3C7C4}" srcOrd="8" destOrd="0" presId="urn:microsoft.com/office/officeart/2008/layout/VerticalCurvedList"/>
    <dgm:cxn modelId="{C30D85BA-70A9-469E-A30A-57CCA0466E06}" type="presParOf" srcId="{CDD779FF-6548-4DEE-AF4F-F18FA0F3C7C4}" destId="{6C315CD0-2863-40F5-B2B5-53F2E8DB73C3}" srcOrd="0" destOrd="0" presId="urn:microsoft.com/office/officeart/2008/layout/VerticalCurvedList"/>
    <dgm:cxn modelId="{4F54B9CA-55AD-4AE0-A06B-DF93BCEACB90}" type="presParOf" srcId="{140D7F11-3900-41E0-BC7C-616D4F721CED}" destId="{B5808625-CBFC-4C8A-B9A5-6452D41311AF}" srcOrd="9" destOrd="0" presId="urn:microsoft.com/office/officeart/2008/layout/VerticalCurvedList"/>
    <dgm:cxn modelId="{CF36DE6E-7B89-4D30-82D0-DC96CE5F5989}" type="presParOf" srcId="{140D7F11-3900-41E0-BC7C-616D4F721CED}" destId="{26687F30-08C9-4426-A80D-DDEBDE321E30}" srcOrd="10" destOrd="0" presId="urn:microsoft.com/office/officeart/2008/layout/VerticalCurvedList"/>
    <dgm:cxn modelId="{B0DB03FF-D511-4E8A-9F7F-E02DFC45550A}" type="presParOf" srcId="{26687F30-08C9-4426-A80D-DDEBDE321E30}" destId="{AFBA6FE8-C028-4415-A0FF-302A133B2E8F}"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8276DE-63F3-4DED-99A3-1734ECA3F228}">
      <dsp:nvSpPr>
        <dsp:cNvPr id="0" name=""/>
        <dsp:cNvSpPr/>
      </dsp:nvSpPr>
      <dsp:spPr>
        <a:xfrm>
          <a:off x="-4919424" y="-753830"/>
          <a:ext cx="5858998" cy="5858998"/>
        </a:xfrm>
        <a:prstGeom prst="blockArc">
          <a:avLst>
            <a:gd name="adj1" fmla="val 18900000"/>
            <a:gd name="adj2" fmla="val 2700000"/>
            <a:gd name="adj3" fmla="val 369"/>
          </a:avLst>
        </a:prstGeom>
        <a:noFill/>
        <a:ln w="1905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14FDF93-9B53-47EF-8F1D-8B2C7222BB31}">
      <dsp:nvSpPr>
        <dsp:cNvPr id="0" name=""/>
        <dsp:cNvSpPr/>
      </dsp:nvSpPr>
      <dsp:spPr>
        <a:xfrm>
          <a:off x="411090" y="271871"/>
          <a:ext cx="10044785" cy="544091"/>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72" tIns="33020" rIns="33020" bIns="33020" numCol="1" spcCol="1270" anchor="ctr" anchorCtr="0">
          <a:noAutofit/>
        </a:bodyPr>
        <a:lstStyle/>
        <a:p>
          <a:pPr marL="0" lvl="0" indent="0" algn="l" defTabSz="577850">
            <a:lnSpc>
              <a:spcPct val="90000"/>
            </a:lnSpc>
            <a:spcBef>
              <a:spcPct val="0"/>
            </a:spcBef>
            <a:spcAft>
              <a:spcPct val="35000"/>
            </a:spcAft>
            <a:buNone/>
          </a:pPr>
          <a:r>
            <a:rPr lang="es-CL" sz="1300" kern="1200" noProof="0" dirty="0"/>
            <a:t>Microsoft. (s.f.). </a:t>
          </a:r>
          <a:r>
            <a:rPr lang="es-CL" sz="1300" i="1" kern="1200" noProof="0" dirty="0"/>
            <a:t>¿Qué es el phishing?</a:t>
          </a:r>
          <a:r>
            <a:rPr lang="es-CL" sz="1300" kern="1200" noProof="0" dirty="0"/>
            <a:t> Microsoft Security. Recuperado el 20 de junio de 2026, de </a:t>
          </a:r>
          <a:r>
            <a:rPr lang="es-CL" sz="1300" kern="1200" noProof="0" dirty="0">
              <a:hlinkClick xmlns:r="http://schemas.openxmlformats.org/officeDocument/2006/relationships" r:id="rId1"/>
            </a:rPr>
            <a:t>https://www.microsoft.com/es-cl/security/business/security-101/what-is-phishing</a:t>
          </a:r>
          <a:endParaRPr lang="es-CL" sz="1300" kern="1200" noProof="0" dirty="0"/>
        </a:p>
      </dsp:txBody>
      <dsp:txXfrm>
        <a:off x="411090" y="271871"/>
        <a:ext cx="10044785" cy="544091"/>
      </dsp:txXfrm>
    </dsp:sp>
    <dsp:sp modelId="{E1C8B5FB-42CB-4165-90AB-8FEA24CB2C11}">
      <dsp:nvSpPr>
        <dsp:cNvPr id="0" name=""/>
        <dsp:cNvSpPr/>
      </dsp:nvSpPr>
      <dsp:spPr>
        <a:xfrm>
          <a:off x="71032" y="203860"/>
          <a:ext cx="680114" cy="680114"/>
        </a:xfrm>
        <a:prstGeom prst="ellipse">
          <a:avLst/>
        </a:prstGeom>
        <a:solidFill>
          <a:schemeClr val="lt1">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06F1A0E-BB55-49BB-B97D-8214CDB37683}">
      <dsp:nvSpPr>
        <dsp:cNvPr id="0" name=""/>
        <dsp:cNvSpPr/>
      </dsp:nvSpPr>
      <dsp:spPr>
        <a:xfrm>
          <a:off x="800969" y="1087747"/>
          <a:ext cx="9654905" cy="544091"/>
        </a:xfrm>
        <a:prstGeom prst="rect">
          <a:avLst/>
        </a:prstGeom>
        <a:solidFill>
          <a:schemeClr val="accent4">
            <a:hueOff val="-594301"/>
            <a:satOff val="10890"/>
            <a:lumOff val="137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72" tIns="33020" rIns="33020" bIns="33020" numCol="1" spcCol="1270" anchor="ctr" anchorCtr="0">
          <a:noAutofit/>
        </a:bodyPr>
        <a:lstStyle/>
        <a:p>
          <a:pPr marL="0" lvl="0" indent="0" algn="l" defTabSz="577850">
            <a:lnSpc>
              <a:spcPct val="90000"/>
            </a:lnSpc>
            <a:spcBef>
              <a:spcPct val="0"/>
            </a:spcBef>
            <a:spcAft>
              <a:spcPct val="35000"/>
            </a:spcAft>
            <a:buNone/>
          </a:pPr>
          <a:r>
            <a:rPr lang="es-CL" sz="1300" kern="1200" noProof="0" dirty="0"/>
            <a:t>Servicio Nacional del Consumidor [SERNAC]. (s.f.). </a:t>
          </a:r>
          <a:r>
            <a:rPr lang="es-CL" sz="1300" i="1" kern="1200" noProof="0" dirty="0"/>
            <a:t>¡No escanees ese código QR! Guía de recomendaciones para evitar el fraude</a:t>
          </a:r>
          <a:r>
            <a:rPr lang="es-CL" sz="1300" kern="1200" noProof="0" dirty="0"/>
            <a:t>. Gobierno de Chile. Recuperado el 20 de junio de 2026, de </a:t>
          </a:r>
          <a:r>
            <a:rPr lang="es-CL" sz="1300" kern="1200" noProof="0" dirty="0">
              <a:hlinkClick xmlns:r="http://schemas.openxmlformats.org/officeDocument/2006/relationships" r:id="rId2"/>
            </a:rPr>
            <a:t>https://www.sernac.cl/portal/607/articles-86577_archivo_01.pdf</a:t>
          </a:r>
          <a:endParaRPr lang="es-CL" sz="1300" kern="1200" noProof="0" dirty="0"/>
        </a:p>
      </dsp:txBody>
      <dsp:txXfrm>
        <a:off x="800969" y="1087747"/>
        <a:ext cx="9654905" cy="544091"/>
      </dsp:txXfrm>
    </dsp:sp>
    <dsp:sp modelId="{611671B0-4978-455C-9D8A-8A66B8595028}">
      <dsp:nvSpPr>
        <dsp:cNvPr id="0" name=""/>
        <dsp:cNvSpPr/>
      </dsp:nvSpPr>
      <dsp:spPr>
        <a:xfrm>
          <a:off x="460912" y="1019736"/>
          <a:ext cx="680114" cy="680114"/>
        </a:xfrm>
        <a:prstGeom prst="ellipse">
          <a:avLst/>
        </a:prstGeom>
        <a:solidFill>
          <a:schemeClr val="lt1">
            <a:hueOff val="0"/>
            <a:satOff val="0"/>
            <a:lumOff val="0"/>
            <a:alphaOff val="0"/>
          </a:schemeClr>
        </a:solidFill>
        <a:ln w="19050" cap="flat" cmpd="sng" algn="ctr">
          <a:solidFill>
            <a:schemeClr val="accent4">
              <a:hueOff val="-594301"/>
              <a:satOff val="10890"/>
              <a:lumOff val="1373"/>
              <a:alphaOff val="0"/>
            </a:schemeClr>
          </a:solidFill>
          <a:prstDash val="solid"/>
          <a:miter lim="800000"/>
        </a:ln>
        <a:effectLst/>
      </dsp:spPr>
      <dsp:style>
        <a:lnRef idx="2">
          <a:scrgbClr r="0" g="0" b="0"/>
        </a:lnRef>
        <a:fillRef idx="1">
          <a:scrgbClr r="0" g="0" b="0"/>
        </a:fillRef>
        <a:effectRef idx="0">
          <a:scrgbClr r="0" g="0" b="0"/>
        </a:effectRef>
        <a:fontRef idx="minor"/>
      </dsp:style>
    </dsp:sp>
    <dsp:sp modelId="{E6DFA60B-7586-42AC-ACEB-3EE06D4FF940}">
      <dsp:nvSpPr>
        <dsp:cNvPr id="0" name=""/>
        <dsp:cNvSpPr/>
      </dsp:nvSpPr>
      <dsp:spPr>
        <a:xfrm>
          <a:off x="920631" y="1903623"/>
          <a:ext cx="9535243" cy="544091"/>
        </a:xfrm>
        <a:prstGeom prst="rect">
          <a:avLst/>
        </a:prstGeom>
        <a:solidFill>
          <a:schemeClr val="accent4">
            <a:hueOff val="-1188603"/>
            <a:satOff val="21780"/>
            <a:lumOff val="274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72" tIns="33020" rIns="33020" bIns="33020" numCol="1" spcCol="1270" anchor="ctr" anchorCtr="0">
          <a:noAutofit/>
        </a:bodyPr>
        <a:lstStyle/>
        <a:p>
          <a:pPr marL="0" lvl="0" indent="0" algn="l" defTabSz="577850">
            <a:lnSpc>
              <a:spcPct val="90000"/>
            </a:lnSpc>
            <a:spcBef>
              <a:spcPct val="0"/>
            </a:spcBef>
            <a:spcAft>
              <a:spcPct val="35000"/>
            </a:spcAft>
            <a:buNone/>
          </a:pPr>
          <a:r>
            <a:rPr lang="es-CL" sz="1300" kern="1200" noProof="0" dirty="0" err="1"/>
            <a:t>nachoparada</a:t>
          </a:r>
          <a:r>
            <a:rPr lang="es-CL" sz="1300" kern="1200" noProof="0" dirty="0"/>
            <a:t>. (2026). </a:t>
          </a:r>
          <a:r>
            <a:rPr lang="es-CL" sz="1300" i="1" kern="1200" noProof="0" dirty="0"/>
            <a:t>IIC2531</a:t>
          </a:r>
          <a:r>
            <a:rPr lang="es-CL" sz="1300" kern="1200" noProof="0" dirty="0"/>
            <a:t> (Directorio 2026-1). GitHub. </a:t>
          </a:r>
          <a:r>
            <a:rPr lang="es-CL" sz="1300" kern="1200" noProof="0" dirty="0">
              <a:hlinkClick xmlns:r="http://schemas.openxmlformats.org/officeDocument/2006/relationships" r:id="rId3"/>
            </a:rPr>
            <a:t>https://github.com/nachoparada/IIC2531/tree/main/2026-1</a:t>
          </a:r>
          <a:endParaRPr lang="es-CL" sz="1300" kern="1200" noProof="0" dirty="0"/>
        </a:p>
      </dsp:txBody>
      <dsp:txXfrm>
        <a:off x="920631" y="1903623"/>
        <a:ext cx="9535243" cy="544091"/>
      </dsp:txXfrm>
    </dsp:sp>
    <dsp:sp modelId="{F7C3EA85-AF5B-4E90-9676-3A892461A078}">
      <dsp:nvSpPr>
        <dsp:cNvPr id="0" name=""/>
        <dsp:cNvSpPr/>
      </dsp:nvSpPr>
      <dsp:spPr>
        <a:xfrm>
          <a:off x="580574" y="1835611"/>
          <a:ext cx="680114" cy="680114"/>
        </a:xfrm>
        <a:prstGeom prst="ellipse">
          <a:avLst/>
        </a:prstGeom>
        <a:solidFill>
          <a:schemeClr val="lt1">
            <a:hueOff val="0"/>
            <a:satOff val="0"/>
            <a:lumOff val="0"/>
            <a:alphaOff val="0"/>
          </a:schemeClr>
        </a:solidFill>
        <a:ln w="19050" cap="flat" cmpd="sng" algn="ctr">
          <a:solidFill>
            <a:schemeClr val="accent4">
              <a:hueOff val="-1188603"/>
              <a:satOff val="21780"/>
              <a:lumOff val="2745"/>
              <a:alphaOff val="0"/>
            </a:schemeClr>
          </a:solidFill>
          <a:prstDash val="solid"/>
          <a:miter lim="800000"/>
        </a:ln>
        <a:effectLst/>
      </dsp:spPr>
      <dsp:style>
        <a:lnRef idx="2">
          <a:scrgbClr r="0" g="0" b="0"/>
        </a:lnRef>
        <a:fillRef idx="1">
          <a:scrgbClr r="0" g="0" b="0"/>
        </a:fillRef>
        <a:effectRef idx="0">
          <a:scrgbClr r="0" g="0" b="0"/>
        </a:effectRef>
        <a:fontRef idx="minor"/>
      </dsp:style>
    </dsp:sp>
    <dsp:sp modelId="{1749CA65-4AA8-478E-A202-61B298B47300}">
      <dsp:nvSpPr>
        <dsp:cNvPr id="0" name=""/>
        <dsp:cNvSpPr/>
      </dsp:nvSpPr>
      <dsp:spPr>
        <a:xfrm>
          <a:off x="800969" y="2719499"/>
          <a:ext cx="9654905" cy="544091"/>
        </a:xfrm>
        <a:prstGeom prst="rect">
          <a:avLst/>
        </a:prstGeom>
        <a:solidFill>
          <a:schemeClr val="accent4">
            <a:hueOff val="-1782904"/>
            <a:satOff val="32670"/>
            <a:lumOff val="411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72" tIns="33020" rIns="33020" bIns="33020" numCol="1" spcCol="1270" anchor="ctr" anchorCtr="0">
          <a:noAutofit/>
        </a:bodyPr>
        <a:lstStyle/>
        <a:p>
          <a:pPr marL="0" lvl="0" indent="0" algn="l" defTabSz="577850">
            <a:lnSpc>
              <a:spcPct val="90000"/>
            </a:lnSpc>
            <a:spcBef>
              <a:spcPct val="0"/>
            </a:spcBef>
            <a:spcAft>
              <a:spcPct val="35000"/>
            </a:spcAft>
            <a:buNone/>
          </a:pPr>
          <a:r>
            <a:rPr lang="es-CL" sz="1300" kern="1200" noProof="0" dirty="0" err="1"/>
            <a:t>Deploy</a:t>
          </a:r>
          <a:r>
            <a:rPr lang="es-CL" sz="1300" kern="1200" noProof="0" dirty="0"/>
            <a:t>: </a:t>
          </a:r>
          <a:r>
            <a:rPr lang="es-CL" sz="1300" kern="1200" noProof="0" dirty="0">
              <a:hlinkClick xmlns:r="http://schemas.openxmlformats.org/officeDocument/2006/relationships" r:id="rId4"/>
            </a:rPr>
            <a:t>https://libro-de-reclamos-login.netlify.app/</a:t>
          </a:r>
          <a:endParaRPr lang="es-CL" sz="1300" kern="1200" noProof="0" dirty="0"/>
        </a:p>
      </dsp:txBody>
      <dsp:txXfrm>
        <a:off x="800969" y="2719499"/>
        <a:ext cx="9654905" cy="544091"/>
      </dsp:txXfrm>
    </dsp:sp>
    <dsp:sp modelId="{6C315CD0-2863-40F5-B2B5-53F2E8DB73C3}">
      <dsp:nvSpPr>
        <dsp:cNvPr id="0" name=""/>
        <dsp:cNvSpPr/>
      </dsp:nvSpPr>
      <dsp:spPr>
        <a:xfrm>
          <a:off x="460912" y="2651487"/>
          <a:ext cx="680114" cy="680114"/>
        </a:xfrm>
        <a:prstGeom prst="ellipse">
          <a:avLst/>
        </a:prstGeom>
        <a:solidFill>
          <a:schemeClr val="lt1">
            <a:hueOff val="0"/>
            <a:satOff val="0"/>
            <a:lumOff val="0"/>
            <a:alphaOff val="0"/>
          </a:schemeClr>
        </a:solidFill>
        <a:ln w="19050" cap="flat" cmpd="sng" algn="ctr">
          <a:solidFill>
            <a:schemeClr val="accent4">
              <a:hueOff val="-1782904"/>
              <a:satOff val="32670"/>
              <a:lumOff val="4118"/>
              <a:alphaOff val="0"/>
            </a:schemeClr>
          </a:solidFill>
          <a:prstDash val="solid"/>
          <a:miter lim="800000"/>
        </a:ln>
        <a:effectLst/>
      </dsp:spPr>
      <dsp:style>
        <a:lnRef idx="2">
          <a:scrgbClr r="0" g="0" b="0"/>
        </a:lnRef>
        <a:fillRef idx="1">
          <a:scrgbClr r="0" g="0" b="0"/>
        </a:fillRef>
        <a:effectRef idx="0">
          <a:scrgbClr r="0" g="0" b="0"/>
        </a:effectRef>
        <a:fontRef idx="minor"/>
      </dsp:style>
    </dsp:sp>
    <dsp:sp modelId="{B5808625-CBFC-4C8A-B9A5-6452D41311AF}">
      <dsp:nvSpPr>
        <dsp:cNvPr id="0" name=""/>
        <dsp:cNvSpPr/>
      </dsp:nvSpPr>
      <dsp:spPr>
        <a:xfrm>
          <a:off x="411090" y="3535375"/>
          <a:ext cx="10044785" cy="544091"/>
        </a:xfrm>
        <a:prstGeom prst="rect">
          <a:avLst/>
        </a:prstGeom>
        <a:solidFill>
          <a:schemeClr val="accent4">
            <a:hueOff val="-2377205"/>
            <a:satOff val="43560"/>
            <a:lumOff val="5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72" tIns="33020" rIns="33020" bIns="33020" numCol="1" spcCol="1270" anchor="ctr" anchorCtr="0">
          <a:noAutofit/>
        </a:bodyPr>
        <a:lstStyle/>
        <a:p>
          <a:pPr marL="0" lvl="0" indent="0" algn="l" defTabSz="577850">
            <a:lnSpc>
              <a:spcPct val="90000"/>
            </a:lnSpc>
            <a:spcBef>
              <a:spcPct val="0"/>
            </a:spcBef>
            <a:spcAft>
              <a:spcPct val="35000"/>
            </a:spcAft>
            <a:buNone/>
          </a:pPr>
          <a:r>
            <a:rPr lang="es-CL" sz="1300" kern="1200" noProof="0" dirty="0"/>
            <a:t>Repositorio: </a:t>
          </a:r>
          <a:r>
            <a:rPr lang="es-CL" sz="1300" kern="1200" noProof="0" dirty="0">
              <a:hlinkClick xmlns:r="http://schemas.openxmlformats.org/officeDocument/2006/relationships" r:id="rId5"/>
            </a:rPr>
            <a:t>https://github.com/16Kmi16/Proyecto_seguridad</a:t>
          </a:r>
          <a:endParaRPr lang="es-CL" sz="1300" kern="1200" noProof="0" dirty="0"/>
        </a:p>
      </dsp:txBody>
      <dsp:txXfrm>
        <a:off x="411090" y="3535375"/>
        <a:ext cx="10044785" cy="544091"/>
      </dsp:txXfrm>
    </dsp:sp>
    <dsp:sp modelId="{AFBA6FE8-C028-4415-A0FF-302A133B2E8F}">
      <dsp:nvSpPr>
        <dsp:cNvPr id="0" name=""/>
        <dsp:cNvSpPr/>
      </dsp:nvSpPr>
      <dsp:spPr>
        <a:xfrm>
          <a:off x="71032" y="3467363"/>
          <a:ext cx="680114" cy="680114"/>
        </a:xfrm>
        <a:prstGeom prst="ellipse">
          <a:avLst/>
        </a:prstGeom>
        <a:solidFill>
          <a:schemeClr val="lt1">
            <a:hueOff val="0"/>
            <a:satOff val="0"/>
            <a:lumOff val="0"/>
            <a:alphaOff val="0"/>
          </a:schemeClr>
        </a:solidFill>
        <a:ln w="19050" cap="flat" cmpd="sng" algn="ctr">
          <a:solidFill>
            <a:schemeClr val="accent4">
              <a:hueOff val="-2377205"/>
              <a:satOff val="43560"/>
              <a:lumOff val="549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DFC5EA-BBEC-4945-93B6-5A429C1E007C}" type="datetimeFigureOut">
              <a:rPr lang="es-CL" smtClean="0"/>
              <a:t>22-06-2026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3618B7-BABA-4E91-AFF2-2C34AB62C202}" type="slidenum">
              <a:rPr lang="es-CL" smtClean="0"/>
              <a:t>‹Nº›</a:t>
            </a:fld>
            <a:endParaRPr lang="es-CL"/>
          </a:p>
        </p:txBody>
      </p:sp>
    </p:spTree>
    <p:extLst>
      <p:ext uri="{BB962C8B-B14F-4D97-AF65-F5344CB8AC3E}">
        <p14:creationId xmlns:p14="http://schemas.microsoft.com/office/powerpoint/2010/main" val="612486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sz="1200" b="0" i="0" u="none" strike="noStrike" kern="1200" dirty="0">
                <a:solidFill>
                  <a:schemeClr val="tx1"/>
                </a:solidFill>
                <a:effectLst/>
                <a:latin typeface="+mn-lt"/>
                <a:ea typeface="+mn-ea"/>
                <a:cs typeface="+mn-cs"/>
              </a:rPr>
              <a:t>Buenos </a:t>
            </a:r>
            <a:r>
              <a:rPr lang="es-CL" sz="1200" b="0" i="0" u="none" strike="noStrike" kern="1200" dirty="0" err="1">
                <a:solidFill>
                  <a:schemeClr val="tx1"/>
                </a:solidFill>
                <a:effectLst/>
                <a:latin typeface="+mn-lt"/>
                <a:ea typeface="+mn-ea"/>
                <a:cs typeface="+mn-cs"/>
              </a:rPr>
              <a:t>dias</a:t>
            </a:r>
            <a:r>
              <a:rPr lang="es-CL" sz="1200" b="0" i="0" u="none" strike="noStrike" kern="1200" dirty="0">
                <a:solidFill>
                  <a:schemeClr val="tx1"/>
                </a:solidFill>
                <a:effectLst/>
                <a:latin typeface="+mn-lt"/>
                <a:ea typeface="+mn-ea"/>
                <a:cs typeface="+mn-cs"/>
              </a:rPr>
              <a:t>, Somos Camila Marcus y </a:t>
            </a:r>
            <a:r>
              <a:rPr lang="es-CL" sz="1200" b="0" i="0" u="none" strike="noStrike" kern="1200" dirty="0" err="1">
                <a:solidFill>
                  <a:schemeClr val="tx1"/>
                </a:solidFill>
                <a:effectLst/>
                <a:latin typeface="+mn-lt"/>
                <a:ea typeface="+mn-ea"/>
                <a:cs typeface="+mn-cs"/>
              </a:rPr>
              <a:t>Daniella</a:t>
            </a:r>
            <a:r>
              <a:rPr lang="es-CL" sz="1200" b="0" i="0" u="none" strike="noStrike" kern="1200" dirty="0">
                <a:solidFill>
                  <a:schemeClr val="tx1"/>
                </a:solidFill>
                <a:effectLst/>
                <a:latin typeface="+mn-lt"/>
                <a:ea typeface="+mn-ea"/>
                <a:cs typeface="+mn-cs"/>
              </a:rPr>
              <a:t> Jofré, y hoy les presentamos nuestro proyecto final “Análisis comparativo de Phishing mediante </a:t>
            </a:r>
            <a:r>
              <a:rPr lang="es-CL" sz="1200" b="0" i="0" u="none" strike="noStrike" kern="1200" dirty="0" err="1">
                <a:solidFill>
                  <a:schemeClr val="tx1"/>
                </a:solidFill>
                <a:effectLst/>
                <a:latin typeface="+mn-lt"/>
                <a:ea typeface="+mn-ea"/>
                <a:cs typeface="+mn-cs"/>
              </a:rPr>
              <a:t>QRs</a:t>
            </a:r>
            <a:r>
              <a:rPr lang="es-CL" sz="1200" b="0" i="0" u="none" strike="noStrike" kern="1200" dirty="0">
                <a:solidFill>
                  <a:schemeClr val="tx1"/>
                </a:solidFill>
                <a:effectLst/>
                <a:latin typeface="+mn-lt"/>
                <a:ea typeface="+mn-ea"/>
                <a:cs typeface="+mn-cs"/>
              </a:rPr>
              <a:t> también conocido como </a:t>
            </a:r>
            <a:r>
              <a:rPr lang="es-CL" sz="1200" b="0" i="0" u="none" strike="noStrike" kern="1200" dirty="0" err="1">
                <a:solidFill>
                  <a:schemeClr val="tx1"/>
                </a:solidFill>
                <a:effectLst/>
                <a:latin typeface="+mn-lt"/>
                <a:ea typeface="+mn-ea"/>
                <a:cs typeface="+mn-cs"/>
              </a:rPr>
              <a:t>quishing</a:t>
            </a:r>
            <a:r>
              <a:rPr lang="es-CL" sz="1200" b="0" i="0" u="none" strike="noStrike" kern="1200" dirty="0">
                <a:solidFill>
                  <a:schemeClr val="tx1"/>
                </a:solidFill>
                <a:effectLst/>
                <a:latin typeface="+mn-lt"/>
                <a:ea typeface="+mn-ea"/>
                <a:cs typeface="+mn-cs"/>
              </a:rPr>
              <a:t> en distintos medios de distribución” </a:t>
            </a: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1</a:t>
            </a:fld>
            <a:endParaRPr lang="es-CL"/>
          </a:p>
        </p:txBody>
      </p:sp>
    </p:spTree>
    <p:extLst>
      <p:ext uri="{BB962C8B-B14F-4D97-AF65-F5344CB8AC3E}">
        <p14:creationId xmlns:p14="http://schemas.microsoft.com/office/powerpoint/2010/main" val="3029794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sz="1200" b="0" i="0" u="none" strike="noStrike" kern="1200" dirty="0" err="1">
                <a:solidFill>
                  <a:schemeClr val="tx1"/>
                </a:solidFill>
                <a:effectLst/>
                <a:latin typeface="+mn-lt"/>
                <a:ea typeface="+mn-ea"/>
                <a:cs typeface="+mn-cs"/>
              </a:rPr>
              <a:t>Quishing</a:t>
            </a:r>
            <a:r>
              <a:rPr lang="es-CL" sz="1200" b="0" i="0" u="none" strike="noStrike" kern="1200" dirty="0">
                <a:solidFill>
                  <a:schemeClr val="tx1"/>
                </a:solidFill>
                <a:effectLst/>
                <a:latin typeface="+mn-lt"/>
                <a:ea typeface="+mn-ea"/>
                <a:cs typeface="+mn-cs"/>
              </a:rPr>
              <a:t> viene de QR + Phishing.</a:t>
            </a: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2</a:t>
            </a:fld>
            <a:endParaRPr lang="es-CL"/>
          </a:p>
        </p:txBody>
      </p:sp>
    </p:spTree>
    <p:extLst>
      <p:ext uri="{BB962C8B-B14F-4D97-AF65-F5344CB8AC3E}">
        <p14:creationId xmlns:p14="http://schemas.microsoft.com/office/powerpoint/2010/main" val="1375459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CL" sz="1200" b="0" i="0" u="none" strike="noStrike" kern="1200" dirty="0">
                <a:solidFill>
                  <a:schemeClr val="tx1"/>
                </a:solidFill>
                <a:effectLst/>
                <a:latin typeface="+mn-lt"/>
                <a:ea typeface="+mn-ea"/>
                <a:cs typeface="+mn-cs"/>
              </a:rPr>
              <a:t>Es una técnica que usa códigos QR, tanto físicos como digitales, para redirigir a las víctimas hacia sitios maliciosos. estos </a:t>
            </a:r>
            <a:r>
              <a:rPr lang="es-CL" sz="1200" b="0" i="0" u="none" strike="noStrike" kern="1200" dirty="0" err="1">
                <a:solidFill>
                  <a:schemeClr val="tx1"/>
                </a:solidFill>
                <a:effectLst/>
                <a:latin typeface="+mn-lt"/>
                <a:ea typeface="+mn-ea"/>
                <a:cs typeface="+mn-cs"/>
              </a:rPr>
              <a:t>QRs</a:t>
            </a:r>
            <a:r>
              <a:rPr lang="es-CL" sz="1200" b="0" i="0" u="none" strike="noStrike" kern="1200" dirty="0">
                <a:solidFill>
                  <a:schemeClr val="tx1"/>
                </a:solidFill>
                <a:effectLst/>
                <a:latin typeface="+mn-lt"/>
                <a:ea typeface="+mn-ea"/>
                <a:cs typeface="+mn-cs"/>
              </a:rPr>
              <a:t> actúan como vector. pues transfieren la amenaza desde un papel impreso al navegador del celular de la víctima. expandiendo así la superficie de ataque a cualquier lugar físico: paraderos, ascensores, mesas de restaurante, salas de estudio. etc. Y a diferencia del phishing tradicional donde uno puede ver la URL o el remitente del correo, con un QR eso no es </a:t>
            </a:r>
            <a:r>
              <a:rPr lang="es-CL" sz="1200" b="0" i="0" u="none" strike="noStrike" kern="1200" dirty="0" err="1">
                <a:solidFill>
                  <a:schemeClr val="tx1"/>
                </a:solidFill>
                <a:effectLst/>
                <a:latin typeface="+mn-lt"/>
                <a:ea typeface="+mn-ea"/>
                <a:cs typeface="+mn-cs"/>
              </a:rPr>
              <a:t>posible.primero</a:t>
            </a:r>
            <a:r>
              <a:rPr lang="es-CL" sz="1200" b="0" i="0" u="none" strike="noStrike" kern="1200" dirty="0">
                <a:solidFill>
                  <a:schemeClr val="tx1"/>
                </a:solidFill>
                <a:effectLst/>
                <a:latin typeface="+mn-lt"/>
                <a:ea typeface="+mn-ea"/>
                <a:cs typeface="+mn-cs"/>
              </a:rPr>
              <a:t> escaneas, después ves adónde llegaste. Eliminando así el primer mecanismo de defensa intuitivo por lo que las personas tienden a cargar la confianza en el entorno. Si el QR está pegado en un lugar familiar o de autoridad, la persona asume que es legítimo.</a:t>
            </a:r>
            <a:endParaRPr lang="es-CL" b="0" dirty="0">
              <a:effectLst/>
            </a:endParaRPr>
          </a:p>
          <a:p>
            <a:br>
              <a:rPr lang="es-CL" dirty="0"/>
            </a:b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3</a:t>
            </a:fld>
            <a:endParaRPr lang="es-CL"/>
          </a:p>
        </p:txBody>
      </p:sp>
    </p:spTree>
    <p:extLst>
      <p:ext uri="{BB962C8B-B14F-4D97-AF65-F5344CB8AC3E}">
        <p14:creationId xmlns:p14="http://schemas.microsoft.com/office/powerpoint/2010/main" val="4184080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CL" sz="1200" b="0" i="0" u="none" strike="noStrike" kern="1200" dirty="0">
                <a:solidFill>
                  <a:schemeClr val="tx1"/>
                </a:solidFill>
                <a:effectLst/>
                <a:latin typeface="+mn-lt"/>
                <a:ea typeface="+mn-ea"/>
                <a:cs typeface="+mn-cs"/>
              </a:rPr>
              <a:t>Con todo esto en mente, nuestro proyecto buscaba responder dos preguntas concretas:</a:t>
            </a:r>
            <a:endParaRPr lang="es-CL" b="0" dirty="0">
              <a:effectLst/>
            </a:endParaRPr>
          </a:p>
          <a:p>
            <a:pPr rtl="0"/>
            <a:r>
              <a:rPr lang="es-CL" sz="1200" b="0" i="0" u="none" strike="noStrike" kern="1200" dirty="0">
                <a:solidFill>
                  <a:schemeClr val="tx1"/>
                </a:solidFill>
                <a:effectLst/>
                <a:latin typeface="+mn-lt"/>
                <a:ea typeface="+mn-ea"/>
                <a:cs typeface="+mn-cs"/>
              </a:rPr>
              <a:t>la Primera: ¿En qué contexto, y bajo qué pretexto de confianza, más personas escanean un código QR de origen desconocido? y la segunda: ¿Dado que alguien escanea el QR, qué porcentaje está dispuesto a entregar información personal? O sea, ¿cuánta gente cae en el formulario una vez dentro?</a:t>
            </a:r>
            <a:endParaRPr lang="es-CL" b="0" dirty="0">
              <a:effectLst/>
            </a:endParaRPr>
          </a:p>
          <a:p>
            <a:br>
              <a:rPr lang="es-CL" dirty="0"/>
            </a:b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4</a:t>
            </a:fld>
            <a:endParaRPr lang="es-CL"/>
          </a:p>
        </p:txBody>
      </p:sp>
    </p:spTree>
    <p:extLst>
      <p:ext uri="{BB962C8B-B14F-4D97-AF65-F5344CB8AC3E}">
        <p14:creationId xmlns:p14="http://schemas.microsoft.com/office/powerpoint/2010/main" val="2422775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CL" sz="1200" b="0" i="0" u="none" strike="noStrike" kern="1200" dirty="0">
                <a:solidFill>
                  <a:schemeClr val="tx1"/>
                </a:solidFill>
                <a:effectLst/>
                <a:latin typeface="+mn-lt"/>
                <a:ea typeface="+mn-ea"/>
                <a:cs typeface="+mn-cs"/>
              </a:rPr>
              <a:t>Veamos los conceptos de seguridad que aplicamos en el proyecto.</a:t>
            </a:r>
            <a:endParaRPr lang="es-CL" b="0" dirty="0">
              <a:effectLst/>
            </a:endParaRPr>
          </a:p>
          <a:p>
            <a:pPr rtl="0"/>
            <a:r>
              <a:rPr lang="es-CL" sz="1200" b="0" i="0" u="none" strike="noStrike" kern="1200" dirty="0">
                <a:solidFill>
                  <a:schemeClr val="tx1"/>
                </a:solidFill>
                <a:effectLst/>
                <a:latin typeface="+mn-lt"/>
                <a:ea typeface="+mn-ea"/>
                <a:cs typeface="+mn-cs"/>
              </a:rPr>
              <a:t>El modelo de amenaza que simulamos es el de un atacante oportunista con recursos técnicos y financieros limitados, pero con acceso físico a espacios públicos. Este perfil es muy realista y accesible para cualquier actor malicioso.</a:t>
            </a:r>
            <a:endParaRPr lang="es-CL" b="0" dirty="0">
              <a:effectLst/>
            </a:endParaRPr>
          </a:p>
          <a:p>
            <a:pPr rtl="0"/>
            <a:r>
              <a:rPr lang="es-CL" sz="1200" b="0" i="0" u="none" strike="noStrike" kern="1200" dirty="0">
                <a:solidFill>
                  <a:schemeClr val="tx1"/>
                </a:solidFill>
                <a:effectLst/>
                <a:latin typeface="+mn-lt"/>
                <a:ea typeface="+mn-ea"/>
                <a:cs typeface="+mn-cs"/>
              </a:rPr>
              <a:t>La motivación del atacante en nuestro modelo es doble: por un lado, recolectar credenciales; y por el otro, monetizar en silencio a través del secuestro de recursos computacionales.</a:t>
            </a:r>
            <a:endParaRPr lang="es-CL" b="0" dirty="0">
              <a:effectLst/>
            </a:endParaRPr>
          </a:p>
          <a:p>
            <a:pPr rtl="0"/>
            <a:r>
              <a:rPr lang="es-CL" sz="1200" b="0" i="0" u="none" strike="noStrike" kern="1200" dirty="0">
                <a:solidFill>
                  <a:schemeClr val="tx1"/>
                </a:solidFill>
                <a:effectLst/>
                <a:latin typeface="+mn-lt"/>
                <a:ea typeface="+mn-ea"/>
                <a:cs typeface="+mn-cs"/>
              </a:rPr>
              <a:t>En cuanto a la superficie de ataque: expandimos el vector desde lo digital hacia lo físico. Un papel impreso con un QR se convierte en la puerta de entrada al navegador.</a:t>
            </a:r>
            <a:endParaRPr lang="es-CL" b="0" dirty="0">
              <a:effectLst/>
            </a:endParaRPr>
          </a:p>
          <a:p>
            <a:pPr rtl="0"/>
            <a:r>
              <a:rPr lang="es-CL" sz="1200" b="0" i="0" u="none" strike="noStrike" kern="1200" dirty="0">
                <a:solidFill>
                  <a:schemeClr val="tx1"/>
                </a:solidFill>
                <a:effectLst/>
                <a:latin typeface="+mn-lt"/>
                <a:ea typeface="+mn-ea"/>
                <a:cs typeface="+mn-cs"/>
              </a:rPr>
              <a:t>El </a:t>
            </a:r>
            <a:r>
              <a:rPr lang="es-CL" sz="1200" b="0" i="0" u="none" strike="noStrike" kern="1200" dirty="0" err="1">
                <a:solidFill>
                  <a:schemeClr val="tx1"/>
                </a:solidFill>
                <a:effectLst/>
                <a:latin typeface="+mn-lt"/>
                <a:ea typeface="+mn-ea"/>
                <a:cs typeface="+mn-cs"/>
              </a:rPr>
              <a:t>Spoofing</a:t>
            </a:r>
            <a:r>
              <a:rPr lang="es-CL" sz="1200" b="0" i="0" u="none" strike="noStrike" kern="1200" dirty="0">
                <a:solidFill>
                  <a:schemeClr val="tx1"/>
                </a:solidFill>
                <a:effectLst/>
                <a:latin typeface="+mn-lt"/>
                <a:ea typeface="+mn-ea"/>
                <a:cs typeface="+mn-cs"/>
              </a:rPr>
              <a:t> lo aplicamos construyendo 4 interfaces que replican minuciosamente sitios reales imitando CSS, logos, tipografías etc. para demostrar que la apariencia visual no es una garantía de seguridad.</a:t>
            </a:r>
            <a:endParaRPr lang="es-CL" b="0" dirty="0">
              <a:effectLst/>
            </a:endParaRPr>
          </a:p>
          <a:p>
            <a:pPr rtl="0"/>
            <a:r>
              <a:rPr lang="es-CL" sz="1200" b="0" i="0" u="none" strike="noStrike" kern="1200" dirty="0">
                <a:solidFill>
                  <a:schemeClr val="tx1"/>
                </a:solidFill>
                <a:effectLst/>
                <a:latin typeface="+mn-lt"/>
                <a:ea typeface="+mn-ea"/>
                <a:cs typeface="+mn-cs"/>
              </a:rPr>
              <a:t>Finalmente, para el </a:t>
            </a:r>
            <a:r>
              <a:rPr lang="es-CL" sz="1200" b="0" i="0" u="none" strike="noStrike" kern="1200" dirty="0" err="1">
                <a:solidFill>
                  <a:schemeClr val="tx1"/>
                </a:solidFill>
                <a:effectLst/>
                <a:latin typeface="+mn-lt"/>
                <a:ea typeface="+mn-ea"/>
                <a:cs typeface="+mn-cs"/>
              </a:rPr>
              <a:t>Criptojacking</a:t>
            </a:r>
            <a:r>
              <a:rPr lang="es-CL" sz="1200" b="0" i="0" u="none" strike="noStrike" kern="1200" dirty="0">
                <a:solidFill>
                  <a:schemeClr val="tx1"/>
                </a:solidFill>
                <a:effectLst/>
                <a:latin typeface="+mn-lt"/>
                <a:ea typeface="+mn-ea"/>
                <a:cs typeface="+mn-cs"/>
              </a:rPr>
              <a:t> implementamos el algoritmo FNV-1a de 32 bits, un hash no criptográfico elegido por su velocidad en JavaScript. lo que nos permitió simular carga computacional real en el navegador sin colapsar los dispositivos móviles.</a:t>
            </a:r>
            <a:endParaRPr lang="es-CL" b="0" dirty="0">
              <a:effectLst/>
            </a:endParaRPr>
          </a:p>
          <a:p>
            <a:br>
              <a:rPr lang="es-CL" dirty="0"/>
            </a:b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5</a:t>
            </a:fld>
            <a:endParaRPr lang="es-CL"/>
          </a:p>
        </p:txBody>
      </p:sp>
    </p:spTree>
    <p:extLst>
      <p:ext uri="{BB962C8B-B14F-4D97-AF65-F5344CB8AC3E}">
        <p14:creationId xmlns:p14="http://schemas.microsoft.com/office/powerpoint/2010/main" val="26112246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CL" sz="1200" b="0" i="0" u="none" strike="noStrike" kern="1200" dirty="0">
                <a:solidFill>
                  <a:schemeClr val="tx1"/>
                </a:solidFill>
                <a:effectLst/>
                <a:latin typeface="+mn-lt"/>
                <a:ea typeface="+mn-ea"/>
                <a:cs typeface="+mn-cs"/>
              </a:rPr>
              <a:t>Nuestro proyecto se puede explicar en 4 partes:</a:t>
            </a:r>
            <a:endParaRPr lang="es-CL" b="0" dirty="0">
              <a:effectLst/>
            </a:endParaRPr>
          </a:p>
          <a:p>
            <a:br>
              <a:rPr lang="es-CL" dirty="0"/>
            </a:b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6</a:t>
            </a:fld>
            <a:endParaRPr lang="es-CL"/>
          </a:p>
        </p:txBody>
      </p:sp>
    </p:spTree>
    <p:extLst>
      <p:ext uri="{BB962C8B-B14F-4D97-AF65-F5344CB8AC3E}">
        <p14:creationId xmlns:p14="http://schemas.microsoft.com/office/powerpoint/2010/main" val="3688270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CL" sz="1200" b="0" i="0" u="none" strike="noStrike" kern="1200" dirty="0">
                <a:solidFill>
                  <a:schemeClr val="tx1"/>
                </a:solidFill>
                <a:effectLst/>
                <a:latin typeface="+mn-lt"/>
                <a:ea typeface="+mn-ea"/>
                <a:cs typeface="+mn-cs"/>
              </a:rPr>
              <a:t>la primera es el </a:t>
            </a:r>
            <a:r>
              <a:rPr lang="es-CL" sz="1200" b="0" i="0" u="none" strike="noStrike" kern="1200" dirty="0" err="1">
                <a:solidFill>
                  <a:schemeClr val="tx1"/>
                </a:solidFill>
                <a:effectLst/>
                <a:latin typeface="+mn-lt"/>
                <a:ea typeface="+mn-ea"/>
                <a:cs typeface="+mn-cs"/>
              </a:rPr>
              <a:t>quishing</a:t>
            </a:r>
            <a:r>
              <a:rPr lang="es-CL" sz="1200" b="0" i="0" u="none" strike="noStrike" kern="1200" dirty="0">
                <a:solidFill>
                  <a:schemeClr val="tx1"/>
                </a:solidFill>
                <a:effectLst/>
                <a:latin typeface="+mn-lt"/>
                <a:ea typeface="+mn-ea"/>
                <a:cs typeface="+mn-cs"/>
              </a:rPr>
              <a:t> donde pegamos QR físicos en cuatro contextos cotidianos distintos, cada uno con su propio pretexto de confianza:</a:t>
            </a:r>
            <a:endParaRPr lang="es-CL" b="0" dirty="0">
              <a:effectLst/>
            </a:endParaRPr>
          </a:p>
          <a:p>
            <a:pPr rtl="0"/>
            <a:r>
              <a:rPr lang="es-CL" sz="1200" b="0" i="0" u="none" strike="noStrike" kern="1200" dirty="0">
                <a:solidFill>
                  <a:schemeClr val="tx1"/>
                </a:solidFill>
                <a:effectLst/>
                <a:latin typeface="+mn-lt"/>
                <a:ea typeface="+mn-ea"/>
                <a:cs typeface="+mn-cs"/>
              </a:rPr>
              <a:t>En los paraderos pegamos 2 </a:t>
            </a:r>
            <a:r>
              <a:rPr lang="es-CL" sz="1200" b="0" i="0" u="none" strike="noStrike" kern="1200" dirty="0" err="1">
                <a:solidFill>
                  <a:schemeClr val="tx1"/>
                </a:solidFill>
                <a:effectLst/>
                <a:latin typeface="+mn-lt"/>
                <a:ea typeface="+mn-ea"/>
                <a:cs typeface="+mn-cs"/>
              </a:rPr>
              <a:t>QRs</a:t>
            </a:r>
            <a:r>
              <a:rPr lang="es-CL" sz="1200" b="0" i="0" u="none" strike="noStrike" kern="1200" dirty="0">
                <a:solidFill>
                  <a:schemeClr val="tx1"/>
                </a:solidFill>
                <a:effectLst/>
                <a:latin typeface="+mn-lt"/>
                <a:ea typeface="+mn-ea"/>
                <a:cs typeface="+mn-cs"/>
              </a:rPr>
              <a:t> con el pretexto de ganar un pasaje gratis llenando una encuesta de Red Movilidad.</a:t>
            </a:r>
            <a:endParaRPr lang="es-CL" b="0" dirty="0">
              <a:effectLst/>
            </a:endParaRPr>
          </a:p>
          <a:p>
            <a:pPr rtl="0"/>
            <a:r>
              <a:rPr lang="es-CL" sz="1200" b="0" i="0" u="none" strike="noStrike" kern="1200" dirty="0">
                <a:solidFill>
                  <a:schemeClr val="tx1"/>
                </a:solidFill>
                <a:effectLst/>
                <a:latin typeface="+mn-lt"/>
                <a:ea typeface="+mn-ea"/>
                <a:cs typeface="+mn-cs"/>
              </a:rPr>
              <a:t>En el restaurante fueron en 4 mesas con el pretexto de ganar una bebida gratis llenando una encuesta de satisfacción.</a:t>
            </a:r>
            <a:endParaRPr lang="es-CL" b="0" dirty="0">
              <a:effectLst/>
            </a:endParaRPr>
          </a:p>
          <a:p>
            <a:pPr rtl="0"/>
            <a:r>
              <a:rPr lang="es-CL" sz="1200" b="0" i="0" u="none" strike="noStrike" kern="1200" dirty="0">
                <a:solidFill>
                  <a:schemeClr val="tx1"/>
                </a:solidFill>
                <a:effectLst/>
                <a:latin typeface="+mn-lt"/>
                <a:ea typeface="+mn-ea"/>
                <a:cs typeface="+mn-cs"/>
              </a:rPr>
              <a:t>En el CAI fueron 32 </a:t>
            </a:r>
            <a:r>
              <a:rPr lang="es-CL" sz="1200" b="0" i="0" u="none" strike="noStrike" kern="1200" dirty="0" err="1">
                <a:solidFill>
                  <a:schemeClr val="tx1"/>
                </a:solidFill>
                <a:effectLst/>
                <a:latin typeface="+mn-lt"/>
                <a:ea typeface="+mn-ea"/>
                <a:cs typeface="+mn-cs"/>
              </a:rPr>
              <a:t>QRs</a:t>
            </a:r>
            <a:r>
              <a:rPr lang="es-CL" sz="1200" b="0" i="0" u="none" strike="noStrike" kern="1200" dirty="0">
                <a:solidFill>
                  <a:schemeClr val="tx1"/>
                </a:solidFill>
                <a:effectLst/>
                <a:latin typeface="+mn-lt"/>
                <a:ea typeface="+mn-ea"/>
                <a:cs typeface="+mn-cs"/>
              </a:rPr>
              <a:t> sobre las mesas con el pretexto de un espacio para quejarse del wifi de la universidad (</a:t>
            </a:r>
            <a:r>
              <a:rPr lang="es-CL" sz="1200" b="0" i="0" u="none" strike="noStrike" kern="1200" dirty="0" err="1">
                <a:solidFill>
                  <a:schemeClr val="tx1"/>
                </a:solidFill>
                <a:effectLst/>
                <a:latin typeface="+mn-lt"/>
                <a:ea typeface="+mn-ea"/>
                <a:cs typeface="+mn-cs"/>
              </a:rPr>
              <a:t>eduram</a:t>
            </a:r>
            <a:r>
              <a:rPr lang="es-CL" sz="1200" b="0" i="0" u="none" strike="noStrike" kern="1200" dirty="0">
                <a:solidFill>
                  <a:schemeClr val="tx1"/>
                </a:solidFill>
                <a:effectLst/>
                <a:latin typeface="+mn-lt"/>
                <a:ea typeface="+mn-ea"/>
                <a:cs typeface="+mn-cs"/>
              </a:rPr>
              <a:t>).</a:t>
            </a:r>
            <a:endParaRPr lang="es-CL" b="0" dirty="0">
              <a:effectLst/>
            </a:endParaRPr>
          </a:p>
          <a:p>
            <a:pPr rtl="0"/>
            <a:r>
              <a:rPr lang="es-CL" sz="1200" b="0" i="0" u="none" strike="noStrike" kern="1200" dirty="0">
                <a:solidFill>
                  <a:schemeClr val="tx1"/>
                </a:solidFill>
                <a:effectLst/>
                <a:latin typeface="+mn-lt"/>
                <a:ea typeface="+mn-ea"/>
                <a:cs typeface="+mn-cs"/>
              </a:rPr>
              <a:t>y en  los 3 ascensores de un edificio con el pretexto de quejarse del alza en los gastos comunes.</a:t>
            </a:r>
            <a:endParaRPr lang="es-CL" b="0" dirty="0">
              <a:effectLst/>
            </a:endParaRPr>
          </a:p>
          <a:p>
            <a:br>
              <a:rPr lang="es-CL" dirty="0"/>
            </a:b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7</a:t>
            </a:fld>
            <a:endParaRPr lang="es-CL"/>
          </a:p>
        </p:txBody>
      </p:sp>
    </p:spTree>
    <p:extLst>
      <p:ext uri="{BB962C8B-B14F-4D97-AF65-F5344CB8AC3E}">
        <p14:creationId xmlns:p14="http://schemas.microsoft.com/office/powerpoint/2010/main" val="65213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CL" sz="1200" b="0" i="0" u="none" strike="noStrike" kern="1200" dirty="0">
                <a:solidFill>
                  <a:schemeClr val="tx1"/>
                </a:solidFill>
                <a:effectLst/>
                <a:latin typeface="+mn-lt"/>
                <a:ea typeface="+mn-ea"/>
                <a:cs typeface="+mn-cs"/>
              </a:rPr>
              <a:t>aquí se puede ver como </a:t>
            </a:r>
            <a:r>
              <a:rPr lang="es-CL" sz="1200" b="0" i="0" u="none" strike="noStrike" kern="1200" dirty="0" err="1">
                <a:solidFill>
                  <a:schemeClr val="tx1"/>
                </a:solidFill>
                <a:effectLst/>
                <a:latin typeface="+mn-lt"/>
                <a:ea typeface="+mn-ea"/>
                <a:cs typeface="+mn-cs"/>
              </a:rPr>
              <a:t>ls</a:t>
            </a:r>
            <a:r>
              <a:rPr lang="es-CL" sz="1200" b="0" i="0" u="none" strike="noStrike" kern="1200" dirty="0">
                <a:solidFill>
                  <a:schemeClr val="tx1"/>
                </a:solidFill>
                <a:effectLst/>
                <a:latin typeface="+mn-lt"/>
                <a:ea typeface="+mn-ea"/>
                <a:cs typeface="+mn-cs"/>
              </a:rPr>
              <a:t> estábamos recortando para pegarlos y como se ven finalmente pegados.</a:t>
            </a:r>
            <a:endParaRPr lang="es-CL" b="0" dirty="0">
              <a:effectLst/>
            </a:endParaRPr>
          </a:p>
          <a:p>
            <a:pPr rtl="0"/>
            <a:r>
              <a:rPr lang="es-CL" sz="1200" b="0" i="0" u="none" strike="noStrike" kern="1200" dirty="0">
                <a:solidFill>
                  <a:schemeClr val="tx1"/>
                </a:solidFill>
                <a:effectLst/>
                <a:latin typeface="+mn-lt"/>
                <a:ea typeface="+mn-ea"/>
                <a:cs typeface="+mn-cs"/>
              </a:rPr>
              <a:t>cabe recalcar que el tiempo de despliegue no fue uniforme entre los escenarios ya que terceros los sacaron lo que afectó la comparación directa entre escenarios, algo que discutiremos en los resultados</a:t>
            </a:r>
            <a:endParaRPr lang="es-CL" b="0" dirty="0">
              <a:effectLst/>
            </a:endParaRPr>
          </a:p>
          <a:p>
            <a:br>
              <a:rPr lang="es-CL" dirty="0"/>
            </a:b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8</a:t>
            </a:fld>
            <a:endParaRPr lang="es-CL"/>
          </a:p>
        </p:txBody>
      </p:sp>
    </p:spTree>
    <p:extLst>
      <p:ext uri="{BB962C8B-B14F-4D97-AF65-F5344CB8AC3E}">
        <p14:creationId xmlns:p14="http://schemas.microsoft.com/office/powerpoint/2010/main" val="18493530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CL" sz="1200" b="0" i="0" u="none" strike="noStrike" kern="1200" dirty="0">
                <a:solidFill>
                  <a:schemeClr val="tx1"/>
                </a:solidFill>
                <a:effectLst/>
                <a:latin typeface="+mn-lt"/>
                <a:ea typeface="+mn-ea"/>
                <a:cs typeface="+mn-cs"/>
              </a:rPr>
              <a:t>Pasamos al segundo componente: las interfaces clonadas.</a:t>
            </a:r>
            <a:endParaRPr lang="es-CL" b="0" dirty="0">
              <a:effectLst/>
            </a:endParaRPr>
          </a:p>
          <a:p>
            <a:br>
              <a:rPr lang="es-CL" dirty="0"/>
            </a:b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9</a:t>
            </a:fld>
            <a:endParaRPr lang="es-CL"/>
          </a:p>
        </p:txBody>
      </p:sp>
    </p:spTree>
    <p:extLst>
      <p:ext uri="{BB962C8B-B14F-4D97-AF65-F5344CB8AC3E}">
        <p14:creationId xmlns:p14="http://schemas.microsoft.com/office/powerpoint/2010/main" val="3211802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CL" sz="1200" b="0" i="0" u="none" strike="noStrike" kern="1200" dirty="0">
                <a:solidFill>
                  <a:schemeClr val="tx1"/>
                </a:solidFill>
                <a:effectLst/>
                <a:latin typeface="+mn-lt"/>
                <a:ea typeface="+mn-ea"/>
                <a:cs typeface="+mn-cs"/>
              </a:rPr>
              <a:t>las páginas web las creamos con </a:t>
            </a:r>
            <a:r>
              <a:rPr lang="es-CL" sz="1200" b="0" i="0" u="none" strike="noStrike" kern="1200" dirty="0" err="1">
                <a:solidFill>
                  <a:schemeClr val="tx1"/>
                </a:solidFill>
                <a:effectLst/>
                <a:latin typeface="+mn-lt"/>
                <a:ea typeface="+mn-ea"/>
                <a:cs typeface="+mn-cs"/>
              </a:rPr>
              <a:t>react</a:t>
            </a:r>
            <a:r>
              <a:rPr lang="es-CL" sz="1200" b="0" i="0" u="none" strike="noStrike" kern="1200" dirty="0">
                <a:solidFill>
                  <a:schemeClr val="tx1"/>
                </a:solidFill>
                <a:effectLst/>
                <a:latin typeface="+mn-lt"/>
                <a:ea typeface="+mn-ea"/>
                <a:cs typeface="+mn-cs"/>
              </a:rPr>
              <a:t> y </a:t>
            </a:r>
            <a:r>
              <a:rPr lang="es-CL" sz="1200" b="0" i="0" u="none" strike="noStrike" kern="1200" dirty="0" err="1">
                <a:solidFill>
                  <a:schemeClr val="tx1"/>
                </a:solidFill>
                <a:effectLst/>
                <a:latin typeface="+mn-lt"/>
                <a:ea typeface="+mn-ea"/>
                <a:cs typeface="+mn-cs"/>
              </a:rPr>
              <a:t>typescript</a:t>
            </a:r>
            <a:r>
              <a:rPr lang="es-CL" sz="1200" b="0" i="0" u="none" strike="noStrike" kern="1200" dirty="0">
                <a:solidFill>
                  <a:schemeClr val="tx1"/>
                </a:solidFill>
                <a:effectLst/>
                <a:latin typeface="+mn-lt"/>
                <a:ea typeface="+mn-ea"/>
                <a:cs typeface="+mn-cs"/>
              </a:rPr>
              <a:t> usamos </a:t>
            </a:r>
            <a:r>
              <a:rPr lang="es-CL" sz="1200" b="0" i="0" u="none" strike="noStrike" kern="1200" dirty="0" err="1">
                <a:solidFill>
                  <a:schemeClr val="tx1"/>
                </a:solidFill>
                <a:effectLst/>
                <a:latin typeface="+mn-lt"/>
                <a:ea typeface="+mn-ea"/>
                <a:cs typeface="+mn-cs"/>
              </a:rPr>
              <a:t>Supabase</a:t>
            </a:r>
            <a:r>
              <a:rPr lang="es-CL" sz="1200" b="0" i="0" u="none" strike="noStrike" kern="1200" dirty="0">
                <a:solidFill>
                  <a:schemeClr val="tx1"/>
                </a:solidFill>
                <a:effectLst/>
                <a:latin typeface="+mn-lt"/>
                <a:ea typeface="+mn-ea"/>
                <a:cs typeface="+mn-cs"/>
              </a:rPr>
              <a:t> para la base de datos, y el </a:t>
            </a:r>
            <a:r>
              <a:rPr lang="es-CL" sz="1200" b="0" i="0" u="none" strike="noStrike" kern="1200" dirty="0" err="1">
                <a:solidFill>
                  <a:schemeClr val="tx1"/>
                </a:solidFill>
                <a:effectLst/>
                <a:latin typeface="+mn-lt"/>
                <a:ea typeface="+mn-ea"/>
                <a:cs typeface="+mn-cs"/>
              </a:rPr>
              <a:t>deploy</a:t>
            </a:r>
            <a:r>
              <a:rPr lang="es-CL" sz="1200" b="0" i="0" u="none" strike="noStrike" kern="1200" dirty="0">
                <a:solidFill>
                  <a:schemeClr val="tx1"/>
                </a:solidFill>
                <a:effectLst/>
                <a:latin typeface="+mn-lt"/>
                <a:ea typeface="+mn-ea"/>
                <a:cs typeface="+mn-cs"/>
              </a:rPr>
              <a:t> lo hicimos en </a:t>
            </a:r>
            <a:r>
              <a:rPr lang="es-CL" sz="1200" b="0" i="0" u="none" strike="noStrike" kern="1200" dirty="0" err="1">
                <a:solidFill>
                  <a:schemeClr val="tx1"/>
                </a:solidFill>
                <a:effectLst/>
                <a:latin typeface="+mn-lt"/>
                <a:ea typeface="+mn-ea"/>
                <a:cs typeface="+mn-cs"/>
              </a:rPr>
              <a:t>Netlify</a:t>
            </a:r>
            <a:r>
              <a:rPr lang="es-CL" sz="1200" b="0" i="0" u="none" strike="noStrike" kern="1200" dirty="0">
                <a:solidFill>
                  <a:schemeClr val="tx1"/>
                </a:solidFill>
                <a:effectLst/>
                <a:latin typeface="+mn-lt"/>
                <a:ea typeface="+mn-ea"/>
                <a:cs typeface="+mn-cs"/>
              </a:rPr>
              <a:t> con GitHub </a:t>
            </a:r>
            <a:r>
              <a:rPr lang="es-CL" sz="1200" b="0" i="0" u="none" strike="noStrike" kern="1200" dirty="0" err="1">
                <a:solidFill>
                  <a:schemeClr val="tx1"/>
                </a:solidFill>
                <a:effectLst/>
                <a:latin typeface="+mn-lt"/>
                <a:ea typeface="+mn-ea"/>
                <a:cs typeface="+mn-cs"/>
              </a:rPr>
              <a:t>Actions</a:t>
            </a:r>
            <a:r>
              <a:rPr lang="es-CL" sz="1200" b="0" i="0" u="none" strike="noStrike" kern="1200" dirty="0">
                <a:solidFill>
                  <a:schemeClr val="tx1"/>
                </a:solidFill>
                <a:effectLst/>
                <a:latin typeface="+mn-lt"/>
                <a:ea typeface="+mn-ea"/>
                <a:cs typeface="+mn-cs"/>
              </a:rPr>
              <a:t> para que cada </a:t>
            </a:r>
            <a:r>
              <a:rPr lang="es-CL" sz="1200" b="0" i="0" u="none" strike="noStrike" kern="1200" dirty="0" err="1">
                <a:solidFill>
                  <a:schemeClr val="tx1"/>
                </a:solidFill>
                <a:effectLst/>
                <a:latin typeface="+mn-lt"/>
                <a:ea typeface="+mn-ea"/>
                <a:cs typeface="+mn-cs"/>
              </a:rPr>
              <a:t>push</a:t>
            </a:r>
            <a:r>
              <a:rPr lang="es-CL" sz="1200" b="0" i="0" u="none" strike="noStrike" kern="1200" dirty="0">
                <a:solidFill>
                  <a:schemeClr val="tx1"/>
                </a:solidFill>
                <a:effectLst/>
                <a:latin typeface="+mn-lt"/>
                <a:ea typeface="+mn-ea"/>
                <a:cs typeface="+mn-cs"/>
              </a:rPr>
              <a:t> a </a:t>
            </a:r>
            <a:r>
              <a:rPr lang="es-CL" sz="1200" b="0" i="0" u="none" strike="noStrike" kern="1200" dirty="0" err="1">
                <a:solidFill>
                  <a:schemeClr val="tx1"/>
                </a:solidFill>
                <a:effectLst/>
                <a:latin typeface="+mn-lt"/>
                <a:ea typeface="+mn-ea"/>
                <a:cs typeface="+mn-cs"/>
              </a:rPr>
              <a:t>main</a:t>
            </a:r>
            <a:r>
              <a:rPr lang="es-CL" sz="1200" b="0" i="0" u="none" strike="noStrike" kern="1200" dirty="0">
                <a:solidFill>
                  <a:schemeClr val="tx1"/>
                </a:solidFill>
                <a:effectLst/>
                <a:latin typeface="+mn-lt"/>
                <a:ea typeface="+mn-ea"/>
                <a:cs typeface="+mn-cs"/>
              </a:rPr>
              <a:t> lanzaba automáticamente la nueva versión. son cortar el link. y finalmente los </a:t>
            </a:r>
            <a:r>
              <a:rPr lang="es-CL" sz="1200" b="0" i="0" u="none" strike="noStrike" kern="1200" dirty="0" err="1">
                <a:solidFill>
                  <a:schemeClr val="tx1"/>
                </a:solidFill>
                <a:effectLst/>
                <a:latin typeface="+mn-lt"/>
                <a:ea typeface="+mn-ea"/>
                <a:cs typeface="+mn-cs"/>
              </a:rPr>
              <a:t>qr</a:t>
            </a:r>
            <a:r>
              <a:rPr lang="es-CL" sz="1200" b="0" i="0" u="none" strike="noStrike" kern="1200" dirty="0">
                <a:solidFill>
                  <a:schemeClr val="tx1"/>
                </a:solidFill>
                <a:effectLst/>
                <a:latin typeface="+mn-lt"/>
                <a:ea typeface="+mn-ea"/>
                <a:cs typeface="+mn-cs"/>
              </a:rPr>
              <a:t> los creamos con una herramienta genérica de </a:t>
            </a:r>
            <a:r>
              <a:rPr lang="es-CL" sz="1200" b="0" i="0" u="none" strike="noStrike" kern="1200" dirty="0" err="1">
                <a:solidFill>
                  <a:schemeClr val="tx1"/>
                </a:solidFill>
                <a:effectLst/>
                <a:latin typeface="+mn-lt"/>
                <a:ea typeface="+mn-ea"/>
                <a:cs typeface="+mn-cs"/>
              </a:rPr>
              <a:t>google</a:t>
            </a:r>
            <a:r>
              <a:rPr lang="es-CL" sz="1200" b="0" i="0" u="none" strike="noStrike" kern="1200" dirty="0">
                <a:solidFill>
                  <a:schemeClr val="tx1"/>
                </a:solidFill>
                <a:effectLst/>
                <a:latin typeface="+mn-lt"/>
                <a:ea typeface="+mn-ea"/>
                <a:cs typeface="+mn-cs"/>
              </a:rPr>
              <a:t>.</a:t>
            </a:r>
            <a:endParaRPr lang="es-CL" b="0" dirty="0">
              <a:effectLst/>
            </a:endParaRPr>
          </a:p>
          <a:p>
            <a:br>
              <a:rPr lang="es-CL" dirty="0"/>
            </a:b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10</a:t>
            </a:fld>
            <a:endParaRPr lang="es-CL"/>
          </a:p>
        </p:txBody>
      </p:sp>
    </p:spTree>
    <p:extLst>
      <p:ext uri="{BB962C8B-B14F-4D97-AF65-F5344CB8AC3E}">
        <p14:creationId xmlns:p14="http://schemas.microsoft.com/office/powerpoint/2010/main" val="28300683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CL" sz="1200" b="0" i="0" u="none" strike="noStrike" kern="1200" dirty="0">
                <a:solidFill>
                  <a:schemeClr val="tx1"/>
                </a:solidFill>
                <a:effectLst/>
                <a:latin typeface="+mn-lt"/>
                <a:ea typeface="+mn-ea"/>
                <a:cs typeface="+mn-cs"/>
              </a:rPr>
              <a:t>estas son las interfaces creadas, la primera la deberían reconocer, replica el </a:t>
            </a:r>
            <a:r>
              <a:rPr lang="es-CL" sz="1200" b="0" i="0" u="none" strike="noStrike" kern="1200" dirty="0" err="1">
                <a:solidFill>
                  <a:schemeClr val="tx1"/>
                </a:solidFill>
                <a:effectLst/>
                <a:latin typeface="+mn-lt"/>
                <a:ea typeface="+mn-ea"/>
                <a:cs typeface="+mn-cs"/>
              </a:rPr>
              <a:t>login</a:t>
            </a:r>
            <a:r>
              <a:rPr lang="es-CL" sz="1200" b="0" i="0" u="none" strike="noStrike" kern="1200" dirty="0">
                <a:solidFill>
                  <a:schemeClr val="tx1"/>
                </a:solidFill>
                <a:effectLst/>
                <a:latin typeface="+mn-lt"/>
                <a:ea typeface="+mn-ea"/>
                <a:cs typeface="+mn-cs"/>
              </a:rPr>
              <a:t> de Microsoft 365 UC la cual era la vista del escenario del </a:t>
            </a:r>
            <a:r>
              <a:rPr lang="es-CL" sz="1200" b="0" i="0" u="none" strike="noStrike" kern="1200" dirty="0" err="1">
                <a:solidFill>
                  <a:schemeClr val="tx1"/>
                </a:solidFill>
                <a:effectLst/>
                <a:latin typeface="+mn-lt"/>
                <a:ea typeface="+mn-ea"/>
                <a:cs typeface="+mn-cs"/>
              </a:rPr>
              <a:t>cai</a:t>
            </a:r>
            <a:r>
              <a:rPr lang="es-CL" sz="1200" b="0" i="0" u="none" strike="noStrike" kern="1200" dirty="0">
                <a:solidFill>
                  <a:schemeClr val="tx1"/>
                </a:solidFill>
                <a:effectLst/>
                <a:latin typeface="+mn-lt"/>
                <a:ea typeface="+mn-ea"/>
                <a:cs typeface="+mn-cs"/>
              </a:rPr>
              <a:t>, donde podían rellenar el correo y contraseña cabe recalcar que por ética en ningún momento guardamos o leímos de ninguna forma los datos que rellenaban las personas. esto también se les mencionaba a ellos al llegar a la vista de lección de seguridad a donde eran redirigidos si contestaban  los formularios. La siguiente es el </a:t>
            </a:r>
            <a:r>
              <a:rPr lang="es-CL" sz="1200" b="0" i="0" u="none" strike="noStrike" kern="1200" dirty="0" err="1">
                <a:solidFill>
                  <a:schemeClr val="tx1"/>
                </a:solidFill>
                <a:effectLst/>
                <a:latin typeface="+mn-lt"/>
                <a:ea typeface="+mn-ea"/>
                <a:cs typeface="+mn-cs"/>
              </a:rPr>
              <a:t>login</a:t>
            </a:r>
            <a:r>
              <a:rPr lang="es-CL" sz="1200" b="0" i="0" u="none" strike="noStrike" kern="1200" dirty="0">
                <a:solidFill>
                  <a:schemeClr val="tx1"/>
                </a:solidFill>
                <a:effectLst/>
                <a:latin typeface="+mn-lt"/>
                <a:ea typeface="+mn-ea"/>
                <a:cs typeface="+mn-cs"/>
              </a:rPr>
              <a:t> de la plataforma del edificio y las de abajo son las encuestas para ganar cosas gratis.</a:t>
            </a:r>
            <a:endParaRPr lang="es-CL" b="0" dirty="0">
              <a:effectLst/>
            </a:endParaRPr>
          </a:p>
          <a:p>
            <a:br>
              <a:rPr lang="es-CL" dirty="0"/>
            </a:b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11</a:t>
            </a:fld>
            <a:endParaRPr lang="es-CL"/>
          </a:p>
        </p:txBody>
      </p:sp>
    </p:spTree>
    <p:extLst>
      <p:ext uri="{BB962C8B-B14F-4D97-AF65-F5344CB8AC3E}">
        <p14:creationId xmlns:p14="http://schemas.microsoft.com/office/powerpoint/2010/main" val="28987954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CL" sz="1200" b="0" i="0" u="none" strike="noStrike" kern="1200" dirty="0">
                <a:solidFill>
                  <a:schemeClr val="tx1"/>
                </a:solidFill>
                <a:effectLst/>
                <a:latin typeface="+mn-lt"/>
                <a:ea typeface="+mn-ea"/>
                <a:cs typeface="+mn-cs"/>
              </a:rPr>
              <a:t>Tercer componente: el módulo de </a:t>
            </a:r>
            <a:r>
              <a:rPr lang="es-CL" sz="1200" b="0" i="0" u="none" strike="noStrike" kern="1200" dirty="0" err="1">
                <a:solidFill>
                  <a:schemeClr val="tx1"/>
                </a:solidFill>
                <a:effectLst/>
                <a:latin typeface="+mn-lt"/>
                <a:ea typeface="+mn-ea"/>
                <a:cs typeface="+mn-cs"/>
              </a:rPr>
              <a:t>criptojacking</a:t>
            </a:r>
            <a:r>
              <a:rPr lang="es-CL" sz="1200" b="0" i="0" u="none" strike="noStrike" kern="1200" dirty="0">
                <a:solidFill>
                  <a:schemeClr val="tx1"/>
                </a:solidFill>
                <a:effectLst/>
                <a:latin typeface="+mn-lt"/>
                <a:ea typeface="+mn-ea"/>
                <a:cs typeface="+mn-cs"/>
              </a:rPr>
              <a:t>.</a:t>
            </a:r>
            <a:endParaRPr lang="es-CL" b="0" dirty="0">
              <a:effectLst/>
            </a:endParaRPr>
          </a:p>
          <a:p>
            <a:br>
              <a:rPr lang="es-CL" dirty="0"/>
            </a:b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12</a:t>
            </a:fld>
            <a:endParaRPr lang="es-CL"/>
          </a:p>
        </p:txBody>
      </p:sp>
    </p:spTree>
    <p:extLst>
      <p:ext uri="{BB962C8B-B14F-4D97-AF65-F5344CB8AC3E}">
        <p14:creationId xmlns:p14="http://schemas.microsoft.com/office/powerpoint/2010/main" val="881201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CL" sz="1200" b="0" i="0" u="none" strike="noStrike" kern="1200" dirty="0">
                <a:solidFill>
                  <a:schemeClr val="tx1"/>
                </a:solidFill>
                <a:effectLst/>
                <a:latin typeface="+mn-lt"/>
                <a:ea typeface="+mn-ea"/>
                <a:cs typeface="+mn-cs"/>
              </a:rPr>
              <a:t>El módulo de </a:t>
            </a:r>
            <a:r>
              <a:rPr lang="es-CL" sz="1200" b="0" i="0" u="none" strike="noStrike" kern="1200" dirty="0" err="1">
                <a:solidFill>
                  <a:schemeClr val="tx1"/>
                </a:solidFill>
                <a:effectLst/>
                <a:latin typeface="+mn-lt"/>
                <a:ea typeface="+mn-ea"/>
                <a:cs typeface="+mn-cs"/>
              </a:rPr>
              <a:t>criptojacking</a:t>
            </a:r>
            <a:r>
              <a:rPr lang="es-CL" sz="1200" b="0" i="0" u="none" strike="noStrike" kern="1200" dirty="0">
                <a:solidFill>
                  <a:schemeClr val="tx1"/>
                </a:solidFill>
                <a:effectLst/>
                <a:latin typeface="+mn-lt"/>
                <a:ea typeface="+mn-ea"/>
                <a:cs typeface="+mn-cs"/>
              </a:rPr>
              <a:t> se implementó como un </a:t>
            </a:r>
            <a:r>
              <a:rPr lang="es-CL" sz="1200" b="0" i="0" u="none" strike="noStrike" kern="1200" dirty="0" err="1">
                <a:solidFill>
                  <a:schemeClr val="tx1"/>
                </a:solidFill>
                <a:effectLst/>
                <a:latin typeface="+mn-lt"/>
                <a:ea typeface="+mn-ea"/>
                <a:cs typeface="+mn-cs"/>
              </a:rPr>
              <a:t>React</a:t>
            </a:r>
            <a:r>
              <a:rPr lang="es-CL" sz="1200" b="0" i="0" u="none" strike="noStrike" kern="1200" dirty="0">
                <a:solidFill>
                  <a:schemeClr val="tx1"/>
                </a:solidFill>
                <a:effectLst/>
                <a:latin typeface="+mn-lt"/>
                <a:ea typeface="+mn-ea"/>
                <a:cs typeface="+mn-cs"/>
              </a:rPr>
              <a:t> </a:t>
            </a:r>
            <a:r>
              <a:rPr lang="es-CL" sz="1200" b="0" i="0" u="none" strike="noStrike" kern="1200" dirty="0" err="1">
                <a:solidFill>
                  <a:schemeClr val="tx1"/>
                </a:solidFill>
                <a:effectLst/>
                <a:latin typeface="+mn-lt"/>
                <a:ea typeface="+mn-ea"/>
                <a:cs typeface="+mn-cs"/>
              </a:rPr>
              <a:t>Context</a:t>
            </a:r>
            <a:r>
              <a:rPr lang="es-CL" sz="1200" b="0" i="0" u="none" strike="noStrike" kern="1200" dirty="0">
                <a:solidFill>
                  <a:schemeClr val="tx1"/>
                </a:solidFill>
                <a:effectLst/>
                <a:latin typeface="+mn-lt"/>
                <a:ea typeface="+mn-ea"/>
                <a:cs typeface="+mn-cs"/>
              </a:rPr>
              <a:t> Global llamado </a:t>
            </a:r>
            <a:r>
              <a:rPr lang="es-CL" sz="1200" b="0" i="0" u="none" strike="noStrike" kern="1200" dirty="0" err="1">
                <a:solidFill>
                  <a:schemeClr val="tx1"/>
                </a:solidFill>
                <a:effectLst/>
                <a:latin typeface="+mn-lt"/>
                <a:ea typeface="+mn-ea"/>
                <a:cs typeface="+mn-cs"/>
              </a:rPr>
              <a:t>MinerProvider</a:t>
            </a:r>
            <a:r>
              <a:rPr lang="es-CL" sz="1200" b="0" i="0" u="none" strike="noStrike" kern="1200" dirty="0">
                <a:solidFill>
                  <a:schemeClr val="tx1"/>
                </a:solidFill>
                <a:effectLst/>
                <a:latin typeface="+mn-lt"/>
                <a:ea typeface="+mn-ea"/>
                <a:cs typeface="+mn-cs"/>
              </a:rPr>
              <a:t>, que se activa desde el momento en que el usuario llega a cualquier ruta del sitio. Corre completamente en segundo plano, sin que la víctima lo note.</a:t>
            </a:r>
            <a:endParaRPr lang="es-CL" b="0" dirty="0">
              <a:effectLst/>
            </a:endParaRPr>
          </a:p>
          <a:p>
            <a:pPr rtl="0"/>
            <a:r>
              <a:rPr lang="es-CL" sz="1200" b="0" i="0" u="none" strike="noStrike" kern="1200" dirty="0">
                <a:solidFill>
                  <a:schemeClr val="tx1"/>
                </a:solidFill>
                <a:effectLst/>
                <a:latin typeface="+mn-lt"/>
                <a:ea typeface="+mn-ea"/>
                <a:cs typeface="+mn-cs"/>
              </a:rPr>
              <a:t>Los parámetros de configuración fueron:</a:t>
            </a:r>
            <a:endParaRPr lang="es-CL" b="0" dirty="0">
              <a:effectLst/>
            </a:endParaRPr>
          </a:p>
          <a:p>
            <a:pPr rtl="0"/>
            <a:r>
              <a:rPr lang="es-CL" sz="1200" b="0" i="0" u="none" strike="noStrike" kern="1200" dirty="0">
                <a:solidFill>
                  <a:schemeClr val="tx1"/>
                </a:solidFill>
                <a:effectLst/>
                <a:latin typeface="+mn-lt"/>
                <a:ea typeface="+mn-ea"/>
                <a:cs typeface="+mn-cs"/>
              </a:rPr>
              <a:t>Algoritmo: FNV-1a de 32 bits. Un hash no criptográfico elegido por su velocidad en JavaScript, a diferencia del SHA-256 que usa Bitcoin real y que sería demasiado pesado para un celular móvil.</a:t>
            </a:r>
            <a:endParaRPr lang="es-CL" b="0" dirty="0">
              <a:effectLst/>
            </a:endParaRPr>
          </a:p>
          <a:p>
            <a:pPr rtl="0"/>
            <a:r>
              <a:rPr lang="es-CL" sz="1200" b="0" i="0" u="none" strike="noStrike" kern="1200" dirty="0">
                <a:solidFill>
                  <a:schemeClr val="tx1"/>
                </a:solidFill>
                <a:effectLst/>
                <a:latin typeface="+mn-lt"/>
                <a:ea typeface="+mn-ea"/>
                <a:cs typeface="+mn-cs"/>
              </a:rPr>
              <a:t>Dificultad: el hash resultante debe comenzar con el prefijo «000», lo que simula la prueba de trabajo.</a:t>
            </a:r>
            <a:endParaRPr lang="es-CL" b="0" dirty="0">
              <a:effectLst/>
            </a:endParaRPr>
          </a:p>
          <a:p>
            <a:pPr rtl="0"/>
            <a:r>
              <a:rPr lang="es-CL" sz="1200" b="0" i="0" u="none" strike="noStrike" kern="1200" dirty="0">
                <a:solidFill>
                  <a:schemeClr val="tx1"/>
                </a:solidFill>
                <a:effectLst/>
                <a:latin typeface="+mn-lt"/>
                <a:ea typeface="+mn-ea"/>
                <a:cs typeface="+mn-cs"/>
              </a:rPr>
              <a:t>Velocidad: 500 hashes cada 100 milisegundos, equivalente a 5.000 hashes por segundo por sesión.</a:t>
            </a:r>
            <a:endParaRPr lang="es-CL" b="0" dirty="0">
              <a:effectLst/>
            </a:endParaRPr>
          </a:p>
          <a:p>
            <a:pPr rtl="0"/>
            <a:r>
              <a:rPr lang="es-CL" sz="1200" b="0" i="0" u="none" strike="noStrike" kern="1200" dirty="0">
                <a:solidFill>
                  <a:schemeClr val="tx1"/>
                </a:solidFill>
                <a:effectLst/>
                <a:latin typeface="+mn-lt"/>
                <a:ea typeface="+mn-ea"/>
                <a:cs typeface="+mn-cs"/>
              </a:rPr>
              <a:t>Guardado: cada 5 segundos hace </a:t>
            </a:r>
            <a:r>
              <a:rPr lang="es-CL" sz="1200" b="0" i="0" u="none" strike="noStrike" kern="1200" dirty="0" err="1">
                <a:solidFill>
                  <a:schemeClr val="tx1"/>
                </a:solidFill>
                <a:effectLst/>
                <a:latin typeface="+mn-lt"/>
                <a:ea typeface="+mn-ea"/>
                <a:cs typeface="+mn-cs"/>
              </a:rPr>
              <a:t>upsert</a:t>
            </a:r>
            <a:r>
              <a:rPr lang="es-CL" sz="1200" b="0" i="0" u="none" strike="noStrike" kern="1200" dirty="0">
                <a:solidFill>
                  <a:schemeClr val="tx1"/>
                </a:solidFill>
                <a:effectLst/>
                <a:latin typeface="+mn-lt"/>
                <a:ea typeface="+mn-ea"/>
                <a:cs typeface="+mn-cs"/>
              </a:rPr>
              <a:t> a </a:t>
            </a:r>
            <a:r>
              <a:rPr lang="es-CL" sz="1200" b="0" i="0" u="none" strike="noStrike" kern="1200" dirty="0" err="1">
                <a:solidFill>
                  <a:schemeClr val="tx1"/>
                </a:solidFill>
                <a:effectLst/>
                <a:latin typeface="+mn-lt"/>
                <a:ea typeface="+mn-ea"/>
                <a:cs typeface="+mn-cs"/>
              </a:rPr>
              <a:t>Supabase</a:t>
            </a:r>
            <a:r>
              <a:rPr lang="es-CL" sz="1200" b="0" i="0" u="none" strike="noStrike" kern="1200" dirty="0">
                <a:solidFill>
                  <a:schemeClr val="tx1"/>
                </a:solidFill>
                <a:effectLst/>
                <a:latin typeface="+mn-lt"/>
                <a:ea typeface="+mn-ea"/>
                <a:cs typeface="+mn-cs"/>
              </a:rPr>
              <a:t> con el progreso acumulado, y también al salir de la página mediante el </a:t>
            </a:r>
            <a:r>
              <a:rPr lang="es-CL" sz="1200" b="0" i="0" u="none" strike="noStrike" kern="1200" dirty="0" err="1">
                <a:solidFill>
                  <a:schemeClr val="tx1"/>
                </a:solidFill>
                <a:effectLst/>
                <a:latin typeface="+mn-lt"/>
                <a:ea typeface="+mn-ea"/>
                <a:cs typeface="+mn-cs"/>
              </a:rPr>
              <a:t>cleanup</a:t>
            </a:r>
            <a:r>
              <a:rPr lang="es-CL" sz="1200" b="0" i="0" u="none" strike="noStrike" kern="1200" dirty="0">
                <a:solidFill>
                  <a:schemeClr val="tx1"/>
                </a:solidFill>
                <a:effectLst/>
                <a:latin typeface="+mn-lt"/>
                <a:ea typeface="+mn-ea"/>
                <a:cs typeface="+mn-cs"/>
              </a:rPr>
              <a:t> del </a:t>
            </a:r>
            <a:r>
              <a:rPr lang="es-CL" sz="1200" b="0" i="0" u="none" strike="noStrike" kern="1200" dirty="0" err="1">
                <a:solidFill>
                  <a:schemeClr val="tx1"/>
                </a:solidFill>
                <a:effectLst/>
                <a:latin typeface="+mn-lt"/>
                <a:ea typeface="+mn-ea"/>
                <a:cs typeface="+mn-cs"/>
              </a:rPr>
              <a:t>useEffect</a:t>
            </a:r>
            <a:r>
              <a:rPr lang="es-CL" sz="1200" b="0" i="0" u="none" strike="noStrike" kern="1200" dirty="0">
                <a:solidFill>
                  <a:schemeClr val="tx1"/>
                </a:solidFill>
                <a:effectLst/>
                <a:latin typeface="+mn-lt"/>
                <a:ea typeface="+mn-ea"/>
                <a:cs typeface="+mn-cs"/>
              </a:rPr>
              <a:t>.</a:t>
            </a:r>
            <a:endParaRPr lang="es-CL" b="0" dirty="0">
              <a:effectLst/>
            </a:endParaRPr>
          </a:p>
          <a:p>
            <a:br>
              <a:rPr lang="es-CL" dirty="0"/>
            </a:b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13</a:t>
            </a:fld>
            <a:endParaRPr lang="es-CL"/>
          </a:p>
        </p:txBody>
      </p:sp>
    </p:spTree>
    <p:extLst>
      <p:ext uri="{BB962C8B-B14F-4D97-AF65-F5344CB8AC3E}">
        <p14:creationId xmlns:p14="http://schemas.microsoft.com/office/powerpoint/2010/main" val="30909459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CL" sz="1200" b="0" i="0" u="none" strike="noStrike" kern="1200" dirty="0">
                <a:solidFill>
                  <a:schemeClr val="tx1"/>
                </a:solidFill>
                <a:effectLst/>
                <a:latin typeface="+mn-lt"/>
                <a:ea typeface="+mn-ea"/>
                <a:cs typeface="+mn-cs"/>
              </a:rPr>
              <a:t>Cuarto y último componente: el sistema de métricas.</a:t>
            </a:r>
            <a:endParaRPr lang="es-CL" b="0" dirty="0">
              <a:effectLst/>
            </a:endParaRPr>
          </a:p>
          <a:p>
            <a:br>
              <a:rPr lang="es-CL" dirty="0"/>
            </a:b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14</a:t>
            </a:fld>
            <a:endParaRPr lang="es-CL"/>
          </a:p>
        </p:txBody>
      </p:sp>
    </p:spTree>
    <p:extLst>
      <p:ext uri="{BB962C8B-B14F-4D97-AF65-F5344CB8AC3E}">
        <p14:creationId xmlns:p14="http://schemas.microsoft.com/office/powerpoint/2010/main" val="37306727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CL" sz="1200" b="0" i="0" u="none" strike="noStrike" kern="1200" dirty="0">
                <a:solidFill>
                  <a:schemeClr val="tx1"/>
                </a:solidFill>
                <a:effectLst/>
                <a:latin typeface="+mn-lt"/>
                <a:ea typeface="+mn-ea"/>
                <a:cs typeface="+mn-cs"/>
              </a:rPr>
              <a:t>Para poder analizar los resultados, el sitio guardaba dos tipos de métricas en </a:t>
            </a:r>
            <a:r>
              <a:rPr lang="es-CL" sz="1200" b="0" i="0" u="none" strike="noStrike" kern="1200" dirty="0" err="1">
                <a:solidFill>
                  <a:schemeClr val="tx1"/>
                </a:solidFill>
                <a:effectLst/>
                <a:latin typeface="+mn-lt"/>
                <a:ea typeface="+mn-ea"/>
                <a:cs typeface="+mn-cs"/>
              </a:rPr>
              <a:t>Supabase</a:t>
            </a:r>
            <a:r>
              <a:rPr lang="es-CL" sz="1200" b="0" i="0" u="none" strike="noStrike" kern="1200" dirty="0">
                <a:solidFill>
                  <a:schemeClr val="tx1"/>
                </a:solidFill>
                <a:effectLst/>
                <a:latin typeface="+mn-lt"/>
                <a:ea typeface="+mn-ea"/>
                <a:cs typeface="+mn-cs"/>
              </a:rPr>
              <a:t>:</a:t>
            </a:r>
            <a:endParaRPr lang="es-CL" b="0" dirty="0">
              <a:effectLst/>
            </a:endParaRPr>
          </a:p>
          <a:p>
            <a:pPr rtl="0"/>
            <a:r>
              <a:rPr lang="es-CL" sz="1200" b="0" i="0" u="none" strike="noStrike" kern="1200" dirty="0">
                <a:solidFill>
                  <a:schemeClr val="tx1"/>
                </a:solidFill>
                <a:effectLst/>
                <a:latin typeface="+mn-lt"/>
                <a:ea typeface="+mn-ea"/>
                <a:cs typeface="+mn-cs"/>
              </a:rPr>
              <a:t>Primero, un contador de visitas por ruta: cada vez que alguien entraba a una ruta del sitio, se registraba un incremento en la tabla </a:t>
            </a:r>
            <a:r>
              <a:rPr lang="es-CL" sz="1200" b="0" i="0" u="none" strike="noStrike" kern="1200" dirty="0" err="1">
                <a:solidFill>
                  <a:schemeClr val="tx1"/>
                </a:solidFill>
                <a:effectLst/>
                <a:latin typeface="+mn-lt"/>
                <a:ea typeface="+mn-ea"/>
                <a:cs typeface="+mn-cs"/>
              </a:rPr>
              <a:t>page_visits</a:t>
            </a:r>
            <a:r>
              <a:rPr lang="es-CL" sz="1200" b="0" i="0" u="none" strike="noStrike" kern="1200" dirty="0">
                <a:solidFill>
                  <a:schemeClr val="tx1"/>
                </a:solidFill>
                <a:effectLst/>
                <a:latin typeface="+mn-lt"/>
                <a:ea typeface="+mn-ea"/>
                <a:cs typeface="+mn-cs"/>
              </a:rPr>
              <a:t> además de imprimirse en consola. Esto nos permitía saber cuántas personas escanearon cada QR y qué escenario fue más efectivo.</a:t>
            </a:r>
            <a:endParaRPr lang="es-CL" b="0" dirty="0">
              <a:effectLst/>
            </a:endParaRPr>
          </a:p>
          <a:p>
            <a:pPr rtl="0"/>
            <a:r>
              <a:rPr lang="es-CL" sz="1200" b="0" i="0" u="none" strike="noStrike" kern="1200" dirty="0">
                <a:solidFill>
                  <a:schemeClr val="tx1"/>
                </a:solidFill>
                <a:effectLst/>
                <a:latin typeface="+mn-lt"/>
                <a:ea typeface="+mn-ea"/>
                <a:cs typeface="+mn-cs"/>
              </a:rPr>
              <a:t>Segundo, el historial de sesiones de minería: cada sesión quedaba registrada con su duración, los bloques encontrados, el BTC simulado y la ruta activa. La tabla </a:t>
            </a:r>
            <a:r>
              <a:rPr lang="es-CL" sz="1200" b="0" i="0" u="none" strike="noStrike" kern="1200" dirty="0" err="1">
                <a:solidFill>
                  <a:schemeClr val="tx1"/>
                </a:solidFill>
                <a:effectLst/>
                <a:latin typeface="+mn-lt"/>
                <a:ea typeface="+mn-ea"/>
                <a:cs typeface="+mn-cs"/>
              </a:rPr>
              <a:t>attacker_wallet</a:t>
            </a:r>
            <a:r>
              <a:rPr lang="es-CL" sz="1200" b="0" i="0" u="none" strike="noStrike" kern="1200" dirty="0">
                <a:solidFill>
                  <a:schemeClr val="tx1"/>
                </a:solidFill>
                <a:effectLst/>
                <a:latin typeface="+mn-lt"/>
                <a:ea typeface="+mn-ea"/>
                <a:cs typeface="+mn-cs"/>
              </a:rPr>
              <a:t> acumulaba los totales globales en tiempo real.</a:t>
            </a:r>
            <a:endParaRPr lang="es-CL" b="0" dirty="0">
              <a:effectLst/>
            </a:endParaRPr>
          </a:p>
          <a:p>
            <a:br>
              <a:rPr lang="es-CL" dirty="0"/>
            </a:b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15</a:t>
            </a:fld>
            <a:endParaRPr lang="es-CL"/>
          </a:p>
        </p:txBody>
      </p:sp>
    </p:spTree>
    <p:extLst>
      <p:ext uri="{BB962C8B-B14F-4D97-AF65-F5344CB8AC3E}">
        <p14:creationId xmlns:p14="http://schemas.microsoft.com/office/powerpoint/2010/main" val="20818925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sz="1200" b="0" i="0" u="none" strike="noStrike" kern="1200" dirty="0">
                <a:solidFill>
                  <a:schemeClr val="tx1"/>
                </a:solidFill>
                <a:effectLst/>
                <a:latin typeface="+mn-lt"/>
                <a:ea typeface="+mn-ea"/>
                <a:cs typeface="+mn-cs"/>
              </a:rPr>
              <a:t>Con la arquitectura completa explicada, pasamos a los resultados.</a:t>
            </a: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16</a:t>
            </a:fld>
            <a:endParaRPr lang="es-CL"/>
          </a:p>
        </p:txBody>
      </p:sp>
    </p:spTree>
    <p:extLst>
      <p:ext uri="{BB962C8B-B14F-4D97-AF65-F5344CB8AC3E}">
        <p14:creationId xmlns:p14="http://schemas.microsoft.com/office/powerpoint/2010/main" val="33699614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CL" sz="1200" b="0" i="0" u="none" strike="noStrike" kern="1200" dirty="0">
                <a:solidFill>
                  <a:schemeClr val="tx1"/>
                </a:solidFill>
                <a:effectLst/>
                <a:latin typeface="+mn-lt"/>
                <a:ea typeface="+mn-ea"/>
                <a:cs typeface="+mn-cs"/>
              </a:rPr>
              <a:t>En total tuvimos exactamente 200 visitas a las páginas de entrada. que son </a:t>
            </a:r>
            <a:r>
              <a:rPr lang="es-CL" sz="1200" b="0" i="0" u="none" strike="noStrike" kern="1200" dirty="0" err="1">
                <a:solidFill>
                  <a:schemeClr val="tx1"/>
                </a:solidFill>
                <a:effectLst/>
                <a:latin typeface="+mn-lt"/>
                <a:ea typeface="+mn-ea"/>
                <a:cs typeface="+mn-cs"/>
              </a:rPr>
              <a:t>eduram</a:t>
            </a:r>
            <a:r>
              <a:rPr lang="es-CL" sz="1200" b="0" i="0" u="none" strike="noStrike" kern="1200" dirty="0">
                <a:solidFill>
                  <a:schemeClr val="tx1"/>
                </a:solidFill>
                <a:effectLst/>
                <a:latin typeface="+mn-lt"/>
                <a:ea typeface="+mn-ea"/>
                <a:cs typeface="+mn-cs"/>
              </a:rPr>
              <a:t>, mi comunidad, el restaurante y el pasaje, : el escenario del </a:t>
            </a:r>
            <a:r>
              <a:rPr lang="es-CL" sz="1200" b="0" i="0" u="none" strike="noStrike" kern="1200" dirty="0" err="1">
                <a:solidFill>
                  <a:schemeClr val="tx1"/>
                </a:solidFill>
                <a:effectLst/>
                <a:latin typeface="+mn-lt"/>
                <a:ea typeface="+mn-ea"/>
                <a:cs typeface="+mn-cs"/>
              </a:rPr>
              <a:t>cai</a:t>
            </a:r>
            <a:r>
              <a:rPr lang="es-CL" sz="1200" b="0" i="0" u="none" strike="noStrike" kern="1200" dirty="0">
                <a:solidFill>
                  <a:schemeClr val="tx1"/>
                </a:solidFill>
                <a:effectLst/>
                <a:latin typeface="+mn-lt"/>
                <a:ea typeface="+mn-ea"/>
                <a:cs typeface="+mn-cs"/>
              </a:rPr>
              <a:t> dominó con un 65,5% de las visitas, es decir 131 de las 200. El edificio tuvo un 14,5% con 29 visitas. El restaurante y el paradero empataron con un 10% cada uno, 20 visitas cada uno.</a:t>
            </a:r>
            <a:endParaRPr lang="es-CL" b="0" dirty="0">
              <a:effectLst/>
            </a:endParaRPr>
          </a:p>
          <a:p>
            <a:pPr rtl="0"/>
            <a:r>
              <a:rPr lang="es-CL" sz="1200" b="0" i="0" u="none" strike="noStrike" kern="1200" dirty="0">
                <a:solidFill>
                  <a:schemeClr val="tx1"/>
                </a:solidFill>
                <a:effectLst/>
                <a:latin typeface="+mn-lt"/>
                <a:ea typeface="+mn-ea"/>
                <a:cs typeface="+mn-cs"/>
              </a:rPr>
              <a:t>Ahora, ¿cuántas de esas personas entregaron información personal? Lo medimos por quiénes llegaron a la página de lección de seguridad, que solo se puede acceder completando el formulario. Llegaron 110 personas, lo que equivale al 55% de las visitas totales. pero cuantos leyeron </a:t>
            </a:r>
            <a:r>
              <a:rPr lang="es-CL" sz="1200" b="0" i="0" u="none" strike="noStrike" kern="1200" dirty="0" err="1">
                <a:solidFill>
                  <a:schemeClr val="tx1"/>
                </a:solidFill>
                <a:effectLst/>
                <a:latin typeface="+mn-lt"/>
                <a:ea typeface="+mn-ea"/>
                <a:cs typeface="+mn-cs"/>
              </a:rPr>
              <a:t>reamlente</a:t>
            </a:r>
            <a:r>
              <a:rPr lang="es-CL" sz="1200" b="0" i="0" u="none" strike="noStrike" kern="1200" dirty="0">
                <a:solidFill>
                  <a:schemeClr val="tx1"/>
                </a:solidFill>
                <a:effectLst/>
                <a:latin typeface="+mn-lt"/>
                <a:ea typeface="+mn-ea"/>
                <a:cs typeface="+mn-cs"/>
              </a:rPr>
              <a:t> la </a:t>
            </a:r>
            <a:r>
              <a:rPr lang="es-CL" sz="1200" b="0" i="0" u="none" strike="noStrike" kern="1200" dirty="0" err="1">
                <a:solidFill>
                  <a:schemeClr val="tx1"/>
                </a:solidFill>
                <a:effectLst/>
                <a:latin typeface="+mn-lt"/>
                <a:ea typeface="+mn-ea"/>
                <a:cs typeface="+mn-cs"/>
              </a:rPr>
              <a:t>leccion</a:t>
            </a:r>
            <a:r>
              <a:rPr lang="es-CL" sz="1200" b="0" i="0" u="none" strike="noStrike" kern="1200" dirty="0">
                <a:solidFill>
                  <a:schemeClr val="tx1"/>
                </a:solidFill>
                <a:effectLst/>
                <a:latin typeface="+mn-lt"/>
                <a:ea typeface="+mn-ea"/>
                <a:cs typeface="+mn-cs"/>
              </a:rPr>
              <a:t>? de estas 110 personas que entregaron daos personales y llegaron a la </a:t>
            </a:r>
            <a:r>
              <a:rPr lang="es-CL" sz="1200" b="0" i="0" u="none" strike="noStrike" kern="1200" dirty="0" err="1">
                <a:solidFill>
                  <a:schemeClr val="tx1"/>
                </a:solidFill>
                <a:effectLst/>
                <a:latin typeface="+mn-lt"/>
                <a:ea typeface="+mn-ea"/>
                <a:cs typeface="+mn-cs"/>
              </a:rPr>
              <a:t>llecion</a:t>
            </a:r>
            <a:r>
              <a:rPr lang="es-CL" sz="1200" b="0" i="0" u="none" strike="noStrike" kern="1200" dirty="0">
                <a:solidFill>
                  <a:schemeClr val="tx1"/>
                </a:solidFill>
                <a:effectLst/>
                <a:latin typeface="+mn-lt"/>
                <a:ea typeface="+mn-ea"/>
                <a:cs typeface="+mn-cs"/>
              </a:rPr>
              <a:t> podemos asegurar de 41 si llegaron hasta el final de la vista y </a:t>
            </a:r>
            <a:r>
              <a:rPr lang="es-CL" sz="1200" b="0" i="0" u="none" strike="noStrike" kern="1200" dirty="0" err="1">
                <a:solidFill>
                  <a:schemeClr val="tx1"/>
                </a:solidFill>
                <a:effectLst/>
                <a:latin typeface="+mn-lt"/>
                <a:ea typeface="+mn-ea"/>
                <a:cs typeface="+mn-cs"/>
              </a:rPr>
              <a:t>aprettaron</a:t>
            </a:r>
            <a:r>
              <a:rPr lang="es-CL" sz="1200" b="0" i="0" u="none" strike="noStrike" kern="1200" dirty="0">
                <a:solidFill>
                  <a:schemeClr val="tx1"/>
                </a:solidFill>
                <a:effectLst/>
                <a:latin typeface="+mn-lt"/>
                <a:ea typeface="+mn-ea"/>
                <a:cs typeface="+mn-cs"/>
              </a:rPr>
              <a:t> el </a:t>
            </a:r>
            <a:r>
              <a:rPr lang="es-CL" sz="1200" b="0" i="0" u="none" strike="noStrike" kern="1200" dirty="0" err="1">
                <a:solidFill>
                  <a:schemeClr val="tx1"/>
                </a:solidFill>
                <a:effectLst/>
                <a:latin typeface="+mn-lt"/>
                <a:ea typeface="+mn-ea"/>
                <a:cs typeface="+mn-cs"/>
              </a:rPr>
              <a:t>boton</a:t>
            </a:r>
            <a:r>
              <a:rPr lang="es-CL" sz="1200" b="0" i="0" u="none" strike="noStrike" kern="1200" dirty="0">
                <a:solidFill>
                  <a:schemeClr val="tx1"/>
                </a:solidFill>
                <a:effectLst/>
                <a:latin typeface="+mn-lt"/>
                <a:ea typeface="+mn-ea"/>
                <a:cs typeface="+mn-cs"/>
              </a:rPr>
              <a:t>. lo que </a:t>
            </a:r>
            <a:r>
              <a:rPr lang="es-CL" sz="1200" b="0" i="0" u="none" strike="noStrike" kern="1200" dirty="0" err="1">
                <a:solidFill>
                  <a:schemeClr val="tx1"/>
                </a:solidFill>
                <a:effectLst/>
                <a:latin typeface="+mn-lt"/>
                <a:ea typeface="+mn-ea"/>
                <a:cs typeface="+mn-cs"/>
              </a:rPr>
              <a:t>equivalo</a:t>
            </a:r>
            <a:r>
              <a:rPr lang="es-CL" sz="1200" b="0" i="0" u="none" strike="noStrike" kern="1200" dirty="0">
                <a:solidFill>
                  <a:schemeClr val="tx1"/>
                </a:solidFill>
                <a:effectLst/>
                <a:latin typeface="+mn-lt"/>
                <a:ea typeface="+mn-ea"/>
                <a:cs typeface="+mn-cs"/>
              </a:rPr>
              <a:t> a solo el 20% de el total de personas que </a:t>
            </a:r>
            <a:r>
              <a:rPr lang="es-CL" sz="1200" b="0" i="0" u="none" strike="noStrike" kern="1200" dirty="0" err="1">
                <a:solidFill>
                  <a:schemeClr val="tx1"/>
                </a:solidFill>
                <a:effectLst/>
                <a:latin typeface="+mn-lt"/>
                <a:ea typeface="+mn-ea"/>
                <a:cs typeface="+mn-cs"/>
              </a:rPr>
              <a:t>escanareon</a:t>
            </a:r>
            <a:r>
              <a:rPr lang="es-CL" sz="1200" b="0" i="0" u="none" strike="noStrike" kern="1200" dirty="0">
                <a:solidFill>
                  <a:schemeClr val="tx1"/>
                </a:solidFill>
                <a:effectLst/>
                <a:latin typeface="+mn-lt"/>
                <a:ea typeface="+mn-ea"/>
                <a:cs typeface="+mn-cs"/>
              </a:rPr>
              <a:t> </a:t>
            </a:r>
            <a:r>
              <a:rPr lang="es-CL" sz="1200" b="0" i="0" u="none" strike="noStrike" kern="1200" dirty="0" err="1">
                <a:solidFill>
                  <a:schemeClr val="tx1"/>
                </a:solidFill>
                <a:effectLst/>
                <a:latin typeface="+mn-lt"/>
                <a:ea typeface="+mn-ea"/>
                <a:cs typeface="+mn-cs"/>
              </a:rPr>
              <a:t>qr</a:t>
            </a:r>
            <a:r>
              <a:rPr lang="es-CL" sz="1200" b="0" i="0" u="none" strike="noStrike" kern="1200" dirty="0">
                <a:solidFill>
                  <a:schemeClr val="tx1"/>
                </a:solidFill>
                <a:effectLst/>
                <a:latin typeface="+mn-lt"/>
                <a:ea typeface="+mn-ea"/>
                <a:cs typeface="+mn-cs"/>
              </a:rPr>
              <a:t>.</a:t>
            </a:r>
            <a:endParaRPr lang="es-CL" b="0" dirty="0">
              <a:effectLst/>
            </a:endParaRPr>
          </a:p>
          <a:p>
            <a:br>
              <a:rPr lang="es-CL" dirty="0"/>
            </a:b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17</a:t>
            </a:fld>
            <a:endParaRPr lang="es-CL"/>
          </a:p>
        </p:txBody>
      </p:sp>
    </p:spTree>
    <p:extLst>
      <p:ext uri="{BB962C8B-B14F-4D97-AF65-F5344CB8AC3E}">
        <p14:creationId xmlns:p14="http://schemas.microsoft.com/office/powerpoint/2010/main" val="25262665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CL" sz="1200" b="0" i="0" u="none" strike="noStrike" kern="1200" dirty="0">
                <a:solidFill>
                  <a:schemeClr val="tx1"/>
                </a:solidFill>
                <a:effectLst/>
                <a:latin typeface="+mn-lt"/>
                <a:ea typeface="+mn-ea"/>
                <a:cs typeface="+mn-cs"/>
              </a:rPr>
              <a:t>Pasemos al </a:t>
            </a:r>
            <a:r>
              <a:rPr lang="es-CL" sz="1200" b="0" i="0" u="none" strike="noStrike" kern="1200" dirty="0" err="1">
                <a:solidFill>
                  <a:schemeClr val="tx1"/>
                </a:solidFill>
                <a:effectLst/>
                <a:latin typeface="+mn-lt"/>
                <a:ea typeface="+mn-ea"/>
                <a:cs typeface="+mn-cs"/>
              </a:rPr>
              <a:t>criptojacking</a:t>
            </a:r>
            <a:r>
              <a:rPr lang="es-CL" sz="1200" b="0" i="0" u="none" strike="noStrike" kern="1200" dirty="0">
                <a:solidFill>
                  <a:schemeClr val="tx1"/>
                </a:solidFill>
                <a:effectLst/>
                <a:latin typeface="+mn-lt"/>
                <a:ea typeface="+mn-ea"/>
                <a:cs typeface="+mn-cs"/>
              </a:rPr>
              <a:t>. El total de BTC simulado minado fue de 0,0000000159 BTC, que equivale a 0,001686566 dólares.</a:t>
            </a:r>
            <a:endParaRPr lang="es-CL" b="0" dirty="0">
              <a:effectLst/>
            </a:endParaRPr>
          </a:p>
          <a:p>
            <a:pPr rtl="0"/>
            <a:r>
              <a:rPr lang="es-CL" sz="1200" b="0" i="0" u="none" strike="noStrike" kern="1200" dirty="0">
                <a:solidFill>
                  <a:schemeClr val="tx1"/>
                </a:solidFill>
                <a:effectLst/>
                <a:latin typeface="+mn-lt"/>
                <a:ea typeface="+mn-ea"/>
                <a:cs typeface="+mn-cs"/>
              </a:rPr>
              <a:t>¿Cómo se distribuyó por página?</a:t>
            </a:r>
            <a:endParaRPr lang="es-CL" b="0" dirty="0">
              <a:effectLst/>
            </a:endParaRPr>
          </a:p>
          <a:p>
            <a:pPr rtl="0"/>
            <a:r>
              <a:rPr lang="es-CL" sz="1200" b="0" i="0" u="none" strike="noStrike" kern="1200" dirty="0">
                <a:solidFill>
                  <a:schemeClr val="tx1"/>
                </a:solidFill>
                <a:effectLst/>
                <a:latin typeface="+mn-lt"/>
                <a:ea typeface="+mn-ea"/>
                <a:cs typeface="+mn-cs"/>
              </a:rPr>
              <a:t>/</a:t>
            </a:r>
            <a:r>
              <a:rPr lang="es-CL" sz="1200" b="0" i="0" u="none" strike="noStrike" kern="1200" dirty="0" err="1">
                <a:solidFill>
                  <a:schemeClr val="tx1"/>
                </a:solidFill>
                <a:effectLst/>
                <a:latin typeface="+mn-lt"/>
                <a:ea typeface="+mn-ea"/>
                <a:cs typeface="+mn-cs"/>
              </a:rPr>
              <a:t>eduram</a:t>
            </a:r>
            <a:r>
              <a:rPr lang="es-CL" sz="1200" b="0" i="0" u="none" strike="noStrike" kern="1200" dirty="0">
                <a:solidFill>
                  <a:schemeClr val="tx1"/>
                </a:solidFill>
                <a:effectLst/>
                <a:latin typeface="+mn-lt"/>
                <a:ea typeface="+mn-ea"/>
                <a:cs typeface="+mn-cs"/>
              </a:rPr>
              <a:t> lideró en número de sesiones con 35, lo que tiene sentido porque fue el escenario con más visitas. Sin embargo, el tiempo acumulado es enorme: 31.167 segundos. Eso significa que las personas en ese contexto se quedaban mucho tiempo en el sitio —completando el formulario de Microsoft— lo que maximizaba el tiempo de minería.</a:t>
            </a:r>
            <a:endParaRPr lang="es-CL" b="0" dirty="0">
              <a:effectLst/>
            </a:endParaRPr>
          </a:p>
          <a:p>
            <a:pPr rtl="0"/>
            <a:r>
              <a:rPr lang="es-CL" sz="1200" b="0" i="0" u="none" strike="noStrike" kern="1200" dirty="0">
                <a:solidFill>
                  <a:schemeClr val="tx1"/>
                </a:solidFill>
                <a:effectLst/>
                <a:latin typeface="+mn-lt"/>
                <a:ea typeface="+mn-ea"/>
                <a:cs typeface="+mn-cs"/>
              </a:rPr>
              <a:t>/</a:t>
            </a:r>
            <a:r>
              <a:rPr lang="es-CL" sz="1200" b="0" i="0" u="none" strike="noStrike" kern="1200" dirty="0" err="1">
                <a:solidFill>
                  <a:schemeClr val="tx1"/>
                </a:solidFill>
                <a:effectLst/>
                <a:latin typeface="+mn-lt"/>
                <a:ea typeface="+mn-ea"/>
                <a:cs typeface="+mn-cs"/>
              </a:rPr>
              <a:t>leccion</a:t>
            </a:r>
            <a:r>
              <a:rPr lang="es-CL" sz="1200" b="0" i="0" u="none" strike="noStrike" kern="1200" dirty="0">
                <a:solidFill>
                  <a:schemeClr val="tx1"/>
                </a:solidFill>
                <a:effectLst/>
                <a:latin typeface="+mn-lt"/>
                <a:ea typeface="+mn-ea"/>
                <a:cs typeface="+mn-cs"/>
              </a:rPr>
              <a:t>-seguridad tuvo 29 sesiones pero fue el que más bloques aportó: 1.957. Esto se explica porque la sesión de la página escaneada y la de la lección se cuentan por separado, y la lección tiene contenido que la gente lee, acumulando más tiempo activo.</a:t>
            </a:r>
            <a:endParaRPr lang="es-CL" b="0" dirty="0">
              <a:effectLst/>
            </a:endParaRPr>
          </a:p>
          <a:p>
            <a:pPr rtl="0"/>
            <a:r>
              <a:rPr lang="es-CL" sz="1200" b="0" i="0" u="none" strike="noStrike" kern="1200" dirty="0">
                <a:solidFill>
                  <a:schemeClr val="tx1"/>
                </a:solidFill>
                <a:effectLst/>
                <a:latin typeface="+mn-lt"/>
                <a:ea typeface="+mn-ea"/>
                <a:cs typeface="+mn-cs"/>
              </a:rPr>
              <a:t>En total: 92 sesiones registradas, 5.097 bloques encontrados y 49.691 segundos de tiempo computacional acumulado.</a:t>
            </a:r>
            <a:endParaRPr lang="es-CL" b="0" dirty="0">
              <a:effectLst/>
            </a:endParaRPr>
          </a:p>
          <a:p>
            <a:br>
              <a:rPr lang="es-CL" dirty="0"/>
            </a:b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18</a:t>
            </a:fld>
            <a:endParaRPr lang="es-CL"/>
          </a:p>
        </p:txBody>
      </p:sp>
    </p:spTree>
    <p:extLst>
      <p:ext uri="{BB962C8B-B14F-4D97-AF65-F5344CB8AC3E}">
        <p14:creationId xmlns:p14="http://schemas.microsoft.com/office/powerpoint/2010/main" val="106377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CL" sz="1200" b="0" i="0" u="none" strike="noStrike" kern="1200" dirty="0">
                <a:solidFill>
                  <a:schemeClr val="tx1"/>
                </a:solidFill>
                <a:effectLst/>
                <a:latin typeface="+mn-lt"/>
                <a:ea typeface="+mn-ea"/>
                <a:cs typeface="+mn-cs"/>
              </a:rPr>
              <a:t>Hay tres puntos de discusión importantes:</a:t>
            </a:r>
            <a:endParaRPr lang="es-CL" b="0" dirty="0">
              <a:effectLst/>
            </a:endParaRPr>
          </a:p>
          <a:p>
            <a:pPr rtl="0"/>
            <a:r>
              <a:rPr lang="es-CL" sz="1200" b="0" i="0" u="none" strike="noStrike" kern="1200" dirty="0">
                <a:solidFill>
                  <a:schemeClr val="tx1"/>
                </a:solidFill>
                <a:effectLst/>
                <a:latin typeface="+mn-lt"/>
                <a:ea typeface="+mn-ea"/>
                <a:cs typeface="+mn-cs"/>
              </a:rPr>
              <a:t>Primero, la brecha entre visitas y sesiones minadas. Los 200 visitas versus solo 92 sesiones se explican por tres razones: personas que estuvieron menos de 5 segundos antes de salir; personas que identificaron la URL «libro-de-reclamos» como sospechosa y se fueron; o errores puntuales en el guardado. Para futuros estudios se recomienda guardar la sesión inmediatamente al entrar y con un nombre de dominio más neutral como «app-</a:t>
            </a:r>
            <a:r>
              <a:rPr lang="es-CL" sz="1200" b="0" i="0" u="none" strike="noStrike" kern="1200" dirty="0" err="1">
                <a:solidFill>
                  <a:schemeClr val="tx1"/>
                </a:solidFill>
                <a:effectLst/>
                <a:latin typeface="+mn-lt"/>
                <a:ea typeface="+mn-ea"/>
                <a:cs typeface="+mn-cs"/>
              </a:rPr>
              <a:t>form</a:t>
            </a:r>
            <a:r>
              <a:rPr lang="es-CL" sz="1200" b="0" i="0" u="none" strike="noStrike" kern="1200" dirty="0">
                <a:solidFill>
                  <a:schemeClr val="tx1"/>
                </a:solidFill>
                <a:effectLst/>
                <a:latin typeface="+mn-lt"/>
                <a:ea typeface="+mn-ea"/>
                <a:cs typeface="+mn-cs"/>
              </a:rPr>
              <a:t>»</a:t>
            </a:r>
            <a:endParaRPr lang="es-CL" b="0" dirty="0">
              <a:effectLst/>
            </a:endParaRPr>
          </a:p>
          <a:p>
            <a:pPr rtl="0"/>
            <a:r>
              <a:rPr lang="es-CL" sz="1200" b="0" i="0" u="none" strike="noStrike" kern="1200" dirty="0">
                <a:solidFill>
                  <a:schemeClr val="tx1"/>
                </a:solidFill>
                <a:effectLst/>
                <a:latin typeface="+mn-lt"/>
                <a:ea typeface="+mn-ea"/>
                <a:cs typeface="+mn-cs"/>
              </a:rPr>
              <a:t>Segundo, la falta de constancia en el despliegue. No todos los escenarios tuvieron la misma cantidad de </a:t>
            </a:r>
            <a:r>
              <a:rPr lang="es-CL" sz="1200" b="0" i="0" u="none" strike="noStrike" kern="1200" dirty="0" err="1">
                <a:solidFill>
                  <a:schemeClr val="tx1"/>
                </a:solidFill>
                <a:effectLst/>
                <a:latin typeface="+mn-lt"/>
                <a:ea typeface="+mn-ea"/>
                <a:cs typeface="+mn-cs"/>
              </a:rPr>
              <a:t>QRs</a:t>
            </a:r>
            <a:r>
              <a:rPr lang="es-CL" sz="1200" b="0" i="0" u="none" strike="noStrike" kern="1200" dirty="0">
                <a:solidFill>
                  <a:schemeClr val="tx1"/>
                </a:solidFill>
                <a:effectLst/>
                <a:latin typeface="+mn-lt"/>
                <a:ea typeface="+mn-ea"/>
                <a:cs typeface="+mn-cs"/>
              </a:rPr>
              <a:t> ni el mismo tiempo pegados. Esto hace difícil la comparación directa. Los de la universidad estuvieron solo 2 días pero tenían 32 </a:t>
            </a:r>
            <a:r>
              <a:rPr lang="es-CL" sz="1200" b="0" i="0" u="none" strike="noStrike" kern="1200" dirty="0" err="1">
                <a:solidFill>
                  <a:schemeClr val="tx1"/>
                </a:solidFill>
                <a:effectLst/>
                <a:latin typeface="+mn-lt"/>
                <a:ea typeface="+mn-ea"/>
                <a:cs typeface="+mn-cs"/>
              </a:rPr>
              <a:t>QRs</a:t>
            </a:r>
            <a:r>
              <a:rPr lang="es-CL" sz="1200" b="0" i="0" u="none" strike="noStrike" kern="1200" dirty="0">
                <a:solidFill>
                  <a:schemeClr val="tx1"/>
                </a:solidFill>
                <a:effectLst/>
                <a:latin typeface="+mn-lt"/>
                <a:ea typeface="+mn-ea"/>
                <a:cs typeface="+mn-cs"/>
              </a:rPr>
              <a:t>; los del paradero estuvieron 5 días pero solo eran 2 </a:t>
            </a:r>
            <a:r>
              <a:rPr lang="es-CL" sz="1200" b="0" i="0" u="none" strike="noStrike" kern="1200" dirty="0" err="1">
                <a:solidFill>
                  <a:schemeClr val="tx1"/>
                </a:solidFill>
                <a:effectLst/>
                <a:latin typeface="+mn-lt"/>
                <a:ea typeface="+mn-ea"/>
                <a:cs typeface="+mn-cs"/>
              </a:rPr>
              <a:t>QRs</a:t>
            </a:r>
            <a:r>
              <a:rPr lang="es-CL" sz="1200" b="0" i="0" u="none" strike="noStrike" kern="1200" dirty="0">
                <a:solidFill>
                  <a:schemeClr val="tx1"/>
                </a:solidFill>
                <a:effectLst/>
                <a:latin typeface="+mn-lt"/>
                <a:ea typeface="+mn-ea"/>
                <a:cs typeface="+mn-cs"/>
              </a:rPr>
              <a:t>. Para estudios futuros se recomienda un plan de acción que garantice uniformidad, permisos previos y reemplazos rápidos.</a:t>
            </a:r>
            <a:endParaRPr lang="es-CL" b="0" dirty="0">
              <a:effectLst/>
            </a:endParaRPr>
          </a:p>
          <a:p>
            <a:pPr rtl="0"/>
            <a:r>
              <a:rPr lang="es-CL" sz="1200" b="0" i="0" u="none" strike="noStrike" kern="1200" dirty="0">
                <a:solidFill>
                  <a:schemeClr val="tx1"/>
                </a:solidFill>
                <a:effectLst/>
                <a:latin typeface="+mn-lt"/>
                <a:ea typeface="+mn-ea"/>
                <a:cs typeface="+mn-cs"/>
              </a:rPr>
              <a:t>Tercero, el escenario universitario fue el más efectivo. A pesar de estar solo 2 días ( ya que terceros quitaron los </a:t>
            </a:r>
            <a:r>
              <a:rPr lang="es-CL" sz="1200" b="0" i="0" u="none" strike="noStrike" kern="1200" dirty="0" err="1">
                <a:solidFill>
                  <a:schemeClr val="tx1"/>
                </a:solidFill>
                <a:effectLst/>
                <a:latin typeface="+mn-lt"/>
                <a:ea typeface="+mn-ea"/>
                <a:cs typeface="+mn-cs"/>
              </a:rPr>
              <a:t>qr</a:t>
            </a:r>
            <a:r>
              <a:rPr lang="es-CL" sz="1200" b="0" i="0" u="none" strike="noStrike" kern="1200" dirty="0">
                <a:solidFill>
                  <a:schemeClr val="tx1"/>
                </a:solidFill>
                <a:effectLst/>
                <a:latin typeface="+mn-lt"/>
                <a:ea typeface="+mn-ea"/>
                <a:cs typeface="+mn-cs"/>
              </a:rPr>
              <a:t>) capturó el 65,5% de las visitas. para hacer mejor el estudio sería bueno pedir los permisos con muchísimo tiempo de antelación (aun no nos responden los correos). para así evitar este tipo de errores</a:t>
            </a:r>
            <a:endParaRPr lang="es-CL" b="0" dirty="0">
              <a:effectLst/>
            </a:endParaRPr>
          </a:p>
          <a:p>
            <a:br>
              <a:rPr lang="es-CL" dirty="0"/>
            </a:b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19</a:t>
            </a:fld>
            <a:endParaRPr lang="es-CL"/>
          </a:p>
        </p:txBody>
      </p:sp>
    </p:spTree>
    <p:extLst>
      <p:ext uri="{BB962C8B-B14F-4D97-AF65-F5344CB8AC3E}">
        <p14:creationId xmlns:p14="http://schemas.microsoft.com/office/powerpoint/2010/main" val="1644816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rtl="0"/>
            <a:r>
              <a:rPr lang="es-CL" sz="1200" b="0" i="0" u="none" strike="noStrike" kern="1200" dirty="0">
                <a:solidFill>
                  <a:schemeClr val="tx1"/>
                </a:solidFill>
                <a:effectLst/>
                <a:latin typeface="+mn-lt"/>
                <a:ea typeface="+mn-ea"/>
                <a:cs typeface="+mn-cs"/>
              </a:rPr>
              <a:t>Las tres conclusiones principales del estudio son: primero, los contextos de la universidad y del edificio triunfaron a pesar de estar poco tiempo por que las personas tienden a escanear </a:t>
            </a:r>
            <a:r>
              <a:rPr lang="es-CL" sz="1200" b="0" i="0" u="none" strike="noStrike" kern="1200" dirty="0" err="1">
                <a:solidFill>
                  <a:schemeClr val="tx1"/>
                </a:solidFill>
                <a:effectLst/>
                <a:latin typeface="+mn-lt"/>
                <a:ea typeface="+mn-ea"/>
                <a:cs typeface="+mn-cs"/>
              </a:rPr>
              <a:t>QRs</a:t>
            </a:r>
            <a:r>
              <a:rPr lang="es-CL" sz="1200" b="0" i="0" u="none" strike="noStrike" kern="1200" dirty="0">
                <a:solidFill>
                  <a:schemeClr val="tx1"/>
                </a:solidFill>
                <a:effectLst/>
                <a:latin typeface="+mn-lt"/>
                <a:ea typeface="+mn-ea"/>
                <a:cs typeface="+mn-cs"/>
              </a:rPr>
              <a:t> en ambientes más familiares y cerrados. La confianza en el entorno es el principal factor de vulnerabilidad.</a:t>
            </a:r>
            <a:endParaRPr lang="es-CL" b="0" dirty="0">
              <a:effectLst/>
            </a:endParaRPr>
          </a:p>
          <a:p>
            <a:pPr rtl="0"/>
            <a:r>
              <a:rPr lang="es-CL" sz="1200" b="0" i="0" u="none" strike="noStrike" kern="1200" dirty="0">
                <a:solidFill>
                  <a:schemeClr val="tx1"/>
                </a:solidFill>
                <a:effectLst/>
                <a:latin typeface="+mn-lt"/>
                <a:ea typeface="+mn-ea"/>
                <a:cs typeface="+mn-cs"/>
              </a:rPr>
              <a:t>Segundo, al menos el 55% de quienes escanearon los </a:t>
            </a:r>
            <a:r>
              <a:rPr lang="es-CL" sz="1200" b="0" i="0" u="none" strike="noStrike" kern="1200" dirty="0" err="1">
                <a:solidFill>
                  <a:schemeClr val="tx1"/>
                </a:solidFill>
                <a:effectLst/>
                <a:latin typeface="+mn-lt"/>
                <a:ea typeface="+mn-ea"/>
                <a:cs typeface="+mn-cs"/>
              </a:rPr>
              <a:t>QRs</a:t>
            </a:r>
            <a:r>
              <a:rPr lang="es-CL" sz="1200" b="0" i="0" u="none" strike="noStrike" kern="1200" dirty="0">
                <a:solidFill>
                  <a:schemeClr val="tx1"/>
                </a:solidFill>
                <a:effectLst/>
                <a:latin typeface="+mn-lt"/>
                <a:ea typeface="+mn-ea"/>
                <a:cs typeface="+mn-cs"/>
              </a:rPr>
              <a:t> no identificó el phishing y cayo en el engaño de una interfaz conocida entregando sus datos personales. Eso es más de la mitad. por lo que esperamos que con la lección de seguridad brindada tengan más cuidado y tomen las precauciones mencionadas allí (como verificar la URL).</a:t>
            </a:r>
            <a:endParaRPr lang="es-CL" b="0" dirty="0">
              <a:effectLst/>
            </a:endParaRPr>
          </a:p>
          <a:p>
            <a:pPr rtl="0"/>
            <a:r>
              <a:rPr lang="es-CL" sz="1200" b="0" i="0" u="none" strike="noStrike" kern="1200" dirty="0">
                <a:solidFill>
                  <a:schemeClr val="tx1"/>
                </a:solidFill>
                <a:effectLst/>
                <a:latin typeface="+mn-lt"/>
                <a:ea typeface="+mn-ea"/>
                <a:cs typeface="+mn-cs"/>
              </a:rPr>
              <a:t>Tercero, aprendimos que el </a:t>
            </a:r>
            <a:r>
              <a:rPr lang="es-CL" sz="1200" b="0" i="0" u="none" strike="noStrike" kern="1200" dirty="0" err="1">
                <a:solidFill>
                  <a:schemeClr val="tx1"/>
                </a:solidFill>
                <a:effectLst/>
                <a:latin typeface="+mn-lt"/>
                <a:ea typeface="+mn-ea"/>
                <a:cs typeface="+mn-cs"/>
              </a:rPr>
              <a:t>Quishing</a:t>
            </a:r>
            <a:r>
              <a:rPr lang="es-CL" sz="1200" b="0" i="0" u="none" strike="noStrike" kern="1200" dirty="0">
                <a:solidFill>
                  <a:schemeClr val="tx1"/>
                </a:solidFill>
                <a:effectLst/>
                <a:latin typeface="+mn-lt"/>
                <a:ea typeface="+mn-ea"/>
                <a:cs typeface="+mn-cs"/>
              </a:rPr>
              <a:t> es un método muy efectivo de ataque. Tiene zona de ataque amplia, múltiples objetivos posibles, costo casi nulo de despliegue y una gran variedad de pretextos. para mitigar esto lo primordial es la </a:t>
            </a:r>
            <a:r>
              <a:rPr lang="es-CL" sz="1200" b="0" i="0" u="none" strike="noStrike" kern="1200" dirty="0" err="1">
                <a:solidFill>
                  <a:schemeClr val="tx1"/>
                </a:solidFill>
                <a:effectLst/>
                <a:latin typeface="+mn-lt"/>
                <a:ea typeface="+mn-ea"/>
                <a:cs typeface="+mn-cs"/>
              </a:rPr>
              <a:t>educacion</a:t>
            </a:r>
            <a:r>
              <a:rPr lang="es-CL" sz="1200" b="0" i="0" u="none" strike="noStrike" kern="1200" dirty="0">
                <a:solidFill>
                  <a:schemeClr val="tx1"/>
                </a:solidFill>
                <a:effectLst/>
                <a:latin typeface="+mn-lt"/>
                <a:ea typeface="+mn-ea"/>
                <a:cs typeface="+mn-cs"/>
              </a:rPr>
              <a:t> del usuario, ya que como siempre sabemos el usuario es el </a:t>
            </a:r>
            <a:r>
              <a:rPr lang="es-CL" sz="1200" b="0" i="0" u="none" strike="noStrike" kern="1200" dirty="0" err="1">
                <a:solidFill>
                  <a:schemeClr val="tx1"/>
                </a:solidFill>
                <a:effectLst/>
                <a:latin typeface="+mn-lt"/>
                <a:ea typeface="+mn-ea"/>
                <a:cs typeface="+mn-cs"/>
              </a:rPr>
              <a:t>eslabon</a:t>
            </a:r>
            <a:r>
              <a:rPr lang="es-CL" sz="1200" b="0" i="0" u="none" strike="noStrike" kern="1200" dirty="0">
                <a:solidFill>
                  <a:schemeClr val="tx1"/>
                </a:solidFill>
                <a:effectLst/>
                <a:latin typeface="+mn-lt"/>
                <a:ea typeface="+mn-ea"/>
                <a:cs typeface="+mn-cs"/>
              </a:rPr>
              <a:t> más </a:t>
            </a:r>
            <a:r>
              <a:rPr lang="es-CL" sz="1200" b="0" i="0" u="none" strike="noStrike" kern="1200" dirty="0" err="1">
                <a:solidFill>
                  <a:schemeClr val="tx1"/>
                </a:solidFill>
                <a:effectLst/>
                <a:latin typeface="+mn-lt"/>
                <a:ea typeface="+mn-ea"/>
                <a:cs typeface="+mn-cs"/>
              </a:rPr>
              <a:t>debil</a:t>
            </a:r>
            <a:r>
              <a:rPr lang="es-CL" sz="1200" b="0" i="0" u="none" strike="noStrike" kern="1200" dirty="0">
                <a:solidFill>
                  <a:schemeClr val="tx1"/>
                </a:solidFill>
                <a:effectLst/>
                <a:latin typeface="+mn-lt"/>
                <a:ea typeface="+mn-ea"/>
                <a:cs typeface="+mn-cs"/>
              </a:rPr>
              <a:t>, hay que enseñarle a las personas a siempre verificar </a:t>
            </a:r>
            <a:r>
              <a:rPr lang="es-CL" sz="1200" b="0" i="0" u="none" strike="noStrike" kern="1200" dirty="0" err="1">
                <a:solidFill>
                  <a:schemeClr val="tx1"/>
                </a:solidFill>
                <a:effectLst/>
                <a:latin typeface="+mn-lt"/>
                <a:ea typeface="+mn-ea"/>
                <a:cs typeface="+mn-cs"/>
              </a:rPr>
              <a:t>urls</a:t>
            </a:r>
            <a:r>
              <a:rPr lang="es-CL" sz="1200" b="0" i="0" u="none" strike="noStrike" kern="1200" dirty="0">
                <a:solidFill>
                  <a:schemeClr val="tx1"/>
                </a:solidFill>
                <a:effectLst/>
                <a:latin typeface="+mn-lt"/>
                <a:ea typeface="+mn-ea"/>
                <a:cs typeface="+mn-cs"/>
              </a:rPr>
              <a:t>, no por que una pagina se vea bien o conocida es de origen fidedigno, en resumen NO ENTREGUEN SU INFORMACIÓN PERSONAL POR QUE SÍ</a:t>
            </a:r>
            <a:endParaRPr lang="es-CL" b="0" dirty="0">
              <a:effectLst/>
            </a:endParaRPr>
          </a:p>
          <a:p>
            <a:br>
              <a:rPr lang="es-CL" dirty="0"/>
            </a:b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20</a:t>
            </a:fld>
            <a:endParaRPr lang="es-CL"/>
          </a:p>
        </p:txBody>
      </p:sp>
    </p:spTree>
    <p:extLst>
      <p:ext uri="{BB962C8B-B14F-4D97-AF65-F5344CB8AC3E}">
        <p14:creationId xmlns:p14="http://schemas.microsoft.com/office/powerpoint/2010/main" val="36004775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sz="1200" b="0" i="0" u="none" strike="noStrike" kern="1200" dirty="0">
                <a:solidFill>
                  <a:schemeClr val="tx1"/>
                </a:solidFill>
                <a:effectLst/>
                <a:latin typeface="+mn-lt"/>
                <a:ea typeface="+mn-ea"/>
                <a:cs typeface="+mn-cs"/>
              </a:rPr>
              <a:t>nuestra bibliografía</a:t>
            </a: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21</a:t>
            </a:fld>
            <a:endParaRPr lang="es-CL"/>
          </a:p>
        </p:txBody>
      </p:sp>
    </p:spTree>
    <p:extLst>
      <p:ext uri="{BB962C8B-B14F-4D97-AF65-F5344CB8AC3E}">
        <p14:creationId xmlns:p14="http://schemas.microsoft.com/office/powerpoint/2010/main" val="26667671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sz="1200" b="0" i="0" u="none" strike="noStrike" kern="1200" dirty="0">
                <a:solidFill>
                  <a:schemeClr val="tx1"/>
                </a:solidFill>
                <a:effectLst/>
                <a:latin typeface="+mn-lt"/>
                <a:ea typeface="+mn-ea"/>
                <a:cs typeface="+mn-cs"/>
              </a:rPr>
              <a:t>muchas gracias</a:t>
            </a:r>
            <a:endParaRPr lang="es-CL" dirty="0"/>
          </a:p>
        </p:txBody>
      </p:sp>
      <p:sp>
        <p:nvSpPr>
          <p:cNvPr id="4" name="Marcador de número de diapositiva 3"/>
          <p:cNvSpPr>
            <a:spLocks noGrp="1"/>
          </p:cNvSpPr>
          <p:nvPr>
            <p:ph type="sldNum" sz="quarter" idx="5"/>
          </p:nvPr>
        </p:nvSpPr>
        <p:spPr/>
        <p:txBody>
          <a:bodyPr/>
          <a:lstStyle/>
          <a:p>
            <a:fld id="{3E3618B7-BABA-4E91-AFF2-2C34AB62C202}" type="slidenum">
              <a:rPr lang="es-CL" smtClean="0"/>
              <a:t>22</a:t>
            </a:fld>
            <a:endParaRPr lang="es-CL"/>
          </a:p>
        </p:txBody>
      </p:sp>
    </p:spTree>
    <p:extLst>
      <p:ext uri="{BB962C8B-B14F-4D97-AF65-F5344CB8AC3E}">
        <p14:creationId xmlns:p14="http://schemas.microsoft.com/office/powerpoint/2010/main" val="2858892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6A3D79FB-B0F2-402B-9B97-FA42AFCA265B}" type="datetimeFigureOut">
              <a:rPr lang="es-CL" smtClean="0"/>
              <a:t>22-06-2026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C011EC35-6125-4CA5-9613-B36687591B04}" type="slidenum">
              <a:rPr lang="es-CL" smtClean="0"/>
              <a:t>‹Nº›</a:t>
            </a:fld>
            <a:endParaRPr lang="es-CL"/>
          </a:p>
        </p:txBody>
      </p:sp>
    </p:spTree>
    <p:extLst>
      <p:ext uri="{BB962C8B-B14F-4D97-AF65-F5344CB8AC3E}">
        <p14:creationId xmlns:p14="http://schemas.microsoft.com/office/powerpoint/2010/main" val="1995863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6A3D79FB-B0F2-402B-9B97-FA42AFCA265B}" type="datetimeFigureOut">
              <a:rPr lang="es-CL" smtClean="0"/>
              <a:t>22-06-2026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C011EC35-6125-4CA5-9613-B36687591B04}" type="slidenum">
              <a:rPr lang="es-CL" smtClean="0"/>
              <a:t>‹Nº›</a:t>
            </a:fld>
            <a:endParaRPr lang="es-CL"/>
          </a:p>
        </p:txBody>
      </p:sp>
    </p:spTree>
    <p:extLst>
      <p:ext uri="{BB962C8B-B14F-4D97-AF65-F5344CB8AC3E}">
        <p14:creationId xmlns:p14="http://schemas.microsoft.com/office/powerpoint/2010/main" val="452314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6A3D79FB-B0F2-402B-9B97-FA42AFCA265B}" type="datetimeFigureOut">
              <a:rPr lang="es-CL" smtClean="0"/>
              <a:t>22-06-2026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C011EC35-6125-4CA5-9613-B36687591B04}" type="slidenum">
              <a:rPr lang="es-CL" smtClean="0"/>
              <a:t>‹Nº›</a:t>
            </a:fld>
            <a:endParaRPr lang="es-CL"/>
          </a:p>
        </p:txBody>
      </p:sp>
    </p:spTree>
    <p:extLst>
      <p:ext uri="{BB962C8B-B14F-4D97-AF65-F5344CB8AC3E}">
        <p14:creationId xmlns:p14="http://schemas.microsoft.com/office/powerpoint/2010/main" val="824728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6A3D79FB-B0F2-402B-9B97-FA42AFCA265B}" type="datetimeFigureOut">
              <a:rPr lang="es-CL" smtClean="0"/>
              <a:t>22-06-2026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C011EC35-6125-4CA5-9613-B36687591B04}" type="slidenum">
              <a:rPr lang="es-CL" smtClean="0"/>
              <a:t>‹Nº›</a:t>
            </a:fld>
            <a:endParaRPr lang="es-CL"/>
          </a:p>
        </p:txBody>
      </p:sp>
    </p:spTree>
    <p:extLst>
      <p:ext uri="{BB962C8B-B14F-4D97-AF65-F5344CB8AC3E}">
        <p14:creationId xmlns:p14="http://schemas.microsoft.com/office/powerpoint/2010/main" val="317179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6A3D79FB-B0F2-402B-9B97-FA42AFCA265B}" type="datetimeFigureOut">
              <a:rPr lang="es-CL" smtClean="0"/>
              <a:t>22-06-2026</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C011EC35-6125-4CA5-9613-B36687591B04}" type="slidenum">
              <a:rPr lang="es-CL" smtClean="0"/>
              <a:t>‹Nº›</a:t>
            </a:fld>
            <a:endParaRPr lang="es-CL"/>
          </a:p>
        </p:txBody>
      </p:sp>
    </p:spTree>
    <p:extLst>
      <p:ext uri="{BB962C8B-B14F-4D97-AF65-F5344CB8AC3E}">
        <p14:creationId xmlns:p14="http://schemas.microsoft.com/office/powerpoint/2010/main" val="2872754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6A3D79FB-B0F2-402B-9B97-FA42AFCA265B}" type="datetimeFigureOut">
              <a:rPr lang="es-CL" smtClean="0"/>
              <a:t>22-06-2026</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C011EC35-6125-4CA5-9613-B36687591B04}" type="slidenum">
              <a:rPr lang="es-CL" smtClean="0"/>
              <a:t>‹Nº›</a:t>
            </a:fld>
            <a:endParaRPr lang="es-CL"/>
          </a:p>
        </p:txBody>
      </p:sp>
    </p:spTree>
    <p:extLst>
      <p:ext uri="{BB962C8B-B14F-4D97-AF65-F5344CB8AC3E}">
        <p14:creationId xmlns:p14="http://schemas.microsoft.com/office/powerpoint/2010/main" val="2297855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3D79FB-B0F2-402B-9B97-FA42AFCA265B}" type="datetimeFigureOut">
              <a:rPr lang="es-CL" smtClean="0"/>
              <a:t>22-06-2026</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C011EC35-6125-4CA5-9613-B36687591B04}" type="slidenum">
              <a:rPr lang="es-CL" smtClean="0"/>
              <a:t>‹Nº›</a:t>
            </a:fld>
            <a:endParaRPr lang="es-CL"/>
          </a:p>
        </p:txBody>
      </p:sp>
    </p:spTree>
    <p:extLst>
      <p:ext uri="{BB962C8B-B14F-4D97-AF65-F5344CB8AC3E}">
        <p14:creationId xmlns:p14="http://schemas.microsoft.com/office/powerpoint/2010/main" val="3605815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6A3D79FB-B0F2-402B-9B97-FA42AFCA265B}" type="datetimeFigureOut">
              <a:rPr lang="es-CL" smtClean="0"/>
              <a:t>22-06-2026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C011EC35-6125-4CA5-9613-B36687591B04}" type="slidenum">
              <a:rPr lang="es-CL" smtClean="0"/>
              <a:t>‹Nº›</a:t>
            </a:fld>
            <a:endParaRPr lang="es-CL"/>
          </a:p>
        </p:txBody>
      </p:sp>
    </p:spTree>
    <p:extLst>
      <p:ext uri="{BB962C8B-B14F-4D97-AF65-F5344CB8AC3E}">
        <p14:creationId xmlns:p14="http://schemas.microsoft.com/office/powerpoint/2010/main" val="750154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6A3D79FB-B0F2-402B-9B97-FA42AFCA265B}" type="datetimeFigureOut">
              <a:rPr lang="es-CL" smtClean="0"/>
              <a:t>22-06-2026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C011EC35-6125-4CA5-9613-B36687591B04}" type="slidenum">
              <a:rPr lang="es-CL" smtClean="0"/>
              <a:t>‹Nº›</a:t>
            </a:fld>
            <a:endParaRPr lang="es-CL"/>
          </a:p>
        </p:txBody>
      </p:sp>
    </p:spTree>
    <p:extLst>
      <p:ext uri="{BB962C8B-B14F-4D97-AF65-F5344CB8AC3E}">
        <p14:creationId xmlns:p14="http://schemas.microsoft.com/office/powerpoint/2010/main" val="3798560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6A3D79FB-B0F2-402B-9B97-FA42AFCA265B}" type="datetimeFigureOut">
              <a:rPr lang="es-CL" smtClean="0"/>
              <a:t>22-06-2026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C011EC35-6125-4CA5-9613-B36687591B04}" type="slidenum">
              <a:rPr lang="es-CL" smtClean="0"/>
              <a:t>‹Nº›</a:t>
            </a:fld>
            <a:endParaRPr lang="es-CL"/>
          </a:p>
        </p:txBody>
      </p:sp>
    </p:spTree>
    <p:extLst>
      <p:ext uri="{BB962C8B-B14F-4D97-AF65-F5344CB8AC3E}">
        <p14:creationId xmlns:p14="http://schemas.microsoft.com/office/powerpoint/2010/main" val="217403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6A3D79FB-B0F2-402B-9B97-FA42AFCA265B}" type="datetimeFigureOut">
              <a:rPr lang="es-CL" smtClean="0"/>
              <a:t>22-06-2026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C011EC35-6125-4CA5-9613-B36687591B04}" type="slidenum">
              <a:rPr lang="es-CL" smtClean="0"/>
              <a:t>‹Nº›</a:t>
            </a:fld>
            <a:endParaRPr lang="es-CL"/>
          </a:p>
        </p:txBody>
      </p:sp>
    </p:spTree>
    <p:extLst>
      <p:ext uri="{BB962C8B-B14F-4D97-AF65-F5344CB8AC3E}">
        <p14:creationId xmlns:p14="http://schemas.microsoft.com/office/powerpoint/2010/main" val="1289153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3D79FB-B0F2-402B-9B97-FA42AFCA265B}" type="datetimeFigureOut">
              <a:rPr lang="es-CL" smtClean="0"/>
              <a:t>22-06-2026</a:t>
            </a:fld>
            <a:endParaRPr lang="es-CL"/>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11EC35-6125-4CA5-9613-B36687591B04}" type="slidenum">
              <a:rPr lang="es-CL" smtClean="0"/>
              <a:t>‹Nº›</a:t>
            </a:fld>
            <a:endParaRPr lang="es-CL"/>
          </a:p>
        </p:txBody>
      </p:sp>
    </p:spTree>
    <p:extLst>
      <p:ext uri="{BB962C8B-B14F-4D97-AF65-F5344CB8AC3E}">
        <p14:creationId xmlns:p14="http://schemas.microsoft.com/office/powerpoint/2010/main" val="816283681"/>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2.wdp"/><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2.wdp"/><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4.jpg"/><Relationship Id="rId7"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microsoft.com/office/2007/relationships/hdphoto" Target="../media/hdphoto2.wdp"/><Relationship Id="rId10" Type="http://schemas.openxmlformats.org/officeDocument/2006/relationships/image" Target="../media/image12.jpeg"/><Relationship Id="rId4" Type="http://schemas.openxmlformats.org/officeDocument/2006/relationships/image" Target="../media/image7.png"/><Relationship Id="rId9"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2.wdp"/><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4.jpg"/><Relationship Id="rId7" Type="http://schemas.openxmlformats.org/officeDocument/2006/relationships/image" Target="../media/image14.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2.wdp"/><Relationship Id="rId10" Type="http://schemas.openxmlformats.org/officeDocument/2006/relationships/image" Target="../media/image17.svg"/><Relationship Id="rId4" Type="http://schemas.openxmlformats.org/officeDocument/2006/relationships/image" Target="../media/image7.png"/><Relationship Id="rId9" Type="http://schemas.openxmlformats.org/officeDocument/2006/relationships/image" Target="../media/image16.sv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4.jp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2.wdp"/><Relationship Id="rId10" Type="http://schemas.openxmlformats.org/officeDocument/2006/relationships/image" Target="../media/image21.png"/><Relationship Id="rId4" Type="http://schemas.openxmlformats.org/officeDocument/2006/relationships/image" Target="../media/image7.png"/><Relationship Id="rId9"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2.wdp"/><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2.wdp"/><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2.wdp"/><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4.jpg"/><Relationship Id="rId7"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2.wdp"/><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2.wdp"/><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8.png"/><Relationship Id="rId4" Type="http://schemas.microsoft.com/office/2007/relationships/hdphoto" Target="../media/hdphoto2.wdp"/></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5.sv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4.svg"/><Relationship Id="rId5" Type="http://schemas.openxmlformats.org/officeDocument/2006/relationships/image" Target="../media/image8.png"/><Relationship Id="rId4" Type="http://schemas.microsoft.com/office/2007/relationships/hdphoto" Target="../media/hdphoto2.wdp"/></Relationships>
</file>

<file path=ppt/slides/_rels/slide19.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7.png"/><Relationship Id="rId7" Type="http://schemas.openxmlformats.org/officeDocument/2006/relationships/image" Target="../media/image27.sv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6.svg"/><Relationship Id="rId5" Type="http://schemas.openxmlformats.org/officeDocument/2006/relationships/image" Target="../media/image8.png"/><Relationship Id="rId4" Type="http://schemas.microsoft.com/office/2007/relationships/hdphoto" Target="../media/hdphoto2.wdp"/></Relationships>
</file>

<file path=ppt/slides/_rels/slide20.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7.png"/><Relationship Id="rId7" Type="http://schemas.openxmlformats.org/officeDocument/2006/relationships/image" Target="../media/image29.sv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4.svg"/><Relationship Id="rId5" Type="http://schemas.openxmlformats.org/officeDocument/2006/relationships/image" Target="../media/image8.png"/><Relationship Id="rId4" Type="http://schemas.microsoft.com/office/2007/relationships/hdphoto" Target="../media/hdphoto2.wdp"/><Relationship Id="rId9" Type="http://schemas.openxmlformats.org/officeDocument/2006/relationships/image" Target="../media/image31.svg"/></Relationships>
</file>

<file path=ppt/slides/_rels/slide2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jpg"/><Relationship Id="rId7" Type="http://schemas.openxmlformats.org/officeDocument/2006/relationships/diagramColors" Target="../diagrams/colors1.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n 13" descr="What is Quishing? - OPSWAT">
            <a:extLst>
              <a:ext uri="{FF2B5EF4-FFF2-40B4-BE49-F238E27FC236}">
                <a16:creationId xmlns:a16="http://schemas.microsoft.com/office/drawing/2014/main" id="{01213EF2-4AE8-9A74-8BF0-396C34C3A9FB}"/>
              </a:ext>
            </a:extLst>
          </p:cNvPr>
          <p:cNvPicPr>
            <a:picLocks noChangeAspect="1"/>
          </p:cNvPicPr>
          <p:nvPr/>
        </p:nvPicPr>
        <p:blipFill>
          <a:blip r:embed="rId3"/>
          <a:srcRect l="25405" r="23616"/>
          <a:stretch>
            <a:fillRect/>
          </a:stretch>
        </p:blipFill>
        <p:spPr>
          <a:xfrm flipH="1">
            <a:off x="5493802" y="-12700"/>
            <a:ext cx="6738460" cy="6912000"/>
          </a:xfrm>
          <a:prstGeom prst="flowChartDelay">
            <a:avLst/>
          </a:prstGeom>
        </p:spPr>
      </p:pic>
      <p:sp>
        <p:nvSpPr>
          <p:cNvPr id="2" name="Título 1">
            <a:extLst>
              <a:ext uri="{FF2B5EF4-FFF2-40B4-BE49-F238E27FC236}">
                <a16:creationId xmlns:a16="http://schemas.microsoft.com/office/drawing/2014/main" id="{52143DB0-0328-124B-AFB0-BD1F7C53CD91}"/>
              </a:ext>
            </a:extLst>
          </p:cNvPr>
          <p:cNvSpPr>
            <a:spLocks noGrp="1"/>
          </p:cNvSpPr>
          <p:nvPr>
            <p:ph type="ctrTitle"/>
          </p:nvPr>
        </p:nvSpPr>
        <p:spPr>
          <a:xfrm>
            <a:off x="165100" y="1797255"/>
            <a:ext cx="5493802" cy="1372718"/>
          </a:xfrm>
        </p:spPr>
        <p:txBody>
          <a:bodyPr>
            <a:noAutofit/>
          </a:bodyPr>
          <a:lstStyle/>
          <a:p>
            <a:r>
              <a:rPr lang="es-CL" sz="4000" noProof="0" dirty="0">
                <a:solidFill>
                  <a:srgbClr val="2E0C27"/>
                </a:solidFill>
                <a:latin typeface="Eras Bold ITC" panose="020B0907030504020204" pitchFamily="34" charset="0"/>
              </a:rPr>
              <a:t>Entrega final de Proyecto</a:t>
            </a:r>
          </a:p>
        </p:txBody>
      </p:sp>
      <p:sp>
        <p:nvSpPr>
          <p:cNvPr id="3" name="Subtítulo 2">
            <a:extLst>
              <a:ext uri="{FF2B5EF4-FFF2-40B4-BE49-F238E27FC236}">
                <a16:creationId xmlns:a16="http://schemas.microsoft.com/office/drawing/2014/main" id="{E31AA482-7A58-BDFA-981B-EFD3417A29C9}"/>
              </a:ext>
            </a:extLst>
          </p:cNvPr>
          <p:cNvSpPr>
            <a:spLocks noGrp="1"/>
          </p:cNvSpPr>
          <p:nvPr>
            <p:ph type="subTitle" idx="1"/>
          </p:nvPr>
        </p:nvSpPr>
        <p:spPr>
          <a:xfrm>
            <a:off x="79901" y="3264062"/>
            <a:ext cx="5334000" cy="1459436"/>
          </a:xfrm>
        </p:spPr>
        <p:txBody>
          <a:bodyPr>
            <a:normAutofit/>
          </a:bodyPr>
          <a:lstStyle/>
          <a:p>
            <a:r>
              <a:rPr lang="es-CL" sz="2800" noProof="0" dirty="0">
                <a:solidFill>
                  <a:srgbClr val="0B1C3A"/>
                </a:solidFill>
                <a:latin typeface="Eras Medium ITC" panose="020B0602030504020804" pitchFamily="34" charset="0"/>
              </a:rPr>
              <a:t>Análisis comparativo de Phishing mediante </a:t>
            </a:r>
            <a:r>
              <a:rPr lang="es-CL" sz="2800" noProof="0" dirty="0" err="1">
                <a:solidFill>
                  <a:srgbClr val="0B1C3A"/>
                </a:solidFill>
                <a:latin typeface="Eras Medium ITC" panose="020B0602030504020804" pitchFamily="34" charset="0"/>
              </a:rPr>
              <a:t>QRs</a:t>
            </a:r>
            <a:r>
              <a:rPr lang="es-CL" sz="2800" noProof="0" dirty="0">
                <a:solidFill>
                  <a:srgbClr val="0B1C3A"/>
                </a:solidFill>
                <a:latin typeface="Eras Medium ITC" panose="020B0602030504020804" pitchFamily="34" charset="0"/>
              </a:rPr>
              <a:t> en distintos medios de distribución.</a:t>
            </a:r>
          </a:p>
          <a:p>
            <a:endParaRPr lang="es-CL" sz="2800" noProof="0" dirty="0">
              <a:solidFill>
                <a:srgbClr val="0B1C3A"/>
              </a:solidFill>
              <a:latin typeface="Eras Light ITC" panose="020B0402030504020804" pitchFamily="34" charset="0"/>
            </a:endParaRPr>
          </a:p>
        </p:txBody>
      </p:sp>
      <p:sp>
        <p:nvSpPr>
          <p:cNvPr id="5" name="CuadroTexto 4">
            <a:extLst>
              <a:ext uri="{FF2B5EF4-FFF2-40B4-BE49-F238E27FC236}">
                <a16:creationId xmlns:a16="http://schemas.microsoft.com/office/drawing/2014/main" id="{C905AC6E-79B2-ADD6-0794-0528B22FCFC1}"/>
              </a:ext>
            </a:extLst>
          </p:cNvPr>
          <p:cNvSpPr txBox="1"/>
          <p:nvPr/>
        </p:nvSpPr>
        <p:spPr>
          <a:xfrm>
            <a:off x="1157003" y="4623996"/>
            <a:ext cx="3509996" cy="644920"/>
          </a:xfrm>
          <a:prstGeom prst="rect">
            <a:avLst/>
          </a:prstGeom>
          <a:noFill/>
        </p:spPr>
        <p:txBody>
          <a:bodyPr wrap="square">
            <a:spAutoFit/>
          </a:bodyPr>
          <a:lstStyle/>
          <a:p>
            <a:pPr algn="ctr">
              <a:lnSpc>
                <a:spcPct val="116000"/>
              </a:lnSpc>
              <a:spcAft>
                <a:spcPts val="800"/>
              </a:spcAft>
              <a:buNone/>
            </a:pPr>
            <a:r>
              <a:rPr lang="es-CL" sz="1600" i="0" noProof="0" dirty="0">
                <a:solidFill>
                  <a:srgbClr val="1C324E"/>
                </a:solidFill>
                <a:effectLst/>
                <a:latin typeface="Consolas" panose="020B0609020204030204" pitchFamily="49" charset="0"/>
                <a:ea typeface="Times New Roman" panose="02020603050405020304" pitchFamily="18" charset="0"/>
                <a:cs typeface="Arial" panose="020B0604020202020204" pitchFamily="34" charset="0"/>
              </a:rPr>
              <a:t>Camila Antonia Marcus Ruiz y </a:t>
            </a:r>
            <a:r>
              <a:rPr lang="es-CL" sz="1600" noProof="0" dirty="0" err="1">
                <a:solidFill>
                  <a:srgbClr val="1C324E"/>
                </a:solidFill>
                <a:effectLst/>
                <a:latin typeface="Consolas" panose="020B0609020204030204" pitchFamily="49" charset="0"/>
                <a:ea typeface="Times New Roman" panose="02020603050405020304" pitchFamily="18" charset="0"/>
                <a:cs typeface="Arial" panose="020B0604020202020204" pitchFamily="34" charset="0"/>
              </a:rPr>
              <a:t>Daniella</a:t>
            </a:r>
            <a:r>
              <a:rPr lang="es-CL" sz="1600" noProof="0" dirty="0">
                <a:solidFill>
                  <a:srgbClr val="1C324E"/>
                </a:solidFill>
                <a:effectLst/>
                <a:latin typeface="Consolas" panose="020B0609020204030204" pitchFamily="49" charset="0"/>
                <a:ea typeface="Times New Roman" panose="02020603050405020304" pitchFamily="18" charset="0"/>
                <a:cs typeface="Arial" panose="020B0604020202020204" pitchFamily="34" charset="0"/>
              </a:rPr>
              <a:t> Andrea Jofré Toro</a:t>
            </a:r>
            <a:endParaRPr lang="es-CL" sz="1400" noProof="0" dirty="0">
              <a:solidFill>
                <a:srgbClr val="1C324E"/>
              </a:solidFill>
              <a:effectLst/>
              <a:latin typeface="Consolas" panose="020B0609020204030204" pitchFamily="49" charset="0"/>
              <a:ea typeface="Calibri" panose="020F0502020204030204" pitchFamily="34" charset="0"/>
              <a:cs typeface="Arial" panose="020B0604020202020204" pitchFamily="34" charset="0"/>
            </a:endParaRPr>
          </a:p>
        </p:txBody>
      </p:sp>
      <p:sp>
        <p:nvSpPr>
          <p:cNvPr id="6" name="Rectangle 3">
            <a:extLst>
              <a:ext uri="{FF2B5EF4-FFF2-40B4-BE49-F238E27FC236}">
                <a16:creationId xmlns:a16="http://schemas.microsoft.com/office/drawing/2014/main" id="{341E1659-B3FF-1313-28D9-D0853A6FB5A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noProof="0" dirty="0"/>
          </a:p>
        </p:txBody>
      </p:sp>
      <p:sp>
        <p:nvSpPr>
          <p:cNvPr id="7" name="Rectangle 4">
            <a:extLst>
              <a:ext uri="{FF2B5EF4-FFF2-40B4-BE49-F238E27FC236}">
                <a16:creationId xmlns:a16="http://schemas.microsoft.com/office/drawing/2014/main" id="{D4A9F1AC-C0DC-71BB-17E8-73E1F1053928}"/>
              </a:ext>
            </a:extLst>
          </p:cNvPr>
          <p:cNvSpPr>
            <a:spLocks noChangeArrowheads="1"/>
          </p:cNvSpPr>
          <p:nvPr/>
        </p:nvSpPr>
        <p:spPr bwMode="auto">
          <a:xfrm>
            <a:off x="995362" y="417513"/>
            <a:ext cx="3562350"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L" sz="1100" b="0" i="0" u="none" strike="noStrike" cap="none" normalizeH="0" baseline="0" noProof="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PONTIFICIA UNIVERSIDAD CAT</a:t>
            </a:r>
            <a:r>
              <a:rPr kumimoji="0" lang="es-CL" sz="1100" b="0" i="0" u="none" strike="noStrike" cap="none" normalizeH="0" baseline="0" noProof="0" dirty="0">
                <a:ln>
                  <a:noFill/>
                </a:ln>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t>Ó</a:t>
            </a:r>
            <a:r>
              <a:rPr kumimoji="0" lang="es-CL" sz="1100" b="0" i="0" u="none" strike="noStrike" cap="none" normalizeH="0" baseline="0" noProof="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LICA DE CHILE </a:t>
            </a:r>
            <a:r>
              <a:rPr kumimoji="0" lang="es-CL" sz="1100" b="0" i="0" u="none" strike="noStrike" cap="none" normalizeH="0" baseline="0" noProof="0" dirty="0">
                <a:ln>
                  <a:noFill/>
                </a:ln>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t> </a:t>
            </a:r>
            <a:r>
              <a:rPr kumimoji="0" lang="es-CL" sz="1100" b="0" i="0" u="none" strike="noStrike" cap="none" normalizeH="0" baseline="0" noProof="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kumimoji="0" lang="es-CL" sz="1100" b="0" i="0" u="none" strike="noStrike" cap="none" normalizeH="0" baseline="0" noProof="0" dirty="0">
                <a:ln>
                  <a:noFill/>
                </a:ln>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t> </a:t>
            </a:r>
            <a:endParaRPr kumimoji="0" lang="es-CL" sz="800" b="0" i="0" u="none" strike="noStrike" cap="none" normalizeH="0" baseline="0" noProof="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sz="1100" b="0" i="0" u="none" strike="noStrike" cap="none" normalizeH="0" baseline="0" noProof="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ESCUELA DE INGENIER</a:t>
            </a:r>
            <a:r>
              <a:rPr kumimoji="0" lang="es-CL" sz="1100" b="0" i="0" u="none" strike="noStrike" cap="none" normalizeH="0" baseline="0" noProof="0" dirty="0">
                <a:ln>
                  <a:noFill/>
                </a:ln>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t>Í</a:t>
            </a:r>
            <a:r>
              <a:rPr kumimoji="0" lang="es-CL" sz="1100" b="0" i="0" u="none" strike="noStrike" cap="none" normalizeH="0" baseline="0" noProof="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a:t>
            </a:r>
            <a:endParaRPr kumimoji="0" lang="es-CL" sz="800" b="0" i="0" u="none" strike="noStrike" cap="none" normalizeH="0" baseline="0" noProof="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sz="1100" b="0" i="0" u="none" strike="noStrike" cap="none" normalizeH="0" baseline="0" noProof="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IIC2531 </a:t>
            </a:r>
            <a:r>
              <a:rPr kumimoji="0" lang="es-CL" sz="1100" b="0" i="0" u="none" strike="noStrike" cap="none" normalizeH="0" baseline="0" noProof="0" dirty="0">
                <a:ln>
                  <a:noFill/>
                </a:ln>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t>–</a:t>
            </a:r>
            <a:r>
              <a:rPr kumimoji="0" lang="es-CL" sz="1100" b="0" i="0" u="none" strike="noStrike" cap="none" normalizeH="0" baseline="0" noProof="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SEGURIDAD COMPUTACIONAL</a:t>
            </a:r>
            <a:endParaRPr kumimoji="0" lang="es-CL" sz="1800" b="0" i="0" u="none" strike="noStrike" cap="none" normalizeH="0" baseline="0" noProof="0" dirty="0">
              <a:ln>
                <a:noFill/>
              </a:ln>
              <a:solidFill>
                <a:schemeClr val="tx1"/>
              </a:solidFill>
              <a:effectLst/>
              <a:latin typeface="Arial" panose="020B0604020202020204" pitchFamily="34" charset="0"/>
            </a:endParaRPr>
          </a:p>
        </p:txBody>
      </p:sp>
      <p:pic>
        <p:nvPicPr>
          <p:cNvPr id="10" name="Imagen 9" descr="Inicio - Departamento de Ingeniería Industrial y de Sistemas">
            <a:extLst>
              <a:ext uri="{FF2B5EF4-FFF2-40B4-BE49-F238E27FC236}">
                <a16:creationId xmlns:a16="http://schemas.microsoft.com/office/drawing/2014/main" id="{F7C554F5-C248-F8D5-A8EB-8E7600AC409B}"/>
              </a:ext>
            </a:extLst>
          </p:cNvPr>
          <p:cNvPicPr>
            <a:picLocks noChangeAspect="1"/>
          </p:cNvPicPr>
          <p:nvPr/>
        </p:nvPicPr>
        <p:blipFill>
          <a:blip r:embed="rId4">
            <a:biLevel thresh="75000"/>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p:blipFill>
        <p:spPr>
          <a:xfrm>
            <a:off x="328559" y="261250"/>
            <a:ext cx="560925" cy="756427"/>
          </a:xfrm>
          <a:prstGeom prst="rect">
            <a:avLst/>
          </a:prstGeom>
        </p:spPr>
      </p:pic>
      <p:cxnSp>
        <p:nvCxnSpPr>
          <p:cNvPr id="16" name="Conector recto 15">
            <a:extLst>
              <a:ext uri="{FF2B5EF4-FFF2-40B4-BE49-F238E27FC236}">
                <a16:creationId xmlns:a16="http://schemas.microsoft.com/office/drawing/2014/main" id="{80C8E963-6301-CD29-0B8B-1CA19DB95250}"/>
              </a:ext>
            </a:extLst>
          </p:cNvPr>
          <p:cNvCxnSpPr/>
          <p:nvPr/>
        </p:nvCxnSpPr>
        <p:spPr>
          <a:xfrm>
            <a:off x="-80963" y="1549400"/>
            <a:ext cx="3632200" cy="0"/>
          </a:xfrm>
          <a:prstGeom prst="line">
            <a:avLst/>
          </a:prstGeom>
          <a:ln w="63500">
            <a:solidFill>
              <a:srgbClr val="2E0C27"/>
            </a:solidFill>
          </a:ln>
        </p:spPr>
        <p:style>
          <a:lnRef idx="2">
            <a:schemeClr val="accent1"/>
          </a:lnRef>
          <a:fillRef idx="0">
            <a:schemeClr val="accent1"/>
          </a:fillRef>
          <a:effectRef idx="1">
            <a:schemeClr val="accent1"/>
          </a:effectRef>
          <a:fontRef idx="minor">
            <a:schemeClr val="tx1"/>
          </a:fontRef>
        </p:style>
      </p:cxnSp>
      <p:sp>
        <p:nvSpPr>
          <p:cNvPr id="17" name="Elipse 16">
            <a:extLst>
              <a:ext uri="{FF2B5EF4-FFF2-40B4-BE49-F238E27FC236}">
                <a16:creationId xmlns:a16="http://schemas.microsoft.com/office/drawing/2014/main" id="{48AC05D4-2BB8-DC65-703A-E7DF2B5D66BF}"/>
              </a:ext>
            </a:extLst>
          </p:cNvPr>
          <p:cNvSpPr/>
          <p:nvPr/>
        </p:nvSpPr>
        <p:spPr>
          <a:xfrm>
            <a:off x="3752850" y="1479550"/>
            <a:ext cx="139700" cy="139700"/>
          </a:xfrm>
          <a:prstGeom prst="ellipse">
            <a:avLst/>
          </a:prstGeom>
          <a:solidFill>
            <a:srgbClr val="2E0C27"/>
          </a:solidFill>
          <a:ln>
            <a:solidFill>
              <a:srgbClr val="2E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19" name="Elipse 18">
            <a:extLst>
              <a:ext uri="{FF2B5EF4-FFF2-40B4-BE49-F238E27FC236}">
                <a16:creationId xmlns:a16="http://schemas.microsoft.com/office/drawing/2014/main" id="{F2DB4125-7457-5504-7939-E1278CE66C2F}"/>
              </a:ext>
            </a:extLst>
          </p:cNvPr>
          <p:cNvSpPr/>
          <p:nvPr/>
        </p:nvSpPr>
        <p:spPr>
          <a:xfrm>
            <a:off x="4094163" y="1479550"/>
            <a:ext cx="139700" cy="139700"/>
          </a:xfrm>
          <a:prstGeom prst="ellipse">
            <a:avLst/>
          </a:prstGeom>
          <a:solidFill>
            <a:srgbClr val="2E0C27"/>
          </a:solidFill>
          <a:ln>
            <a:solidFill>
              <a:srgbClr val="2E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21" name="Elipse 20">
            <a:extLst>
              <a:ext uri="{FF2B5EF4-FFF2-40B4-BE49-F238E27FC236}">
                <a16:creationId xmlns:a16="http://schemas.microsoft.com/office/drawing/2014/main" id="{6B21E009-24E8-EA16-FE2F-4B74C9D1D141}"/>
              </a:ext>
            </a:extLst>
          </p:cNvPr>
          <p:cNvSpPr/>
          <p:nvPr/>
        </p:nvSpPr>
        <p:spPr>
          <a:xfrm>
            <a:off x="4419332" y="1479550"/>
            <a:ext cx="139700" cy="139700"/>
          </a:xfrm>
          <a:prstGeom prst="ellipse">
            <a:avLst/>
          </a:prstGeom>
          <a:solidFill>
            <a:srgbClr val="2E0C27"/>
          </a:solidFill>
          <a:ln>
            <a:solidFill>
              <a:srgbClr val="2E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cxnSp>
        <p:nvCxnSpPr>
          <p:cNvPr id="22" name="Conector recto 21">
            <a:extLst>
              <a:ext uri="{FF2B5EF4-FFF2-40B4-BE49-F238E27FC236}">
                <a16:creationId xmlns:a16="http://schemas.microsoft.com/office/drawing/2014/main" id="{F89EA3DB-E1C9-C099-9B32-70DAFA5E42F8}"/>
              </a:ext>
            </a:extLst>
          </p:cNvPr>
          <p:cNvCxnSpPr>
            <a:cxnSpLocks/>
          </p:cNvCxnSpPr>
          <p:nvPr/>
        </p:nvCxnSpPr>
        <p:spPr>
          <a:xfrm flipH="1">
            <a:off x="1616656" y="5614353"/>
            <a:ext cx="4785776" cy="0"/>
          </a:xfrm>
          <a:prstGeom prst="line">
            <a:avLst/>
          </a:prstGeom>
          <a:ln w="63500">
            <a:solidFill>
              <a:srgbClr val="0B1C3A"/>
            </a:solidFill>
          </a:ln>
        </p:spPr>
        <p:style>
          <a:lnRef idx="2">
            <a:schemeClr val="accent1"/>
          </a:lnRef>
          <a:fillRef idx="0">
            <a:schemeClr val="accent1"/>
          </a:fillRef>
          <a:effectRef idx="1">
            <a:schemeClr val="accent1"/>
          </a:effectRef>
          <a:fontRef idx="minor">
            <a:schemeClr val="tx1"/>
          </a:fontRef>
        </p:style>
      </p:cxnSp>
      <p:sp>
        <p:nvSpPr>
          <p:cNvPr id="23" name="Elipse 22">
            <a:extLst>
              <a:ext uri="{FF2B5EF4-FFF2-40B4-BE49-F238E27FC236}">
                <a16:creationId xmlns:a16="http://schemas.microsoft.com/office/drawing/2014/main" id="{9B2A00FC-3F3E-7208-10FB-895733921BE2}"/>
              </a:ext>
            </a:extLst>
          </p:cNvPr>
          <p:cNvSpPr/>
          <p:nvPr/>
        </p:nvSpPr>
        <p:spPr>
          <a:xfrm rot="10800000">
            <a:off x="1275343" y="5544503"/>
            <a:ext cx="139700" cy="139700"/>
          </a:xfrm>
          <a:prstGeom prst="ellipse">
            <a:avLst/>
          </a:prstGeom>
          <a:solidFill>
            <a:srgbClr val="0B1C3A"/>
          </a:solidFill>
          <a:ln>
            <a:solidFill>
              <a:srgbClr val="2E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24" name="Elipse 23">
            <a:extLst>
              <a:ext uri="{FF2B5EF4-FFF2-40B4-BE49-F238E27FC236}">
                <a16:creationId xmlns:a16="http://schemas.microsoft.com/office/drawing/2014/main" id="{1C36B0FC-EC52-E2EC-2F1F-4D6AE741E525}"/>
              </a:ext>
            </a:extLst>
          </p:cNvPr>
          <p:cNvSpPr/>
          <p:nvPr/>
        </p:nvSpPr>
        <p:spPr>
          <a:xfrm rot="10800000">
            <a:off x="934030" y="5544503"/>
            <a:ext cx="139700" cy="139700"/>
          </a:xfrm>
          <a:prstGeom prst="ellipse">
            <a:avLst/>
          </a:prstGeom>
          <a:solidFill>
            <a:srgbClr val="0B1C3A"/>
          </a:solidFill>
          <a:ln>
            <a:solidFill>
              <a:srgbClr val="2E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25" name="Elipse 24">
            <a:extLst>
              <a:ext uri="{FF2B5EF4-FFF2-40B4-BE49-F238E27FC236}">
                <a16:creationId xmlns:a16="http://schemas.microsoft.com/office/drawing/2014/main" id="{60A7995B-86EE-731D-9427-FCC9BBD36680}"/>
              </a:ext>
            </a:extLst>
          </p:cNvPr>
          <p:cNvSpPr/>
          <p:nvPr/>
        </p:nvSpPr>
        <p:spPr>
          <a:xfrm rot="10800000">
            <a:off x="608861" y="5544503"/>
            <a:ext cx="139700" cy="139700"/>
          </a:xfrm>
          <a:prstGeom prst="ellipse">
            <a:avLst/>
          </a:prstGeom>
          <a:solidFill>
            <a:srgbClr val="0B1C3A"/>
          </a:solidFill>
          <a:ln>
            <a:solidFill>
              <a:srgbClr val="2E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Tree>
    <p:extLst>
      <p:ext uri="{BB962C8B-B14F-4D97-AF65-F5344CB8AC3E}">
        <p14:creationId xmlns:p14="http://schemas.microsoft.com/office/powerpoint/2010/main" val="1076774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83000">
              <a:srgbClr val="2E0C27"/>
            </a:gs>
            <a:gs pos="33000">
              <a:srgbClr val="1C324E"/>
            </a:gs>
            <a:gs pos="0">
              <a:srgbClr val="0B1C3A"/>
            </a:gs>
            <a:gs pos="100000">
              <a:srgbClr val="240B28"/>
            </a:gs>
          </a:gsLst>
          <a:lin ang="16200000" scaled="1"/>
          <a:tileRect/>
        </a:gradFill>
        <a:effectLst/>
      </p:bgPr>
    </p:bg>
    <p:spTree>
      <p:nvGrpSpPr>
        <p:cNvPr id="1" name="">
          <a:extLst>
            <a:ext uri="{FF2B5EF4-FFF2-40B4-BE49-F238E27FC236}">
              <a16:creationId xmlns:a16="http://schemas.microsoft.com/office/drawing/2014/main" id="{9D99EDEF-07D7-01F4-9AF9-96DD462E3BE3}"/>
            </a:ext>
          </a:extLst>
        </p:cNvPr>
        <p:cNvGrpSpPr/>
        <p:nvPr/>
      </p:nvGrpSpPr>
      <p:grpSpPr>
        <a:xfrm>
          <a:off x="0" y="0"/>
          <a:ext cx="0" cy="0"/>
          <a:chOff x="0" y="0"/>
          <a:chExt cx="0" cy="0"/>
        </a:xfrm>
      </p:grpSpPr>
      <p:pic>
        <p:nvPicPr>
          <p:cNvPr id="14" name="Imagen 13" descr="What is Quishing? - OPSWAT">
            <a:extLst>
              <a:ext uri="{FF2B5EF4-FFF2-40B4-BE49-F238E27FC236}">
                <a16:creationId xmlns:a16="http://schemas.microsoft.com/office/drawing/2014/main" id="{C66C4370-540C-D3F0-A88C-B413E9BA6BE4}"/>
              </a:ext>
            </a:extLst>
          </p:cNvPr>
          <p:cNvPicPr>
            <a:picLocks noChangeAspect="1"/>
          </p:cNvPicPr>
          <p:nvPr/>
        </p:nvPicPr>
        <p:blipFill>
          <a:blip r:embed="rId3"/>
          <a:srcRect l="25405" r="23616"/>
          <a:stretch>
            <a:fillRect/>
          </a:stretch>
        </p:blipFill>
        <p:spPr>
          <a:xfrm flipH="1">
            <a:off x="-6774973" y="-27000"/>
            <a:ext cx="6738460" cy="6912000"/>
          </a:xfrm>
          <a:prstGeom prst="flowChartDelay">
            <a:avLst/>
          </a:prstGeom>
        </p:spPr>
      </p:pic>
      <p:sp>
        <p:nvSpPr>
          <p:cNvPr id="13" name="Rectángulo: esquinas redondeadas 12">
            <a:extLst>
              <a:ext uri="{FF2B5EF4-FFF2-40B4-BE49-F238E27FC236}">
                <a16:creationId xmlns:a16="http://schemas.microsoft.com/office/drawing/2014/main" id="{648066FE-2BEB-F842-2B51-0EE4E22D5206}"/>
              </a:ext>
            </a:extLst>
          </p:cNvPr>
          <p:cNvSpPr/>
          <p:nvPr/>
        </p:nvSpPr>
        <p:spPr>
          <a:xfrm>
            <a:off x="332282" y="457200"/>
            <a:ext cx="11527436" cy="5958114"/>
          </a:xfrm>
          <a:prstGeom prst="roundRect">
            <a:avLst>
              <a:gd name="adj" fmla="val 9846"/>
            </a:avLst>
          </a:prstGeom>
          <a:solidFill>
            <a:schemeClr val="bg1">
              <a:alpha val="86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cxnSp>
        <p:nvCxnSpPr>
          <p:cNvPr id="16" name="Conector recto 15">
            <a:extLst>
              <a:ext uri="{FF2B5EF4-FFF2-40B4-BE49-F238E27FC236}">
                <a16:creationId xmlns:a16="http://schemas.microsoft.com/office/drawing/2014/main" id="{C1DEBACE-2565-F21E-28BF-F30CAD6F00DA}"/>
              </a:ext>
            </a:extLst>
          </p:cNvPr>
          <p:cNvCxnSpPr>
            <a:cxnSpLocks/>
          </p:cNvCxnSpPr>
          <p:nvPr/>
        </p:nvCxnSpPr>
        <p:spPr>
          <a:xfrm>
            <a:off x="0" y="1665515"/>
            <a:ext cx="10334172" cy="0"/>
          </a:xfrm>
          <a:prstGeom prst="line">
            <a:avLst/>
          </a:prstGeom>
          <a:ln w="63500">
            <a:solidFill>
              <a:srgbClr val="2E0C27"/>
            </a:solidFill>
          </a:ln>
        </p:spPr>
        <p:style>
          <a:lnRef idx="2">
            <a:schemeClr val="accent1"/>
          </a:lnRef>
          <a:fillRef idx="0">
            <a:schemeClr val="accent1"/>
          </a:fillRef>
          <a:effectRef idx="1">
            <a:schemeClr val="accent1"/>
          </a:effectRef>
          <a:fontRef idx="minor">
            <a:schemeClr val="tx1"/>
          </a:fontRef>
        </p:style>
      </p:cxnSp>
      <p:sp>
        <p:nvSpPr>
          <p:cNvPr id="17" name="Elipse 16">
            <a:extLst>
              <a:ext uri="{FF2B5EF4-FFF2-40B4-BE49-F238E27FC236}">
                <a16:creationId xmlns:a16="http://schemas.microsoft.com/office/drawing/2014/main" id="{23AC95A9-C98B-9CC8-FA9F-4D33A039BEF6}"/>
              </a:ext>
            </a:extLst>
          </p:cNvPr>
          <p:cNvSpPr/>
          <p:nvPr/>
        </p:nvSpPr>
        <p:spPr>
          <a:xfrm>
            <a:off x="10531022" y="1595665"/>
            <a:ext cx="139700" cy="139700"/>
          </a:xfrm>
          <a:prstGeom prst="ellipse">
            <a:avLst/>
          </a:prstGeom>
          <a:solidFill>
            <a:srgbClr val="2E0C27"/>
          </a:solidFill>
          <a:ln>
            <a:solidFill>
              <a:srgbClr val="2E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19" name="Elipse 18">
            <a:extLst>
              <a:ext uri="{FF2B5EF4-FFF2-40B4-BE49-F238E27FC236}">
                <a16:creationId xmlns:a16="http://schemas.microsoft.com/office/drawing/2014/main" id="{8BD98A77-D8B7-19BB-EBF4-F1ACE5D600B5}"/>
              </a:ext>
            </a:extLst>
          </p:cNvPr>
          <p:cNvSpPr/>
          <p:nvPr/>
        </p:nvSpPr>
        <p:spPr>
          <a:xfrm>
            <a:off x="10872335" y="1595665"/>
            <a:ext cx="139700" cy="139700"/>
          </a:xfrm>
          <a:prstGeom prst="ellipse">
            <a:avLst/>
          </a:prstGeom>
          <a:solidFill>
            <a:srgbClr val="2E0C27"/>
          </a:solidFill>
          <a:ln>
            <a:solidFill>
              <a:srgbClr val="2E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21" name="Elipse 20">
            <a:extLst>
              <a:ext uri="{FF2B5EF4-FFF2-40B4-BE49-F238E27FC236}">
                <a16:creationId xmlns:a16="http://schemas.microsoft.com/office/drawing/2014/main" id="{578391D5-AA3F-8B58-0F64-46B6F9F8AF77}"/>
              </a:ext>
            </a:extLst>
          </p:cNvPr>
          <p:cNvSpPr/>
          <p:nvPr/>
        </p:nvSpPr>
        <p:spPr>
          <a:xfrm>
            <a:off x="11197504" y="1595665"/>
            <a:ext cx="139700" cy="139700"/>
          </a:xfrm>
          <a:prstGeom prst="ellipse">
            <a:avLst/>
          </a:prstGeom>
          <a:solidFill>
            <a:srgbClr val="2E0C27"/>
          </a:solidFill>
          <a:ln>
            <a:solidFill>
              <a:srgbClr val="2E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20" name="CuadroTexto 19">
            <a:extLst>
              <a:ext uri="{FF2B5EF4-FFF2-40B4-BE49-F238E27FC236}">
                <a16:creationId xmlns:a16="http://schemas.microsoft.com/office/drawing/2014/main" id="{8D88EFF6-32A8-244E-F4CD-F0482E649945}"/>
              </a:ext>
            </a:extLst>
          </p:cNvPr>
          <p:cNvSpPr txBox="1"/>
          <p:nvPr/>
        </p:nvSpPr>
        <p:spPr>
          <a:xfrm>
            <a:off x="844325" y="672335"/>
            <a:ext cx="9485084" cy="923330"/>
          </a:xfrm>
          <a:prstGeom prst="rect">
            <a:avLst/>
          </a:prstGeom>
          <a:noFill/>
        </p:spPr>
        <p:txBody>
          <a:bodyPr wrap="square">
            <a:spAutoFit/>
          </a:bodyPr>
          <a:lstStyle/>
          <a:p>
            <a:r>
              <a:rPr lang="es-CL" sz="5400" noProof="0" dirty="0">
                <a:latin typeface="Eras Demi ITC" panose="020B0805030504020804" pitchFamily="34" charset="0"/>
                <a:ea typeface="Arial" panose="020B0604020202020204" pitchFamily="34" charset="0"/>
              </a:rPr>
              <a:t>¿Qué es el </a:t>
            </a:r>
            <a:r>
              <a:rPr lang="es-CL" sz="5400" noProof="0" dirty="0" err="1">
                <a:effectLst/>
                <a:latin typeface="Eras Demi ITC" panose="020B0805030504020804" pitchFamily="34" charset="0"/>
                <a:ea typeface="Arial" panose="020B0604020202020204" pitchFamily="34" charset="0"/>
              </a:rPr>
              <a:t>Quishing</a:t>
            </a:r>
            <a:r>
              <a:rPr lang="es-CL" sz="5400" noProof="0" dirty="0">
                <a:effectLst/>
                <a:latin typeface="Eras Demi ITC" panose="020B0805030504020804" pitchFamily="34" charset="0"/>
                <a:ea typeface="Arial" panose="020B0604020202020204" pitchFamily="34" charset="0"/>
              </a:rPr>
              <a:t>?</a:t>
            </a:r>
            <a:endParaRPr lang="es-CL" sz="5400" noProof="0" dirty="0">
              <a:latin typeface="Eras Demi ITC" panose="020B0805030504020804" pitchFamily="34" charset="0"/>
            </a:endParaRPr>
          </a:p>
        </p:txBody>
      </p:sp>
      <p:pic>
        <p:nvPicPr>
          <p:cNvPr id="27" name="Gráfico 26" descr="QR Code con relleno sólido">
            <a:extLst>
              <a:ext uri="{FF2B5EF4-FFF2-40B4-BE49-F238E27FC236}">
                <a16:creationId xmlns:a16="http://schemas.microsoft.com/office/drawing/2014/main" id="{EFD529BB-DE10-6CEC-8055-FAA5A25E6A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02269" y="2122716"/>
            <a:ext cx="2464932" cy="2464932"/>
          </a:xfrm>
          <a:prstGeom prst="rect">
            <a:avLst/>
          </a:prstGeom>
        </p:spPr>
      </p:pic>
      <p:sp>
        <p:nvSpPr>
          <p:cNvPr id="28" name="CuadroTexto 27">
            <a:extLst>
              <a:ext uri="{FF2B5EF4-FFF2-40B4-BE49-F238E27FC236}">
                <a16:creationId xmlns:a16="http://schemas.microsoft.com/office/drawing/2014/main" id="{AD6F0FE5-8652-0504-3F23-3ED945BEA4A2}"/>
              </a:ext>
            </a:extLst>
          </p:cNvPr>
          <p:cNvSpPr txBox="1"/>
          <p:nvPr/>
        </p:nvSpPr>
        <p:spPr>
          <a:xfrm>
            <a:off x="1523999" y="4447722"/>
            <a:ext cx="3918858" cy="584775"/>
          </a:xfrm>
          <a:prstGeom prst="rect">
            <a:avLst/>
          </a:prstGeom>
          <a:noFill/>
        </p:spPr>
        <p:txBody>
          <a:bodyPr wrap="square" rtlCol="0">
            <a:spAutoFit/>
          </a:bodyPr>
          <a:lstStyle/>
          <a:p>
            <a:r>
              <a:rPr lang="es-CL" sz="3200" noProof="0" dirty="0">
                <a:latin typeface="Consolas" panose="020B0609020204030204" pitchFamily="49" charset="0"/>
              </a:rPr>
              <a:t>QR + Phishing</a:t>
            </a:r>
          </a:p>
        </p:txBody>
      </p:sp>
    </p:spTree>
    <p:extLst>
      <p:ext uri="{BB962C8B-B14F-4D97-AF65-F5344CB8AC3E}">
        <p14:creationId xmlns:p14="http://schemas.microsoft.com/office/powerpoint/2010/main" val="3099684487"/>
      </p:ext>
    </p:extLst>
  </p:cSld>
  <p:clrMapOvr>
    <a:masterClrMapping/>
  </p:clrMapOvr>
  <mc:AlternateContent xmlns:mc="http://schemas.openxmlformats.org/markup-compatibility/2006" xmlns:p14="http://schemas.microsoft.com/office/powerpoint/2010/main">
    <mc:Choice Requires="p14">
      <p:transition spd="slow" p14:dur="1250" advTm="1000">
        <p:pull/>
      </p:transition>
    </mc:Choice>
    <mc:Fallback xmlns="">
      <p:transition spd="slow" advTm="1000">
        <p:pull/>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83000">
              <a:srgbClr val="2E0C27"/>
            </a:gs>
            <a:gs pos="33000">
              <a:srgbClr val="1C324E"/>
            </a:gs>
            <a:gs pos="0">
              <a:srgbClr val="0B1C3A"/>
            </a:gs>
            <a:gs pos="100000">
              <a:srgbClr val="240B28"/>
            </a:gs>
          </a:gsLst>
          <a:lin ang="16200000" scaled="1"/>
          <a:tileRect/>
        </a:gradFill>
        <a:effectLst/>
      </p:bgPr>
    </p:bg>
    <p:spTree>
      <p:nvGrpSpPr>
        <p:cNvPr id="1" name="">
          <a:extLst>
            <a:ext uri="{FF2B5EF4-FFF2-40B4-BE49-F238E27FC236}">
              <a16:creationId xmlns:a16="http://schemas.microsoft.com/office/drawing/2014/main" id="{473242AE-FB27-A05F-0F70-2F508229F966}"/>
            </a:ext>
          </a:extLst>
        </p:cNvPr>
        <p:cNvGrpSpPr/>
        <p:nvPr/>
      </p:nvGrpSpPr>
      <p:grpSpPr>
        <a:xfrm>
          <a:off x="0" y="0"/>
          <a:ext cx="0" cy="0"/>
          <a:chOff x="0" y="0"/>
          <a:chExt cx="0" cy="0"/>
        </a:xfrm>
      </p:grpSpPr>
      <p:pic>
        <p:nvPicPr>
          <p:cNvPr id="14" name="Imagen 13" descr="What is Quishing? - OPSWAT">
            <a:extLst>
              <a:ext uri="{FF2B5EF4-FFF2-40B4-BE49-F238E27FC236}">
                <a16:creationId xmlns:a16="http://schemas.microsoft.com/office/drawing/2014/main" id="{CE14400C-BC43-8321-E88F-F3D457F87135}"/>
              </a:ext>
            </a:extLst>
          </p:cNvPr>
          <p:cNvPicPr>
            <a:picLocks noChangeAspect="1"/>
          </p:cNvPicPr>
          <p:nvPr/>
        </p:nvPicPr>
        <p:blipFill>
          <a:blip r:embed="rId3"/>
          <a:srcRect l="25405" r="23616"/>
          <a:stretch>
            <a:fillRect/>
          </a:stretch>
        </p:blipFill>
        <p:spPr>
          <a:xfrm flipH="1">
            <a:off x="-6774973" y="-27000"/>
            <a:ext cx="6738460" cy="6912000"/>
          </a:xfrm>
          <a:prstGeom prst="flowChartDelay">
            <a:avLst/>
          </a:prstGeom>
        </p:spPr>
      </p:pic>
      <p:sp>
        <p:nvSpPr>
          <p:cNvPr id="6" name="Rectangle 3">
            <a:extLst>
              <a:ext uri="{FF2B5EF4-FFF2-40B4-BE49-F238E27FC236}">
                <a16:creationId xmlns:a16="http://schemas.microsoft.com/office/drawing/2014/main" id="{6B70C0C9-F45D-1232-1E48-EF149D0B93D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noProof="0" dirty="0"/>
          </a:p>
        </p:txBody>
      </p:sp>
      <p:sp>
        <p:nvSpPr>
          <p:cNvPr id="13" name="Rectángulo: esquinas redondeadas 12">
            <a:extLst>
              <a:ext uri="{FF2B5EF4-FFF2-40B4-BE49-F238E27FC236}">
                <a16:creationId xmlns:a16="http://schemas.microsoft.com/office/drawing/2014/main" id="{581B584B-7E1F-E237-9AF2-CC38D68DD946}"/>
              </a:ext>
            </a:extLst>
          </p:cNvPr>
          <p:cNvSpPr/>
          <p:nvPr/>
        </p:nvSpPr>
        <p:spPr>
          <a:xfrm>
            <a:off x="332282" y="457200"/>
            <a:ext cx="11527436" cy="5958114"/>
          </a:xfrm>
          <a:prstGeom prst="roundRect">
            <a:avLst>
              <a:gd name="adj" fmla="val 9846"/>
            </a:avLst>
          </a:prstGeom>
          <a:solidFill>
            <a:schemeClr val="bg1">
              <a:alpha val="86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cxnSp>
        <p:nvCxnSpPr>
          <p:cNvPr id="16" name="Conector recto 15">
            <a:extLst>
              <a:ext uri="{FF2B5EF4-FFF2-40B4-BE49-F238E27FC236}">
                <a16:creationId xmlns:a16="http://schemas.microsoft.com/office/drawing/2014/main" id="{3D368477-B74D-0E55-73D0-6AC7C9A38362}"/>
              </a:ext>
            </a:extLst>
          </p:cNvPr>
          <p:cNvCxnSpPr>
            <a:cxnSpLocks/>
          </p:cNvCxnSpPr>
          <p:nvPr/>
        </p:nvCxnSpPr>
        <p:spPr>
          <a:xfrm>
            <a:off x="0" y="1665515"/>
            <a:ext cx="10334172" cy="0"/>
          </a:xfrm>
          <a:prstGeom prst="line">
            <a:avLst/>
          </a:prstGeom>
          <a:ln w="63500">
            <a:solidFill>
              <a:srgbClr val="2E0C27"/>
            </a:solidFill>
          </a:ln>
        </p:spPr>
        <p:style>
          <a:lnRef idx="2">
            <a:schemeClr val="accent1"/>
          </a:lnRef>
          <a:fillRef idx="0">
            <a:schemeClr val="accent1"/>
          </a:fillRef>
          <a:effectRef idx="1">
            <a:schemeClr val="accent1"/>
          </a:effectRef>
          <a:fontRef idx="minor">
            <a:schemeClr val="tx1"/>
          </a:fontRef>
        </p:style>
      </p:cxnSp>
      <p:sp>
        <p:nvSpPr>
          <p:cNvPr id="17" name="Elipse 16">
            <a:extLst>
              <a:ext uri="{FF2B5EF4-FFF2-40B4-BE49-F238E27FC236}">
                <a16:creationId xmlns:a16="http://schemas.microsoft.com/office/drawing/2014/main" id="{133833BE-8548-40B9-8A87-875EB77BFF5E}"/>
              </a:ext>
            </a:extLst>
          </p:cNvPr>
          <p:cNvSpPr/>
          <p:nvPr/>
        </p:nvSpPr>
        <p:spPr>
          <a:xfrm>
            <a:off x="5111750" y="2260485"/>
            <a:ext cx="139700" cy="139700"/>
          </a:xfrm>
          <a:prstGeom prst="ellipse">
            <a:avLst/>
          </a:prstGeom>
          <a:solidFill>
            <a:srgbClr val="2E0C27"/>
          </a:solidFill>
          <a:ln>
            <a:solidFill>
              <a:srgbClr val="2E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19" name="Elipse 18">
            <a:extLst>
              <a:ext uri="{FF2B5EF4-FFF2-40B4-BE49-F238E27FC236}">
                <a16:creationId xmlns:a16="http://schemas.microsoft.com/office/drawing/2014/main" id="{9A80FFDF-731A-DED4-7711-E4BAD515C56B}"/>
              </a:ext>
            </a:extLst>
          </p:cNvPr>
          <p:cNvSpPr/>
          <p:nvPr/>
        </p:nvSpPr>
        <p:spPr>
          <a:xfrm>
            <a:off x="5111750" y="3359150"/>
            <a:ext cx="139700" cy="139700"/>
          </a:xfrm>
          <a:prstGeom prst="ellipse">
            <a:avLst/>
          </a:prstGeom>
          <a:solidFill>
            <a:srgbClr val="2E0C27"/>
          </a:solidFill>
          <a:ln>
            <a:solidFill>
              <a:srgbClr val="2E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21" name="Elipse 20">
            <a:extLst>
              <a:ext uri="{FF2B5EF4-FFF2-40B4-BE49-F238E27FC236}">
                <a16:creationId xmlns:a16="http://schemas.microsoft.com/office/drawing/2014/main" id="{9CA9F46C-70E3-8884-1F30-60E5E88D82E5}"/>
              </a:ext>
            </a:extLst>
          </p:cNvPr>
          <p:cNvSpPr/>
          <p:nvPr/>
        </p:nvSpPr>
        <p:spPr>
          <a:xfrm>
            <a:off x="5111750" y="4794022"/>
            <a:ext cx="139700" cy="139700"/>
          </a:xfrm>
          <a:prstGeom prst="ellipse">
            <a:avLst/>
          </a:prstGeom>
          <a:solidFill>
            <a:srgbClr val="2E0C27"/>
          </a:solidFill>
          <a:ln>
            <a:solidFill>
              <a:srgbClr val="2E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20" name="CuadroTexto 19">
            <a:extLst>
              <a:ext uri="{FF2B5EF4-FFF2-40B4-BE49-F238E27FC236}">
                <a16:creationId xmlns:a16="http://schemas.microsoft.com/office/drawing/2014/main" id="{AABCC3AF-4954-57A6-E289-96816DF330B4}"/>
              </a:ext>
            </a:extLst>
          </p:cNvPr>
          <p:cNvSpPr txBox="1"/>
          <p:nvPr/>
        </p:nvSpPr>
        <p:spPr>
          <a:xfrm>
            <a:off x="844325" y="672335"/>
            <a:ext cx="9485084" cy="923330"/>
          </a:xfrm>
          <a:prstGeom prst="rect">
            <a:avLst/>
          </a:prstGeom>
          <a:noFill/>
        </p:spPr>
        <p:txBody>
          <a:bodyPr wrap="square">
            <a:spAutoFit/>
          </a:bodyPr>
          <a:lstStyle/>
          <a:p>
            <a:r>
              <a:rPr lang="es-CL" sz="5400" noProof="0" dirty="0">
                <a:latin typeface="Eras Demi ITC" panose="020B0805030504020804" pitchFamily="34" charset="0"/>
                <a:ea typeface="Arial" panose="020B0604020202020204" pitchFamily="34" charset="0"/>
              </a:rPr>
              <a:t>¿Qué es el </a:t>
            </a:r>
            <a:r>
              <a:rPr lang="es-CL" sz="5400" noProof="0" dirty="0" err="1">
                <a:effectLst/>
                <a:latin typeface="Eras Demi ITC" panose="020B0805030504020804" pitchFamily="34" charset="0"/>
                <a:ea typeface="Arial" panose="020B0604020202020204" pitchFamily="34" charset="0"/>
              </a:rPr>
              <a:t>Quishing</a:t>
            </a:r>
            <a:r>
              <a:rPr lang="es-CL" sz="5400" noProof="0" dirty="0">
                <a:effectLst/>
                <a:latin typeface="Eras Demi ITC" panose="020B0805030504020804" pitchFamily="34" charset="0"/>
                <a:ea typeface="Arial" panose="020B0604020202020204" pitchFamily="34" charset="0"/>
              </a:rPr>
              <a:t>?</a:t>
            </a:r>
            <a:endParaRPr lang="es-CL" sz="5400" noProof="0" dirty="0">
              <a:latin typeface="Eras Demi ITC" panose="020B0805030504020804" pitchFamily="34" charset="0"/>
            </a:endParaRPr>
          </a:p>
        </p:txBody>
      </p:sp>
      <p:pic>
        <p:nvPicPr>
          <p:cNvPr id="27" name="Gráfico 26" descr="QR Code con relleno sólido">
            <a:extLst>
              <a:ext uri="{FF2B5EF4-FFF2-40B4-BE49-F238E27FC236}">
                <a16:creationId xmlns:a16="http://schemas.microsoft.com/office/drawing/2014/main" id="{E67378B8-6928-EEEA-916D-150BAB8D02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02269" y="2122716"/>
            <a:ext cx="2464932" cy="2464932"/>
          </a:xfrm>
          <a:prstGeom prst="rect">
            <a:avLst/>
          </a:prstGeom>
        </p:spPr>
      </p:pic>
      <p:sp>
        <p:nvSpPr>
          <p:cNvPr id="28" name="CuadroTexto 27">
            <a:extLst>
              <a:ext uri="{FF2B5EF4-FFF2-40B4-BE49-F238E27FC236}">
                <a16:creationId xmlns:a16="http://schemas.microsoft.com/office/drawing/2014/main" id="{A320152F-8570-F3E2-F966-9A94F446F03C}"/>
              </a:ext>
            </a:extLst>
          </p:cNvPr>
          <p:cNvSpPr txBox="1"/>
          <p:nvPr/>
        </p:nvSpPr>
        <p:spPr>
          <a:xfrm>
            <a:off x="1523999" y="4447722"/>
            <a:ext cx="3918858" cy="584775"/>
          </a:xfrm>
          <a:prstGeom prst="rect">
            <a:avLst/>
          </a:prstGeom>
          <a:noFill/>
        </p:spPr>
        <p:txBody>
          <a:bodyPr wrap="square" rtlCol="0">
            <a:spAutoFit/>
          </a:bodyPr>
          <a:lstStyle/>
          <a:p>
            <a:r>
              <a:rPr lang="es-CL" sz="3200" noProof="0" dirty="0">
                <a:latin typeface="Consolas" panose="020B0609020204030204" pitchFamily="49" charset="0"/>
              </a:rPr>
              <a:t>QR + Phishing</a:t>
            </a:r>
          </a:p>
        </p:txBody>
      </p:sp>
      <p:sp>
        <p:nvSpPr>
          <p:cNvPr id="2" name="CuadroTexto 1">
            <a:extLst>
              <a:ext uri="{FF2B5EF4-FFF2-40B4-BE49-F238E27FC236}">
                <a16:creationId xmlns:a16="http://schemas.microsoft.com/office/drawing/2014/main" id="{F70F383A-8834-DB3E-F8D0-70970BD14851}"/>
              </a:ext>
            </a:extLst>
          </p:cNvPr>
          <p:cNvSpPr txBox="1"/>
          <p:nvPr/>
        </p:nvSpPr>
        <p:spPr>
          <a:xfrm>
            <a:off x="5368337" y="2122716"/>
            <a:ext cx="6374493" cy="4154984"/>
          </a:xfrm>
          <a:prstGeom prst="rect">
            <a:avLst/>
          </a:prstGeom>
          <a:noFill/>
        </p:spPr>
        <p:txBody>
          <a:bodyPr wrap="square" rtlCol="0">
            <a:spAutoFit/>
          </a:bodyPr>
          <a:lstStyle/>
          <a:p>
            <a:r>
              <a:rPr lang="es-CL" sz="2400" noProof="0" dirty="0">
                <a:latin typeface="Eras Medium ITC" panose="020B0602030504020804" pitchFamily="34" charset="0"/>
              </a:rPr>
              <a:t>Técnica que usa códigos QR físicos o digitales para redirigir víctimas a sitios maliciosos.</a:t>
            </a:r>
          </a:p>
          <a:p>
            <a:r>
              <a:rPr lang="es-CL" sz="2400" noProof="0" dirty="0">
                <a:latin typeface="Eras Medium ITC" panose="020B0602030504020804" pitchFamily="34" charset="0"/>
              </a:rPr>
              <a:t> </a:t>
            </a:r>
          </a:p>
          <a:p>
            <a:r>
              <a:rPr lang="es-CL" sz="2400" noProof="0" dirty="0">
                <a:latin typeface="Eras Medium ITC" panose="020B0602030504020804" pitchFamily="34" charset="0"/>
              </a:rPr>
              <a:t>El QR actúa como vector: transfiere la amenaza desde un papel impreso al navegador del celular.</a:t>
            </a:r>
          </a:p>
          <a:p>
            <a:r>
              <a:rPr lang="es-CL" sz="2400" noProof="0" dirty="0">
                <a:latin typeface="Eras Medium ITC" panose="020B0602030504020804" pitchFamily="34" charset="0"/>
              </a:rPr>
              <a:t> </a:t>
            </a:r>
          </a:p>
          <a:p>
            <a:r>
              <a:rPr lang="es-CL" sz="2400" noProof="0" dirty="0">
                <a:latin typeface="Eras Medium ITC" panose="020B0602030504020804" pitchFamily="34" charset="0"/>
              </a:rPr>
              <a:t>Elimina el primer mecanismo de defensa intuitivo: la víctima no puede ver la URL antes de escanear.</a:t>
            </a:r>
          </a:p>
          <a:p>
            <a:endParaRPr lang="es-CL" sz="2400" noProof="0" dirty="0">
              <a:latin typeface="Eras Medium ITC" panose="020B0602030504020804" pitchFamily="34" charset="0"/>
            </a:endParaRPr>
          </a:p>
        </p:txBody>
      </p:sp>
    </p:spTree>
    <p:extLst>
      <p:ext uri="{BB962C8B-B14F-4D97-AF65-F5344CB8AC3E}">
        <p14:creationId xmlns:p14="http://schemas.microsoft.com/office/powerpoint/2010/main" val="27382333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18C3E2FF-9576-B38B-BC52-C6F735DD9E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225AC758-C208-B74B-081A-8C88CC0B06D7}"/>
              </a:ext>
            </a:extLst>
          </p:cNvPr>
          <p:cNvSpPr>
            <a:spLocks noGrp="1"/>
          </p:cNvSpPr>
          <p:nvPr>
            <p:ph type="title"/>
          </p:nvPr>
        </p:nvSpPr>
        <p:spPr>
          <a:xfrm>
            <a:off x="2946400" y="365125"/>
            <a:ext cx="8407400" cy="1325563"/>
          </a:xfrm>
        </p:spPr>
        <p:txBody>
          <a:bodyPr/>
          <a:lstStyle/>
          <a:p>
            <a:r>
              <a:rPr lang="es-CL" noProof="0" dirty="0">
                <a:solidFill>
                  <a:schemeClr val="accent5">
                    <a:lumMod val="50000"/>
                  </a:schemeClr>
                </a:solidFill>
                <a:latin typeface="Eras Demi ITC" panose="020B0805030504020804" pitchFamily="34" charset="0"/>
              </a:rPr>
              <a:t>Objetivos</a:t>
            </a:r>
          </a:p>
        </p:txBody>
      </p:sp>
      <p:sp>
        <p:nvSpPr>
          <p:cNvPr id="3" name="Marcador de contenido 2">
            <a:extLst>
              <a:ext uri="{FF2B5EF4-FFF2-40B4-BE49-F238E27FC236}">
                <a16:creationId xmlns:a16="http://schemas.microsoft.com/office/drawing/2014/main" id="{203A01C9-C037-E7FB-6B62-E4C54EBC78F4}"/>
              </a:ext>
            </a:extLst>
          </p:cNvPr>
          <p:cNvSpPr>
            <a:spLocks noGrp="1"/>
          </p:cNvSpPr>
          <p:nvPr>
            <p:ph idx="1"/>
          </p:nvPr>
        </p:nvSpPr>
        <p:spPr>
          <a:xfrm>
            <a:off x="2931886" y="2098675"/>
            <a:ext cx="8407400" cy="4351338"/>
          </a:xfrm>
        </p:spPr>
        <p:txBody>
          <a:bodyPr/>
          <a:lstStyle/>
          <a:p>
            <a:pPr lvl="0"/>
            <a:r>
              <a:rPr lang="es-CL" noProof="0" dirty="0">
                <a:latin typeface="Eras Medium ITC" panose="020B0602030504020804" pitchFamily="34" charset="0"/>
              </a:rPr>
              <a:t> ¿En qué contexto (y bajo qué pretexto de confianza) más personas escanean un código QR de origen desconocido? </a:t>
            </a:r>
          </a:p>
          <a:p>
            <a:pPr marL="0" lvl="0" indent="0">
              <a:buNone/>
            </a:pPr>
            <a:endParaRPr lang="es-CL" noProof="0" dirty="0">
              <a:latin typeface="Eras Medium ITC" panose="020B0602030504020804" pitchFamily="34" charset="0"/>
            </a:endParaRPr>
          </a:p>
          <a:p>
            <a:pPr lvl="0"/>
            <a:r>
              <a:rPr lang="es-CL" noProof="0" dirty="0">
                <a:latin typeface="Eras Medium ITC" panose="020B0602030504020804" pitchFamily="34" charset="0"/>
              </a:rPr>
              <a:t>¿Dado que se escanea un QR, que cantidad de personas está dispuesta a entregar información personal?</a:t>
            </a:r>
          </a:p>
          <a:p>
            <a:endParaRPr lang="es-CL" noProof="0" dirty="0">
              <a:latin typeface="Eras Medium ITC" panose="020B0602030504020804" pitchFamily="34" charset="0"/>
            </a:endParaRPr>
          </a:p>
        </p:txBody>
      </p:sp>
      <p:pic>
        <p:nvPicPr>
          <p:cNvPr id="7" name="Imagen 6">
            <a:extLst>
              <a:ext uri="{FF2B5EF4-FFF2-40B4-BE49-F238E27FC236}">
                <a16:creationId xmlns:a16="http://schemas.microsoft.com/office/drawing/2014/main" id="{8ADAF649-6FB8-9C06-C8F8-282D34398512}"/>
              </a:ext>
            </a:extLst>
          </p:cNvPr>
          <p:cNvPicPr>
            <a:picLocks noChangeAspect="1"/>
          </p:cNvPicPr>
          <p:nvPr/>
        </p:nvPicPr>
        <p:blipFill>
          <a:blip r:embed="rId4">
            <a:duotone>
              <a:schemeClr val="accent5">
                <a:shade val="45000"/>
                <a:satMod val="135000"/>
              </a:schemeClr>
              <a:prstClr val="white"/>
            </a:duotone>
            <a:extLst>
              <a:ext uri="{BEBA8EAE-BF5A-486C-A8C5-ECC9F3942E4B}">
                <a14:imgProps xmlns:a14="http://schemas.microsoft.com/office/drawing/2010/main">
                  <a14:imgLayer r:embed="rId5">
                    <a14:imgEffect>
                      <a14:artisticMarker/>
                    </a14:imgEffect>
                    <a14:imgEffect>
                      <a14:sharpenSoften amount="50000"/>
                    </a14:imgEffect>
                    <a14:imgEffect>
                      <a14:brightnessContrast bright="-40000" contrast="40000"/>
                    </a14:imgEffect>
                  </a14:imgLayer>
                </a14:imgProps>
              </a:ext>
            </a:extLst>
          </a:blip>
          <a:stretch>
            <a:fillRect/>
          </a:stretch>
        </p:blipFill>
        <p:spPr>
          <a:xfrm flipV="1">
            <a:off x="-366486" y="-420914"/>
            <a:ext cx="3429000" cy="7278914"/>
          </a:xfrm>
          <a:prstGeom prst="rect">
            <a:avLst/>
          </a:prstGeom>
        </p:spPr>
      </p:pic>
    </p:spTree>
    <p:extLst>
      <p:ext uri="{BB962C8B-B14F-4D97-AF65-F5344CB8AC3E}">
        <p14:creationId xmlns:p14="http://schemas.microsoft.com/office/powerpoint/2010/main" val="168194195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n 38">
            <a:extLst>
              <a:ext uri="{FF2B5EF4-FFF2-40B4-BE49-F238E27FC236}">
                <a16:creationId xmlns:a16="http://schemas.microsoft.com/office/drawing/2014/main" id="{4DFCE732-76A6-CA7B-9C9B-73C04CF482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96C93F55-93A6-F693-B07E-B0B3F5B1D718}"/>
              </a:ext>
            </a:extLst>
          </p:cNvPr>
          <p:cNvSpPr>
            <a:spLocks noGrp="1"/>
          </p:cNvSpPr>
          <p:nvPr>
            <p:ph type="title"/>
          </p:nvPr>
        </p:nvSpPr>
        <p:spPr>
          <a:xfrm>
            <a:off x="2685142" y="365125"/>
            <a:ext cx="8668657" cy="1325563"/>
          </a:xfrm>
        </p:spPr>
        <p:txBody>
          <a:bodyPr/>
          <a:lstStyle/>
          <a:p>
            <a:r>
              <a:rPr lang="es-CL" noProof="0" dirty="0">
                <a:solidFill>
                  <a:schemeClr val="accent4">
                    <a:lumMod val="50000"/>
                  </a:schemeClr>
                </a:solidFill>
                <a:latin typeface="Eras Demi ITC" panose="020B0805030504020804" pitchFamily="34" charset="0"/>
              </a:rPr>
              <a:t>Profundidad Técnica y Conceptos de Seguridad</a:t>
            </a:r>
          </a:p>
        </p:txBody>
      </p:sp>
      <p:grpSp>
        <p:nvGrpSpPr>
          <p:cNvPr id="15" name="Grupo 14">
            <a:extLst>
              <a:ext uri="{FF2B5EF4-FFF2-40B4-BE49-F238E27FC236}">
                <a16:creationId xmlns:a16="http://schemas.microsoft.com/office/drawing/2014/main" id="{E88A1B2C-47A9-B991-F806-D76277195B7A}"/>
              </a:ext>
            </a:extLst>
          </p:cNvPr>
          <p:cNvGrpSpPr/>
          <p:nvPr/>
        </p:nvGrpSpPr>
        <p:grpSpPr>
          <a:xfrm>
            <a:off x="2784018" y="1796112"/>
            <a:ext cx="8958039" cy="4620370"/>
            <a:chOff x="2784018" y="1796112"/>
            <a:chExt cx="8958039" cy="4620370"/>
          </a:xfrm>
        </p:grpSpPr>
        <p:sp>
          <p:nvSpPr>
            <p:cNvPr id="16" name="Rectángulo 15">
              <a:extLst>
                <a:ext uri="{FF2B5EF4-FFF2-40B4-BE49-F238E27FC236}">
                  <a16:creationId xmlns:a16="http://schemas.microsoft.com/office/drawing/2014/main" id="{F63F242D-8F1F-A1B0-A186-960232881E5B}"/>
                </a:ext>
              </a:extLst>
            </p:cNvPr>
            <p:cNvSpPr/>
            <p:nvPr/>
          </p:nvSpPr>
          <p:spPr>
            <a:xfrm>
              <a:off x="2784018" y="2077041"/>
              <a:ext cx="8958039" cy="529200"/>
            </a:xfrm>
            <a:prstGeom prst="rect">
              <a:avLst/>
            </a:pr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CL" noProof="0" dirty="0"/>
            </a:p>
          </p:txBody>
        </p:sp>
        <p:sp>
          <p:nvSpPr>
            <p:cNvPr id="17" name="Forma libre: forma 16">
              <a:extLst>
                <a:ext uri="{FF2B5EF4-FFF2-40B4-BE49-F238E27FC236}">
                  <a16:creationId xmlns:a16="http://schemas.microsoft.com/office/drawing/2014/main" id="{C86BC6F4-4DBB-DDF4-0B9E-7EA85619E09E}"/>
                </a:ext>
              </a:extLst>
            </p:cNvPr>
            <p:cNvSpPr/>
            <p:nvPr/>
          </p:nvSpPr>
          <p:spPr>
            <a:xfrm>
              <a:off x="3189942" y="1796112"/>
              <a:ext cx="8163857" cy="619920"/>
            </a:xfrm>
            <a:custGeom>
              <a:avLst/>
              <a:gdLst>
                <a:gd name="csX0" fmla="*/ 0 w 6270627"/>
                <a:gd name="csY0" fmla="*/ 103322 h 619920"/>
                <a:gd name="csX1" fmla="*/ 103322 w 6270627"/>
                <a:gd name="csY1" fmla="*/ 0 h 619920"/>
                <a:gd name="csX2" fmla="*/ 6167305 w 6270627"/>
                <a:gd name="csY2" fmla="*/ 0 h 619920"/>
                <a:gd name="csX3" fmla="*/ 6270627 w 6270627"/>
                <a:gd name="csY3" fmla="*/ 103322 h 619920"/>
                <a:gd name="csX4" fmla="*/ 6270627 w 6270627"/>
                <a:gd name="csY4" fmla="*/ 516598 h 619920"/>
                <a:gd name="csX5" fmla="*/ 6167305 w 6270627"/>
                <a:gd name="csY5" fmla="*/ 619920 h 619920"/>
                <a:gd name="csX6" fmla="*/ 103322 w 6270627"/>
                <a:gd name="csY6" fmla="*/ 619920 h 619920"/>
                <a:gd name="csX7" fmla="*/ 0 w 6270627"/>
                <a:gd name="csY7" fmla="*/ 516598 h 619920"/>
                <a:gd name="csX8" fmla="*/ 0 w 6270627"/>
                <a:gd name="csY8" fmla="*/ 103322 h 619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270627" h="619920">
                  <a:moveTo>
                    <a:pt x="0" y="103322"/>
                  </a:moveTo>
                  <a:cubicBezTo>
                    <a:pt x="0" y="46259"/>
                    <a:pt x="46259" y="0"/>
                    <a:pt x="103322" y="0"/>
                  </a:cubicBezTo>
                  <a:lnTo>
                    <a:pt x="6167305" y="0"/>
                  </a:lnTo>
                  <a:cubicBezTo>
                    <a:pt x="6224368" y="0"/>
                    <a:pt x="6270627" y="46259"/>
                    <a:pt x="6270627" y="103322"/>
                  </a:cubicBezTo>
                  <a:lnTo>
                    <a:pt x="6270627" y="516598"/>
                  </a:lnTo>
                  <a:cubicBezTo>
                    <a:pt x="6270627" y="573661"/>
                    <a:pt x="6224368" y="619920"/>
                    <a:pt x="6167305" y="619920"/>
                  </a:cubicBezTo>
                  <a:lnTo>
                    <a:pt x="103322" y="619920"/>
                  </a:lnTo>
                  <a:cubicBezTo>
                    <a:pt x="46259" y="619920"/>
                    <a:pt x="0" y="573661"/>
                    <a:pt x="0" y="516598"/>
                  </a:cubicBezTo>
                  <a:lnTo>
                    <a:pt x="0" y="103322"/>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267277" tIns="30262" rIns="267277" bIns="30262" numCol="1" spcCol="1270" anchor="ctr" anchorCtr="0">
              <a:noAutofit/>
            </a:bodyPr>
            <a:lstStyle/>
            <a:p>
              <a:pPr marL="0" lvl="0" indent="0" algn="l" defTabSz="800100">
                <a:lnSpc>
                  <a:spcPct val="90000"/>
                </a:lnSpc>
                <a:spcBef>
                  <a:spcPct val="0"/>
                </a:spcBef>
                <a:spcAft>
                  <a:spcPct val="35000"/>
                </a:spcAft>
                <a:buNone/>
              </a:pPr>
              <a:r>
                <a:rPr lang="es-CL" sz="1800" kern="1200" noProof="0" dirty="0">
                  <a:latin typeface="Eras Medium ITC" panose="020B0602030504020804" pitchFamily="34" charset="0"/>
                </a:rPr>
                <a:t>Modelo de amenaza: oportunista con recursos limitados y acceso físico a espacios públicos.</a:t>
              </a:r>
              <a:endParaRPr lang="es-CL" sz="1800" kern="1200" noProof="0" dirty="0"/>
            </a:p>
          </p:txBody>
        </p:sp>
        <p:sp>
          <p:nvSpPr>
            <p:cNvPr id="18" name="Rectángulo 17">
              <a:extLst>
                <a:ext uri="{FF2B5EF4-FFF2-40B4-BE49-F238E27FC236}">
                  <a16:creationId xmlns:a16="http://schemas.microsoft.com/office/drawing/2014/main" id="{636CCD9D-7141-3D0F-7DB4-0D41CA72F502}"/>
                </a:ext>
              </a:extLst>
            </p:cNvPr>
            <p:cNvSpPr/>
            <p:nvPr/>
          </p:nvSpPr>
          <p:spPr>
            <a:xfrm>
              <a:off x="2784018" y="3029601"/>
              <a:ext cx="8958039" cy="529200"/>
            </a:xfrm>
            <a:prstGeom prst="rect">
              <a:avLst/>
            </a:prstGeom>
          </p:spPr>
          <p:style>
            <a:lnRef idx="2">
              <a:schemeClr val="accent4">
                <a:hueOff val="-594301"/>
                <a:satOff val="10890"/>
                <a:lumOff val="1373"/>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CL" noProof="0" dirty="0"/>
            </a:p>
          </p:txBody>
        </p:sp>
        <p:sp>
          <p:nvSpPr>
            <p:cNvPr id="19" name="Forma libre: forma 18">
              <a:extLst>
                <a:ext uri="{FF2B5EF4-FFF2-40B4-BE49-F238E27FC236}">
                  <a16:creationId xmlns:a16="http://schemas.microsoft.com/office/drawing/2014/main" id="{166A7191-A24A-5219-9DAD-0E481E6BA146}"/>
                </a:ext>
              </a:extLst>
            </p:cNvPr>
            <p:cNvSpPr/>
            <p:nvPr/>
          </p:nvSpPr>
          <p:spPr>
            <a:xfrm>
              <a:off x="3189942" y="2748672"/>
              <a:ext cx="8163857" cy="619920"/>
            </a:xfrm>
            <a:custGeom>
              <a:avLst/>
              <a:gdLst>
                <a:gd name="csX0" fmla="*/ 0 w 6270627"/>
                <a:gd name="csY0" fmla="*/ 103322 h 619920"/>
                <a:gd name="csX1" fmla="*/ 103322 w 6270627"/>
                <a:gd name="csY1" fmla="*/ 0 h 619920"/>
                <a:gd name="csX2" fmla="*/ 6167305 w 6270627"/>
                <a:gd name="csY2" fmla="*/ 0 h 619920"/>
                <a:gd name="csX3" fmla="*/ 6270627 w 6270627"/>
                <a:gd name="csY3" fmla="*/ 103322 h 619920"/>
                <a:gd name="csX4" fmla="*/ 6270627 w 6270627"/>
                <a:gd name="csY4" fmla="*/ 516598 h 619920"/>
                <a:gd name="csX5" fmla="*/ 6167305 w 6270627"/>
                <a:gd name="csY5" fmla="*/ 619920 h 619920"/>
                <a:gd name="csX6" fmla="*/ 103322 w 6270627"/>
                <a:gd name="csY6" fmla="*/ 619920 h 619920"/>
                <a:gd name="csX7" fmla="*/ 0 w 6270627"/>
                <a:gd name="csY7" fmla="*/ 516598 h 619920"/>
                <a:gd name="csX8" fmla="*/ 0 w 6270627"/>
                <a:gd name="csY8" fmla="*/ 103322 h 619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270627" h="619920">
                  <a:moveTo>
                    <a:pt x="0" y="103322"/>
                  </a:moveTo>
                  <a:cubicBezTo>
                    <a:pt x="0" y="46259"/>
                    <a:pt x="46259" y="0"/>
                    <a:pt x="103322" y="0"/>
                  </a:cubicBezTo>
                  <a:lnTo>
                    <a:pt x="6167305" y="0"/>
                  </a:lnTo>
                  <a:cubicBezTo>
                    <a:pt x="6224368" y="0"/>
                    <a:pt x="6270627" y="46259"/>
                    <a:pt x="6270627" y="103322"/>
                  </a:cubicBezTo>
                  <a:lnTo>
                    <a:pt x="6270627" y="516598"/>
                  </a:lnTo>
                  <a:cubicBezTo>
                    <a:pt x="6270627" y="573661"/>
                    <a:pt x="6224368" y="619920"/>
                    <a:pt x="6167305" y="619920"/>
                  </a:cubicBezTo>
                  <a:lnTo>
                    <a:pt x="103322" y="619920"/>
                  </a:lnTo>
                  <a:cubicBezTo>
                    <a:pt x="46259" y="619920"/>
                    <a:pt x="0" y="573661"/>
                    <a:pt x="0" y="516598"/>
                  </a:cubicBezTo>
                  <a:lnTo>
                    <a:pt x="0" y="103322"/>
                  </a:lnTo>
                  <a:close/>
                </a:path>
              </a:pathLst>
            </a:custGeom>
          </p:spPr>
          <p:style>
            <a:lnRef idx="2">
              <a:schemeClr val="lt1">
                <a:hueOff val="0"/>
                <a:satOff val="0"/>
                <a:lumOff val="0"/>
                <a:alphaOff val="0"/>
              </a:schemeClr>
            </a:lnRef>
            <a:fillRef idx="1">
              <a:schemeClr val="accent4">
                <a:hueOff val="-594301"/>
                <a:satOff val="10890"/>
                <a:lumOff val="1373"/>
                <a:alphaOff val="0"/>
              </a:schemeClr>
            </a:fillRef>
            <a:effectRef idx="0">
              <a:schemeClr val="accent4">
                <a:hueOff val="-594301"/>
                <a:satOff val="10890"/>
                <a:lumOff val="1373"/>
                <a:alphaOff val="0"/>
              </a:schemeClr>
            </a:effectRef>
            <a:fontRef idx="minor">
              <a:schemeClr val="lt1"/>
            </a:fontRef>
          </p:style>
          <p:txBody>
            <a:bodyPr spcFirstLastPara="0" vert="horz" wrap="square" lIns="267277" tIns="30262" rIns="267277" bIns="30262" numCol="1" spcCol="1270" anchor="ctr" anchorCtr="0">
              <a:noAutofit/>
            </a:bodyPr>
            <a:lstStyle/>
            <a:p>
              <a:pPr marL="0" lvl="0" indent="0" algn="l" defTabSz="800100">
                <a:lnSpc>
                  <a:spcPct val="90000"/>
                </a:lnSpc>
                <a:spcBef>
                  <a:spcPct val="0"/>
                </a:spcBef>
                <a:spcAft>
                  <a:spcPct val="35000"/>
                </a:spcAft>
                <a:buNone/>
              </a:pPr>
              <a:r>
                <a:rPr lang="es-CL" sz="1800" kern="1200" noProof="0" dirty="0">
                  <a:latin typeface="Eras Medium ITC" panose="020B0602030504020804" pitchFamily="34" charset="0"/>
                </a:rPr>
                <a:t>Motivación: recolección de credenciales y por el otro la monetización.</a:t>
              </a:r>
            </a:p>
          </p:txBody>
        </p:sp>
        <p:sp>
          <p:nvSpPr>
            <p:cNvPr id="20" name="Rectángulo 19">
              <a:extLst>
                <a:ext uri="{FF2B5EF4-FFF2-40B4-BE49-F238E27FC236}">
                  <a16:creationId xmlns:a16="http://schemas.microsoft.com/office/drawing/2014/main" id="{DA4872C1-094E-AA98-987F-CC6C073A2899}"/>
                </a:ext>
              </a:extLst>
            </p:cNvPr>
            <p:cNvSpPr/>
            <p:nvPr/>
          </p:nvSpPr>
          <p:spPr>
            <a:xfrm>
              <a:off x="2784018" y="3982161"/>
              <a:ext cx="8958039" cy="529200"/>
            </a:xfrm>
            <a:prstGeom prst="rect">
              <a:avLst/>
            </a:prstGeom>
          </p:spPr>
          <p:style>
            <a:lnRef idx="2">
              <a:schemeClr val="accent4">
                <a:hueOff val="-1188603"/>
                <a:satOff val="21780"/>
                <a:lumOff val="2745"/>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CL" noProof="0" dirty="0"/>
            </a:p>
          </p:txBody>
        </p:sp>
        <p:sp>
          <p:nvSpPr>
            <p:cNvPr id="21" name="Forma libre: forma 20">
              <a:extLst>
                <a:ext uri="{FF2B5EF4-FFF2-40B4-BE49-F238E27FC236}">
                  <a16:creationId xmlns:a16="http://schemas.microsoft.com/office/drawing/2014/main" id="{303F2D81-D07C-100B-47F2-CF03E4ACA5B3}"/>
                </a:ext>
              </a:extLst>
            </p:cNvPr>
            <p:cNvSpPr/>
            <p:nvPr/>
          </p:nvSpPr>
          <p:spPr>
            <a:xfrm>
              <a:off x="3189942" y="3701232"/>
              <a:ext cx="8163857" cy="619920"/>
            </a:xfrm>
            <a:custGeom>
              <a:avLst/>
              <a:gdLst>
                <a:gd name="csX0" fmla="*/ 0 w 6270627"/>
                <a:gd name="csY0" fmla="*/ 103322 h 619920"/>
                <a:gd name="csX1" fmla="*/ 103322 w 6270627"/>
                <a:gd name="csY1" fmla="*/ 0 h 619920"/>
                <a:gd name="csX2" fmla="*/ 6167305 w 6270627"/>
                <a:gd name="csY2" fmla="*/ 0 h 619920"/>
                <a:gd name="csX3" fmla="*/ 6270627 w 6270627"/>
                <a:gd name="csY3" fmla="*/ 103322 h 619920"/>
                <a:gd name="csX4" fmla="*/ 6270627 w 6270627"/>
                <a:gd name="csY4" fmla="*/ 516598 h 619920"/>
                <a:gd name="csX5" fmla="*/ 6167305 w 6270627"/>
                <a:gd name="csY5" fmla="*/ 619920 h 619920"/>
                <a:gd name="csX6" fmla="*/ 103322 w 6270627"/>
                <a:gd name="csY6" fmla="*/ 619920 h 619920"/>
                <a:gd name="csX7" fmla="*/ 0 w 6270627"/>
                <a:gd name="csY7" fmla="*/ 516598 h 619920"/>
                <a:gd name="csX8" fmla="*/ 0 w 6270627"/>
                <a:gd name="csY8" fmla="*/ 103322 h 619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270627" h="619920">
                  <a:moveTo>
                    <a:pt x="0" y="103322"/>
                  </a:moveTo>
                  <a:cubicBezTo>
                    <a:pt x="0" y="46259"/>
                    <a:pt x="46259" y="0"/>
                    <a:pt x="103322" y="0"/>
                  </a:cubicBezTo>
                  <a:lnTo>
                    <a:pt x="6167305" y="0"/>
                  </a:lnTo>
                  <a:cubicBezTo>
                    <a:pt x="6224368" y="0"/>
                    <a:pt x="6270627" y="46259"/>
                    <a:pt x="6270627" y="103322"/>
                  </a:cubicBezTo>
                  <a:lnTo>
                    <a:pt x="6270627" y="516598"/>
                  </a:lnTo>
                  <a:cubicBezTo>
                    <a:pt x="6270627" y="573661"/>
                    <a:pt x="6224368" y="619920"/>
                    <a:pt x="6167305" y="619920"/>
                  </a:cubicBezTo>
                  <a:lnTo>
                    <a:pt x="103322" y="619920"/>
                  </a:lnTo>
                  <a:cubicBezTo>
                    <a:pt x="46259" y="619920"/>
                    <a:pt x="0" y="573661"/>
                    <a:pt x="0" y="516598"/>
                  </a:cubicBezTo>
                  <a:lnTo>
                    <a:pt x="0" y="103322"/>
                  </a:lnTo>
                  <a:close/>
                </a:path>
              </a:pathLst>
            </a:custGeom>
          </p:spPr>
          <p:style>
            <a:lnRef idx="2">
              <a:schemeClr val="lt1">
                <a:hueOff val="0"/>
                <a:satOff val="0"/>
                <a:lumOff val="0"/>
                <a:alphaOff val="0"/>
              </a:schemeClr>
            </a:lnRef>
            <a:fillRef idx="1">
              <a:schemeClr val="accent4">
                <a:hueOff val="-1188603"/>
                <a:satOff val="21780"/>
                <a:lumOff val="2745"/>
                <a:alphaOff val="0"/>
              </a:schemeClr>
            </a:fillRef>
            <a:effectRef idx="0">
              <a:schemeClr val="accent4">
                <a:hueOff val="-1188603"/>
                <a:satOff val="21780"/>
                <a:lumOff val="2745"/>
                <a:alphaOff val="0"/>
              </a:schemeClr>
            </a:effectRef>
            <a:fontRef idx="minor">
              <a:schemeClr val="lt1"/>
            </a:fontRef>
          </p:style>
          <p:txBody>
            <a:bodyPr spcFirstLastPara="0" vert="horz" wrap="square" lIns="267277" tIns="30262" rIns="267277" bIns="30262" numCol="1" spcCol="1270" anchor="ctr" anchorCtr="0">
              <a:noAutofit/>
            </a:bodyPr>
            <a:lstStyle/>
            <a:p>
              <a:pPr marL="0" lvl="0" indent="0" algn="l" defTabSz="800100">
                <a:lnSpc>
                  <a:spcPct val="90000"/>
                </a:lnSpc>
                <a:spcBef>
                  <a:spcPct val="0"/>
                </a:spcBef>
                <a:spcAft>
                  <a:spcPct val="35000"/>
                </a:spcAft>
                <a:buNone/>
              </a:pPr>
              <a:r>
                <a:rPr lang="es-CL" sz="1800" kern="1200" noProof="0" dirty="0">
                  <a:latin typeface="Eras Medium ITC" panose="020B0602030504020804" pitchFamily="34" charset="0"/>
                </a:rPr>
                <a:t>Superficie de ataque: digital </a:t>
              </a:r>
              <a:r>
                <a:rPr lang="es-CL" sz="1800" kern="1200" noProof="0" dirty="0">
                  <a:latin typeface="Eras Medium ITC" panose="020B0602030504020804" pitchFamily="34" charset="0"/>
                  <a:sym typeface="Wingdings" panose="05000000000000000000" pitchFamily="2" charset="2"/>
                </a:rPr>
                <a:t></a:t>
              </a:r>
              <a:r>
                <a:rPr lang="es-CL" sz="1800" kern="1200" noProof="0" dirty="0">
                  <a:latin typeface="Eras Medium ITC" panose="020B0602030504020804" pitchFamily="34" charset="0"/>
                </a:rPr>
                <a:t>  físico. </a:t>
              </a:r>
            </a:p>
          </p:txBody>
        </p:sp>
        <p:sp>
          <p:nvSpPr>
            <p:cNvPr id="22" name="Rectángulo 21">
              <a:extLst>
                <a:ext uri="{FF2B5EF4-FFF2-40B4-BE49-F238E27FC236}">
                  <a16:creationId xmlns:a16="http://schemas.microsoft.com/office/drawing/2014/main" id="{B5470192-6707-64B9-DCD2-9D6A42160329}"/>
                </a:ext>
              </a:extLst>
            </p:cNvPr>
            <p:cNvSpPr/>
            <p:nvPr/>
          </p:nvSpPr>
          <p:spPr>
            <a:xfrm>
              <a:off x="2784018" y="4934722"/>
              <a:ext cx="8958039" cy="529200"/>
            </a:xfrm>
            <a:prstGeom prst="rect">
              <a:avLst/>
            </a:prstGeom>
          </p:spPr>
          <p:style>
            <a:lnRef idx="2">
              <a:schemeClr val="accent4">
                <a:hueOff val="-1782904"/>
                <a:satOff val="32670"/>
                <a:lumOff val="4118"/>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CL" noProof="0" dirty="0"/>
            </a:p>
          </p:txBody>
        </p:sp>
        <p:sp>
          <p:nvSpPr>
            <p:cNvPr id="23" name="Forma libre: forma 22">
              <a:extLst>
                <a:ext uri="{FF2B5EF4-FFF2-40B4-BE49-F238E27FC236}">
                  <a16:creationId xmlns:a16="http://schemas.microsoft.com/office/drawing/2014/main" id="{E42E754B-451E-A6E6-3E50-9CD82639B26B}"/>
                </a:ext>
              </a:extLst>
            </p:cNvPr>
            <p:cNvSpPr/>
            <p:nvPr/>
          </p:nvSpPr>
          <p:spPr>
            <a:xfrm>
              <a:off x="3189942" y="4653792"/>
              <a:ext cx="8163857" cy="619920"/>
            </a:xfrm>
            <a:custGeom>
              <a:avLst/>
              <a:gdLst>
                <a:gd name="csX0" fmla="*/ 0 w 6270627"/>
                <a:gd name="csY0" fmla="*/ 103322 h 619920"/>
                <a:gd name="csX1" fmla="*/ 103322 w 6270627"/>
                <a:gd name="csY1" fmla="*/ 0 h 619920"/>
                <a:gd name="csX2" fmla="*/ 6167305 w 6270627"/>
                <a:gd name="csY2" fmla="*/ 0 h 619920"/>
                <a:gd name="csX3" fmla="*/ 6270627 w 6270627"/>
                <a:gd name="csY3" fmla="*/ 103322 h 619920"/>
                <a:gd name="csX4" fmla="*/ 6270627 w 6270627"/>
                <a:gd name="csY4" fmla="*/ 516598 h 619920"/>
                <a:gd name="csX5" fmla="*/ 6167305 w 6270627"/>
                <a:gd name="csY5" fmla="*/ 619920 h 619920"/>
                <a:gd name="csX6" fmla="*/ 103322 w 6270627"/>
                <a:gd name="csY6" fmla="*/ 619920 h 619920"/>
                <a:gd name="csX7" fmla="*/ 0 w 6270627"/>
                <a:gd name="csY7" fmla="*/ 516598 h 619920"/>
                <a:gd name="csX8" fmla="*/ 0 w 6270627"/>
                <a:gd name="csY8" fmla="*/ 103322 h 619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270627" h="619920">
                  <a:moveTo>
                    <a:pt x="0" y="103322"/>
                  </a:moveTo>
                  <a:cubicBezTo>
                    <a:pt x="0" y="46259"/>
                    <a:pt x="46259" y="0"/>
                    <a:pt x="103322" y="0"/>
                  </a:cubicBezTo>
                  <a:lnTo>
                    <a:pt x="6167305" y="0"/>
                  </a:lnTo>
                  <a:cubicBezTo>
                    <a:pt x="6224368" y="0"/>
                    <a:pt x="6270627" y="46259"/>
                    <a:pt x="6270627" y="103322"/>
                  </a:cubicBezTo>
                  <a:lnTo>
                    <a:pt x="6270627" y="516598"/>
                  </a:lnTo>
                  <a:cubicBezTo>
                    <a:pt x="6270627" y="573661"/>
                    <a:pt x="6224368" y="619920"/>
                    <a:pt x="6167305" y="619920"/>
                  </a:cubicBezTo>
                  <a:lnTo>
                    <a:pt x="103322" y="619920"/>
                  </a:lnTo>
                  <a:cubicBezTo>
                    <a:pt x="46259" y="619920"/>
                    <a:pt x="0" y="573661"/>
                    <a:pt x="0" y="516598"/>
                  </a:cubicBezTo>
                  <a:lnTo>
                    <a:pt x="0" y="103322"/>
                  </a:lnTo>
                  <a:close/>
                </a:path>
              </a:pathLst>
            </a:custGeom>
          </p:spPr>
          <p:style>
            <a:lnRef idx="2">
              <a:schemeClr val="lt1">
                <a:hueOff val="0"/>
                <a:satOff val="0"/>
                <a:lumOff val="0"/>
                <a:alphaOff val="0"/>
              </a:schemeClr>
            </a:lnRef>
            <a:fillRef idx="1">
              <a:schemeClr val="accent4">
                <a:hueOff val="-1782904"/>
                <a:satOff val="32670"/>
                <a:lumOff val="4118"/>
                <a:alphaOff val="0"/>
              </a:schemeClr>
            </a:fillRef>
            <a:effectRef idx="0">
              <a:schemeClr val="accent4">
                <a:hueOff val="-1782904"/>
                <a:satOff val="32670"/>
                <a:lumOff val="4118"/>
                <a:alphaOff val="0"/>
              </a:schemeClr>
            </a:effectRef>
            <a:fontRef idx="minor">
              <a:schemeClr val="lt1"/>
            </a:fontRef>
          </p:style>
          <p:txBody>
            <a:bodyPr spcFirstLastPara="0" vert="horz" wrap="square" lIns="267277" tIns="30262" rIns="267277" bIns="30262" numCol="1" spcCol="1270" anchor="ctr" anchorCtr="0">
              <a:noAutofit/>
            </a:bodyPr>
            <a:lstStyle/>
            <a:p>
              <a:pPr marL="0" lvl="0" indent="0" algn="l" defTabSz="800100">
                <a:lnSpc>
                  <a:spcPct val="90000"/>
                </a:lnSpc>
                <a:spcBef>
                  <a:spcPct val="0"/>
                </a:spcBef>
                <a:spcAft>
                  <a:spcPct val="35000"/>
                </a:spcAft>
                <a:buNone/>
              </a:pPr>
              <a:r>
                <a:rPr lang="es-CL" sz="1800" kern="1200" noProof="0" dirty="0" err="1">
                  <a:latin typeface="Eras Medium ITC" panose="020B0602030504020804" pitchFamily="34" charset="0"/>
                </a:rPr>
                <a:t>Spoofing</a:t>
              </a:r>
              <a:r>
                <a:rPr lang="es-CL" sz="1800" kern="1200" noProof="0" dirty="0">
                  <a:latin typeface="Eras Medium ITC" panose="020B0602030504020804" pitchFamily="34" charset="0"/>
                </a:rPr>
                <a:t>: depender de la apariencia visual como indicador de seguridad.</a:t>
              </a:r>
            </a:p>
          </p:txBody>
        </p:sp>
        <p:sp>
          <p:nvSpPr>
            <p:cNvPr id="24" name="Rectángulo 23">
              <a:extLst>
                <a:ext uri="{FF2B5EF4-FFF2-40B4-BE49-F238E27FC236}">
                  <a16:creationId xmlns:a16="http://schemas.microsoft.com/office/drawing/2014/main" id="{95E31A2C-BF46-F58D-910D-9A87500E870C}"/>
                </a:ext>
              </a:extLst>
            </p:cNvPr>
            <p:cNvSpPr/>
            <p:nvPr/>
          </p:nvSpPr>
          <p:spPr>
            <a:xfrm>
              <a:off x="2784018" y="5887282"/>
              <a:ext cx="8958039" cy="529200"/>
            </a:xfrm>
            <a:prstGeom prst="rect">
              <a:avLst/>
            </a:prstGeom>
          </p:spPr>
          <p:style>
            <a:lnRef idx="2">
              <a:schemeClr val="accent4">
                <a:hueOff val="-2377205"/>
                <a:satOff val="43560"/>
                <a:lumOff val="549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s-CL" noProof="0" dirty="0"/>
            </a:p>
          </p:txBody>
        </p:sp>
        <p:sp>
          <p:nvSpPr>
            <p:cNvPr id="25" name="Forma libre: forma 24">
              <a:extLst>
                <a:ext uri="{FF2B5EF4-FFF2-40B4-BE49-F238E27FC236}">
                  <a16:creationId xmlns:a16="http://schemas.microsoft.com/office/drawing/2014/main" id="{C11EBC35-0153-8139-2EB8-F430425DFAD4}"/>
                </a:ext>
              </a:extLst>
            </p:cNvPr>
            <p:cNvSpPr/>
            <p:nvPr/>
          </p:nvSpPr>
          <p:spPr>
            <a:xfrm>
              <a:off x="3189942" y="5606352"/>
              <a:ext cx="8163857" cy="619920"/>
            </a:xfrm>
            <a:custGeom>
              <a:avLst/>
              <a:gdLst>
                <a:gd name="csX0" fmla="*/ 0 w 6270627"/>
                <a:gd name="csY0" fmla="*/ 103322 h 619920"/>
                <a:gd name="csX1" fmla="*/ 103322 w 6270627"/>
                <a:gd name="csY1" fmla="*/ 0 h 619920"/>
                <a:gd name="csX2" fmla="*/ 6167305 w 6270627"/>
                <a:gd name="csY2" fmla="*/ 0 h 619920"/>
                <a:gd name="csX3" fmla="*/ 6270627 w 6270627"/>
                <a:gd name="csY3" fmla="*/ 103322 h 619920"/>
                <a:gd name="csX4" fmla="*/ 6270627 w 6270627"/>
                <a:gd name="csY4" fmla="*/ 516598 h 619920"/>
                <a:gd name="csX5" fmla="*/ 6167305 w 6270627"/>
                <a:gd name="csY5" fmla="*/ 619920 h 619920"/>
                <a:gd name="csX6" fmla="*/ 103322 w 6270627"/>
                <a:gd name="csY6" fmla="*/ 619920 h 619920"/>
                <a:gd name="csX7" fmla="*/ 0 w 6270627"/>
                <a:gd name="csY7" fmla="*/ 516598 h 619920"/>
                <a:gd name="csX8" fmla="*/ 0 w 6270627"/>
                <a:gd name="csY8" fmla="*/ 103322 h 619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270627" h="619920">
                  <a:moveTo>
                    <a:pt x="0" y="103322"/>
                  </a:moveTo>
                  <a:cubicBezTo>
                    <a:pt x="0" y="46259"/>
                    <a:pt x="46259" y="0"/>
                    <a:pt x="103322" y="0"/>
                  </a:cubicBezTo>
                  <a:lnTo>
                    <a:pt x="6167305" y="0"/>
                  </a:lnTo>
                  <a:cubicBezTo>
                    <a:pt x="6224368" y="0"/>
                    <a:pt x="6270627" y="46259"/>
                    <a:pt x="6270627" y="103322"/>
                  </a:cubicBezTo>
                  <a:lnTo>
                    <a:pt x="6270627" y="516598"/>
                  </a:lnTo>
                  <a:cubicBezTo>
                    <a:pt x="6270627" y="573661"/>
                    <a:pt x="6224368" y="619920"/>
                    <a:pt x="6167305" y="619920"/>
                  </a:cubicBezTo>
                  <a:lnTo>
                    <a:pt x="103322" y="619920"/>
                  </a:lnTo>
                  <a:cubicBezTo>
                    <a:pt x="46259" y="619920"/>
                    <a:pt x="0" y="573661"/>
                    <a:pt x="0" y="516598"/>
                  </a:cubicBezTo>
                  <a:lnTo>
                    <a:pt x="0" y="103322"/>
                  </a:lnTo>
                  <a:close/>
                </a:path>
              </a:pathLst>
            </a:custGeom>
          </p:spPr>
          <p:style>
            <a:lnRef idx="2">
              <a:schemeClr val="lt1">
                <a:hueOff val="0"/>
                <a:satOff val="0"/>
                <a:lumOff val="0"/>
                <a:alphaOff val="0"/>
              </a:schemeClr>
            </a:lnRef>
            <a:fillRef idx="1">
              <a:schemeClr val="accent4">
                <a:hueOff val="-2377205"/>
                <a:satOff val="43560"/>
                <a:lumOff val="5490"/>
                <a:alphaOff val="0"/>
              </a:schemeClr>
            </a:fillRef>
            <a:effectRef idx="0">
              <a:schemeClr val="accent4">
                <a:hueOff val="-2377205"/>
                <a:satOff val="43560"/>
                <a:lumOff val="5490"/>
                <a:alphaOff val="0"/>
              </a:schemeClr>
            </a:effectRef>
            <a:fontRef idx="minor">
              <a:schemeClr val="lt1"/>
            </a:fontRef>
          </p:style>
          <p:txBody>
            <a:bodyPr spcFirstLastPara="0" vert="horz" wrap="square" lIns="267277" tIns="30262" rIns="267277" bIns="30262" numCol="1" spcCol="1270" anchor="ctr" anchorCtr="0">
              <a:noAutofit/>
            </a:bodyPr>
            <a:lstStyle/>
            <a:p>
              <a:pPr marL="0" lvl="0" indent="0" algn="l" defTabSz="800100">
                <a:lnSpc>
                  <a:spcPct val="90000"/>
                </a:lnSpc>
                <a:spcBef>
                  <a:spcPct val="0"/>
                </a:spcBef>
                <a:spcAft>
                  <a:spcPct val="35000"/>
                </a:spcAft>
                <a:buNone/>
              </a:pPr>
              <a:r>
                <a:rPr lang="es-CL" sz="1800" kern="1200" noProof="0" dirty="0" err="1">
                  <a:latin typeface="Eras Medium ITC" panose="020B0602030504020804" pitchFamily="34" charset="0"/>
                </a:rPr>
                <a:t>Criptojacking</a:t>
              </a:r>
              <a:r>
                <a:rPr lang="es-CL" sz="1800" kern="1200" noProof="0" dirty="0">
                  <a:latin typeface="Eras Medium ITC" panose="020B0602030504020804" pitchFamily="34" charset="0"/>
                </a:rPr>
                <a:t>: algoritmo de hash no criptográfico FNV-1a (32 bits). </a:t>
              </a:r>
            </a:p>
          </p:txBody>
        </p:sp>
      </p:grpSp>
      <p:pic>
        <p:nvPicPr>
          <p:cNvPr id="35" name="Imagen 34">
            <a:extLst>
              <a:ext uri="{FF2B5EF4-FFF2-40B4-BE49-F238E27FC236}">
                <a16:creationId xmlns:a16="http://schemas.microsoft.com/office/drawing/2014/main" id="{C902D3EC-F10E-3103-9ABC-BE3FFE70DC7C}"/>
              </a:ext>
            </a:extLst>
          </p:cNvPr>
          <p:cNvPicPr>
            <a:picLocks noChangeAspect="1"/>
          </p:cNvPicPr>
          <p:nvPr/>
        </p:nvPicPr>
        <p:blipFill>
          <a:blip r:embed="rId4">
            <a:duotone>
              <a:schemeClr val="accent5">
                <a:shade val="45000"/>
                <a:satMod val="135000"/>
              </a:schemeClr>
              <a:prstClr val="white"/>
            </a:duotone>
            <a:extLst>
              <a:ext uri="{BEBA8EAE-BF5A-486C-A8C5-ECC9F3942E4B}">
                <a14:imgProps xmlns:a14="http://schemas.microsoft.com/office/drawing/2010/main">
                  <a14:imgLayer r:embed="rId5">
                    <a14:imgEffect>
                      <a14:sharpenSoften amount="50000"/>
                    </a14:imgEffect>
                    <a14:imgEffect>
                      <a14:brightnessContrast bright="-40000" contrast="40000"/>
                    </a14:imgEffect>
                  </a14:imgLayer>
                </a14:imgProps>
              </a:ext>
            </a:extLst>
          </a:blip>
          <a:stretch>
            <a:fillRect/>
          </a:stretch>
        </p:blipFill>
        <p:spPr>
          <a:xfrm rot="10800000">
            <a:off x="-119529" y="3452735"/>
            <a:ext cx="3429000" cy="3429000"/>
          </a:xfrm>
          <a:prstGeom prst="rect">
            <a:avLst/>
          </a:prstGeom>
        </p:spPr>
      </p:pic>
      <p:pic>
        <p:nvPicPr>
          <p:cNvPr id="37" name="Imagen 36">
            <a:extLst>
              <a:ext uri="{FF2B5EF4-FFF2-40B4-BE49-F238E27FC236}">
                <a16:creationId xmlns:a16="http://schemas.microsoft.com/office/drawing/2014/main" id="{405FF8BC-94CB-F156-26EB-02FB15D801B6}"/>
              </a:ext>
            </a:extLst>
          </p:cNvPr>
          <p:cNvPicPr>
            <a:picLocks noChangeAspect="1"/>
          </p:cNvPicPr>
          <p:nvPr/>
        </p:nvPicPr>
        <p:blipFill>
          <a:blip r:embed="rId4">
            <a:duotone>
              <a:schemeClr val="accent5">
                <a:shade val="45000"/>
                <a:satMod val="135000"/>
              </a:schemeClr>
              <a:prstClr val="white"/>
            </a:duotone>
            <a:extLst>
              <a:ext uri="{BEBA8EAE-BF5A-486C-A8C5-ECC9F3942E4B}">
                <a14:imgProps xmlns:a14="http://schemas.microsoft.com/office/drawing/2010/main">
                  <a14:imgLayer r:embed="rId5">
                    <a14:imgEffect>
                      <a14:sharpenSoften amount="50000"/>
                    </a14:imgEffect>
                    <a14:imgEffect>
                      <a14:brightnessContrast bright="-40000" contrast="40000"/>
                    </a14:imgEffect>
                  </a14:imgLayer>
                </a14:imgProps>
              </a:ext>
            </a:extLst>
          </a:blip>
          <a:stretch>
            <a:fillRect/>
          </a:stretch>
        </p:blipFill>
        <p:spPr>
          <a:xfrm>
            <a:off x="-366619" y="-23735"/>
            <a:ext cx="3429000" cy="3429000"/>
          </a:xfrm>
          <a:prstGeom prst="rect">
            <a:avLst/>
          </a:prstGeom>
        </p:spPr>
      </p:pic>
    </p:spTree>
    <p:extLst>
      <p:ext uri="{BB962C8B-B14F-4D97-AF65-F5344CB8AC3E}">
        <p14:creationId xmlns:p14="http://schemas.microsoft.com/office/powerpoint/2010/main" val="339246382"/>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83000">
              <a:schemeClr val="accent2">
                <a:lumMod val="50000"/>
              </a:schemeClr>
            </a:gs>
            <a:gs pos="33000">
              <a:schemeClr val="accent5">
                <a:lumMod val="50000"/>
              </a:schemeClr>
            </a:gs>
            <a:gs pos="0">
              <a:schemeClr val="accent6">
                <a:lumMod val="50000"/>
              </a:schemeClr>
            </a:gs>
            <a:gs pos="100000">
              <a:schemeClr val="accent1">
                <a:lumMod val="50000"/>
              </a:schemeClr>
            </a:gs>
          </a:gsLst>
          <a:lin ang="16200000" scaled="1"/>
          <a:tileRect/>
        </a:gradFill>
        <a:effectLst/>
      </p:bgPr>
    </p:bg>
    <p:spTree>
      <p:nvGrpSpPr>
        <p:cNvPr id="1" name="">
          <a:extLst>
            <a:ext uri="{FF2B5EF4-FFF2-40B4-BE49-F238E27FC236}">
              <a16:creationId xmlns:a16="http://schemas.microsoft.com/office/drawing/2014/main" id="{08B35513-8974-2850-3B70-31E259422B24}"/>
            </a:ext>
          </a:extLst>
        </p:cNvPr>
        <p:cNvGrpSpPr/>
        <p:nvPr/>
      </p:nvGrpSpPr>
      <p:grpSpPr>
        <a:xfrm>
          <a:off x="0" y="0"/>
          <a:ext cx="0" cy="0"/>
          <a:chOff x="0" y="0"/>
          <a:chExt cx="0" cy="0"/>
        </a:xfrm>
      </p:grpSpPr>
      <p:pic>
        <p:nvPicPr>
          <p:cNvPr id="65" name="Imagen 64">
            <a:extLst>
              <a:ext uri="{FF2B5EF4-FFF2-40B4-BE49-F238E27FC236}">
                <a16:creationId xmlns:a16="http://schemas.microsoft.com/office/drawing/2014/main" id="{AB27C814-BE4C-EFA5-ABD9-A96FFEE43B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7775C35A-EB1B-4064-ED7E-924237C612F2}"/>
              </a:ext>
            </a:extLst>
          </p:cNvPr>
          <p:cNvSpPr txBox="1"/>
          <p:nvPr/>
        </p:nvSpPr>
        <p:spPr>
          <a:xfrm>
            <a:off x="377371" y="330591"/>
            <a:ext cx="11437257" cy="646331"/>
          </a:xfrm>
          <a:prstGeom prst="rect">
            <a:avLst/>
          </a:prstGeom>
          <a:noFill/>
        </p:spPr>
        <p:txBody>
          <a:bodyPr wrap="square">
            <a:spAutoFit/>
          </a:bodyPr>
          <a:lstStyle/>
          <a:p>
            <a:r>
              <a:rPr lang="es-CL" sz="3600" noProof="0" dirty="0">
                <a:solidFill>
                  <a:schemeClr val="accent1">
                    <a:lumMod val="75000"/>
                  </a:schemeClr>
                </a:solidFill>
                <a:latin typeface="Eras Demi ITC" panose="020B0805030504020804" pitchFamily="34" charset="0"/>
              </a:rPr>
              <a:t>Metodología y Arquitectura del Sistema</a:t>
            </a:r>
          </a:p>
        </p:txBody>
      </p:sp>
      <p:pic>
        <p:nvPicPr>
          <p:cNvPr id="22" name="Imagen 21">
            <a:extLst>
              <a:ext uri="{FF2B5EF4-FFF2-40B4-BE49-F238E27FC236}">
                <a16:creationId xmlns:a16="http://schemas.microsoft.com/office/drawing/2014/main" id="{F6B0963B-875B-25B0-8D01-410AE0423D6D}"/>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sharpenSoften amount="50000"/>
                    </a14:imgEffect>
                    <a14:imgEffect>
                      <a14:brightnessContrast bright="-40000" contrast="40000"/>
                    </a14:imgEffect>
                  </a14:imgLayer>
                </a14:imgProps>
              </a:ext>
            </a:extLst>
          </a:blip>
          <a:stretch>
            <a:fillRect/>
          </a:stretch>
        </p:blipFill>
        <p:spPr>
          <a:xfrm rot="16200000" flipV="1">
            <a:off x="8788401" y="-1091587"/>
            <a:ext cx="5500914" cy="5500914"/>
          </a:xfrm>
          <a:prstGeom prst="rect">
            <a:avLst/>
          </a:prstGeom>
        </p:spPr>
      </p:pic>
      <p:pic>
        <p:nvPicPr>
          <p:cNvPr id="24" name="Imagen 23">
            <a:extLst>
              <a:ext uri="{FF2B5EF4-FFF2-40B4-BE49-F238E27FC236}">
                <a16:creationId xmlns:a16="http://schemas.microsoft.com/office/drawing/2014/main" id="{9C27B51D-FD23-9F4E-A708-9F343488787F}"/>
              </a:ext>
            </a:extLst>
          </p:cNvPr>
          <p:cNvPicPr>
            <a:picLocks noChangeAspect="1"/>
          </p:cNvPicPr>
          <p:nvPr/>
        </p:nvPicPr>
        <p:blipFill>
          <a:blip r:embed="rId6">
            <a:duotone>
              <a:schemeClr val="accent1">
                <a:shade val="45000"/>
                <a:satMod val="135000"/>
              </a:schemeClr>
              <a:prstClr val="white"/>
            </a:duotone>
            <a:extLst>
              <a:ext uri="{BEBA8EAE-BF5A-486C-A8C5-ECC9F3942E4B}">
                <a14:imgProps xmlns:a14="http://schemas.microsoft.com/office/drawing/2010/main">
                  <a14:imgLayer r:embed="rId5">
                    <a14:imgEffect>
                      <a14:artisticPlasticWrap/>
                    </a14:imgEffect>
                    <a14:imgEffect>
                      <a14:sharpenSoften amount="50000"/>
                    </a14:imgEffect>
                    <a14:imgEffect>
                      <a14:brightnessContrast bright="-40000" contrast="40000"/>
                    </a14:imgEffect>
                  </a14:imgLayer>
                </a14:imgProps>
              </a:ext>
            </a:extLst>
          </a:blip>
          <a:stretch>
            <a:fillRect/>
          </a:stretch>
        </p:blipFill>
        <p:spPr>
          <a:xfrm rot="5400000">
            <a:off x="8788401" y="2086817"/>
            <a:ext cx="5500914" cy="5500914"/>
          </a:xfrm>
          <a:prstGeom prst="rect">
            <a:avLst/>
          </a:prstGeom>
        </p:spPr>
      </p:pic>
      <p:sp>
        <p:nvSpPr>
          <p:cNvPr id="67" name="Flecha: a la derecha 66">
            <a:extLst>
              <a:ext uri="{FF2B5EF4-FFF2-40B4-BE49-F238E27FC236}">
                <a16:creationId xmlns:a16="http://schemas.microsoft.com/office/drawing/2014/main" id="{9C72CC41-23BF-EF52-72E3-A8D2A4BDD2F7}"/>
              </a:ext>
            </a:extLst>
          </p:cNvPr>
          <p:cNvSpPr/>
          <p:nvPr/>
        </p:nvSpPr>
        <p:spPr>
          <a:xfrm>
            <a:off x="1128485" y="1108742"/>
            <a:ext cx="6908800" cy="5418667"/>
          </a:xfrm>
          <a:prstGeom prst="rightArrow">
            <a:avLst/>
          </a:prstGeom>
          <a:ln>
            <a:solidFill>
              <a:schemeClr val="accent1">
                <a:lumMod val="75000"/>
              </a:schemeClr>
            </a:solidFill>
          </a:ln>
        </p:spPr>
        <p:style>
          <a:lnRef idx="0">
            <a:scrgbClr r="0" g="0" b="0"/>
          </a:lnRef>
          <a:fillRef idx="1">
            <a:schemeClr val="accent4">
              <a:tint val="40000"/>
              <a:hueOff val="0"/>
              <a:satOff val="0"/>
              <a:lumOff val="0"/>
              <a:alphaOff val="0"/>
            </a:schemeClr>
          </a:fillRef>
          <a:effectRef idx="0">
            <a:schemeClr val="accent4">
              <a:tint val="40000"/>
              <a:hueOff val="0"/>
              <a:satOff val="0"/>
              <a:lumOff val="0"/>
              <a:alphaOff val="0"/>
            </a:schemeClr>
          </a:effectRef>
          <a:fontRef idx="minor">
            <a:schemeClr val="dk1">
              <a:hueOff val="0"/>
              <a:satOff val="0"/>
              <a:lumOff val="0"/>
              <a:alphaOff val="0"/>
            </a:schemeClr>
          </a:fontRef>
        </p:style>
        <p:txBody>
          <a:bodyPr/>
          <a:lstStyle/>
          <a:p>
            <a:endParaRPr lang="es-CL" noProof="0" dirty="0"/>
          </a:p>
        </p:txBody>
      </p:sp>
      <p:sp>
        <p:nvSpPr>
          <p:cNvPr id="68" name="Forma libre: forma 67">
            <a:extLst>
              <a:ext uri="{FF2B5EF4-FFF2-40B4-BE49-F238E27FC236}">
                <a16:creationId xmlns:a16="http://schemas.microsoft.com/office/drawing/2014/main" id="{EB3766DC-BCD8-5FAD-C947-6627D3A02331}"/>
              </a:ext>
            </a:extLst>
          </p:cNvPr>
          <p:cNvSpPr/>
          <p:nvPr/>
        </p:nvSpPr>
        <p:spPr>
          <a:xfrm>
            <a:off x="520335"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69" name="Forma libre: forma 68">
            <a:extLst>
              <a:ext uri="{FF2B5EF4-FFF2-40B4-BE49-F238E27FC236}">
                <a16:creationId xmlns:a16="http://schemas.microsoft.com/office/drawing/2014/main" id="{EC6DDDD8-7DFB-5254-6D7A-19AED4B96C6D}"/>
              </a:ext>
            </a:extLst>
          </p:cNvPr>
          <p:cNvSpPr/>
          <p:nvPr/>
        </p:nvSpPr>
        <p:spPr>
          <a:xfrm>
            <a:off x="2578647"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792402"/>
              <a:satOff val="14520"/>
              <a:lumOff val="1830"/>
              <a:alphaOff val="0"/>
            </a:schemeClr>
          </a:fillRef>
          <a:effectRef idx="0">
            <a:schemeClr val="accent4">
              <a:hueOff val="-792402"/>
              <a:satOff val="14520"/>
              <a:lumOff val="183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r>
              <a:rPr lang="es-CL" sz="2000" b="1" kern="1200" noProof="0" dirty="0"/>
              <a:t> </a:t>
            </a:r>
            <a:endParaRPr lang="es-CL" sz="2000" kern="1200" noProof="0" dirty="0"/>
          </a:p>
        </p:txBody>
      </p:sp>
      <p:sp>
        <p:nvSpPr>
          <p:cNvPr id="70" name="Forma libre: forma 69">
            <a:extLst>
              <a:ext uri="{FF2B5EF4-FFF2-40B4-BE49-F238E27FC236}">
                <a16:creationId xmlns:a16="http://schemas.microsoft.com/office/drawing/2014/main" id="{69D59F07-C40A-CE88-9554-0A5DDC1D0097}"/>
              </a:ext>
            </a:extLst>
          </p:cNvPr>
          <p:cNvSpPr/>
          <p:nvPr/>
        </p:nvSpPr>
        <p:spPr>
          <a:xfrm>
            <a:off x="4636960"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1584803"/>
              <a:satOff val="29040"/>
              <a:lumOff val="3660"/>
              <a:alphaOff val="0"/>
            </a:schemeClr>
          </a:fillRef>
          <a:effectRef idx="0">
            <a:schemeClr val="accent4">
              <a:hueOff val="-1584803"/>
              <a:satOff val="29040"/>
              <a:lumOff val="366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1" name="Forma libre: forma 70">
            <a:extLst>
              <a:ext uri="{FF2B5EF4-FFF2-40B4-BE49-F238E27FC236}">
                <a16:creationId xmlns:a16="http://schemas.microsoft.com/office/drawing/2014/main" id="{BBF60FAD-805F-3941-7725-BD4D0BD20A7F}"/>
              </a:ext>
            </a:extLst>
          </p:cNvPr>
          <p:cNvSpPr/>
          <p:nvPr/>
        </p:nvSpPr>
        <p:spPr>
          <a:xfrm>
            <a:off x="6695272"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2377205"/>
              <a:satOff val="43560"/>
              <a:lumOff val="5490"/>
              <a:alphaOff val="0"/>
            </a:schemeClr>
          </a:fillRef>
          <a:effectRef idx="0">
            <a:schemeClr val="accent4">
              <a:hueOff val="-2377205"/>
              <a:satOff val="43560"/>
              <a:lumOff val="549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5" name="CuadroTexto 74">
            <a:extLst>
              <a:ext uri="{FF2B5EF4-FFF2-40B4-BE49-F238E27FC236}">
                <a16:creationId xmlns:a16="http://schemas.microsoft.com/office/drawing/2014/main" id="{FC0CE103-A2AA-EB1A-EC30-47BA256C2D17}"/>
              </a:ext>
            </a:extLst>
          </p:cNvPr>
          <p:cNvSpPr txBox="1"/>
          <p:nvPr/>
        </p:nvSpPr>
        <p:spPr>
          <a:xfrm>
            <a:off x="823904" y="3632511"/>
            <a:ext cx="134302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err="1">
                <a:ln>
                  <a:noFill/>
                </a:ln>
                <a:solidFill>
                  <a:prstClr val="white"/>
                </a:solidFill>
                <a:effectLst/>
                <a:uLnTx/>
                <a:uFillTx/>
                <a:latin typeface="Eras Medium ITC" panose="020B0602030504020804" pitchFamily="34" charset="0"/>
              </a:rPr>
              <a:t>Quishing</a:t>
            </a: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 </a:t>
            </a:r>
          </a:p>
        </p:txBody>
      </p:sp>
      <p:sp>
        <p:nvSpPr>
          <p:cNvPr id="77" name="CuadroTexto 76">
            <a:extLst>
              <a:ext uri="{FF2B5EF4-FFF2-40B4-BE49-F238E27FC236}">
                <a16:creationId xmlns:a16="http://schemas.microsoft.com/office/drawing/2014/main" id="{F84EA295-FA56-7F72-60B1-1BE8573AEB11}"/>
              </a:ext>
            </a:extLst>
          </p:cNvPr>
          <p:cNvSpPr txBox="1"/>
          <p:nvPr/>
        </p:nvSpPr>
        <p:spPr>
          <a:xfrm>
            <a:off x="2819331" y="3632511"/>
            <a:ext cx="146879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Interfaces </a:t>
            </a:r>
          </a:p>
        </p:txBody>
      </p:sp>
      <p:sp>
        <p:nvSpPr>
          <p:cNvPr id="81" name="CuadroTexto 80">
            <a:extLst>
              <a:ext uri="{FF2B5EF4-FFF2-40B4-BE49-F238E27FC236}">
                <a16:creationId xmlns:a16="http://schemas.microsoft.com/office/drawing/2014/main" id="{10AAE3C0-08F0-7D0E-0FE6-62E2004D98FA}"/>
              </a:ext>
            </a:extLst>
          </p:cNvPr>
          <p:cNvSpPr txBox="1"/>
          <p:nvPr/>
        </p:nvSpPr>
        <p:spPr>
          <a:xfrm>
            <a:off x="4636960" y="3632510"/>
            <a:ext cx="1950164"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err="1">
                <a:ln>
                  <a:noFill/>
                </a:ln>
                <a:solidFill>
                  <a:prstClr val="white"/>
                </a:solidFill>
                <a:effectLst/>
                <a:uLnTx/>
                <a:uFillTx/>
                <a:latin typeface="Eras Medium ITC" panose="020B0602030504020804" pitchFamily="34" charset="0"/>
              </a:rPr>
              <a:t>Criptojacking</a:t>
            </a:r>
            <a:endPar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endParaRPr>
          </a:p>
        </p:txBody>
      </p:sp>
      <p:sp>
        <p:nvSpPr>
          <p:cNvPr id="85" name="CuadroTexto 84">
            <a:extLst>
              <a:ext uri="{FF2B5EF4-FFF2-40B4-BE49-F238E27FC236}">
                <a16:creationId xmlns:a16="http://schemas.microsoft.com/office/drawing/2014/main" id="{B7189633-39C4-FB5C-727F-1C3D0FA64900}"/>
              </a:ext>
            </a:extLst>
          </p:cNvPr>
          <p:cNvSpPr txBox="1"/>
          <p:nvPr/>
        </p:nvSpPr>
        <p:spPr>
          <a:xfrm>
            <a:off x="6730089" y="3494010"/>
            <a:ext cx="1950164" cy="648126"/>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Guardar métricas</a:t>
            </a:r>
          </a:p>
        </p:txBody>
      </p:sp>
    </p:spTree>
    <p:extLst>
      <p:ext uri="{BB962C8B-B14F-4D97-AF65-F5344CB8AC3E}">
        <p14:creationId xmlns:p14="http://schemas.microsoft.com/office/powerpoint/2010/main" val="15648850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83000">
              <a:schemeClr val="accent2">
                <a:lumMod val="50000"/>
              </a:schemeClr>
            </a:gs>
            <a:gs pos="33000">
              <a:schemeClr val="accent5">
                <a:lumMod val="50000"/>
              </a:schemeClr>
            </a:gs>
            <a:gs pos="0">
              <a:schemeClr val="accent6">
                <a:lumMod val="50000"/>
              </a:schemeClr>
            </a:gs>
            <a:gs pos="100000">
              <a:schemeClr val="accent1">
                <a:lumMod val="50000"/>
              </a:schemeClr>
            </a:gs>
          </a:gsLst>
          <a:lin ang="16200000" scaled="1"/>
          <a:tileRect/>
        </a:gradFill>
        <a:effectLst/>
      </p:bgPr>
    </p:bg>
    <p:spTree>
      <p:nvGrpSpPr>
        <p:cNvPr id="1" name="">
          <a:extLst>
            <a:ext uri="{FF2B5EF4-FFF2-40B4-BE49-F238E27FC236}">
              <a16:creationId xmlns:a16="http://schemas.microsoft.com/office/drawing/2014/main" id="{9AA20695-8359-8F24-DEE4-726B0659C661}"/>
            </a:ext>
          </a:extLst>
        </p:cNvPr>
        <p:cNvGrpSpPr/>
        <p:nvPr/>
      </p:nvGrpSpPr>
      <p:grpSpPr>
        <a:xfrm>
          <a:off x="0" y="0"/>
          <a:ext cx="0" cy="0"/>
          <a:chOff x="0" y="0"/>
          <a:chExt cx="0" cy="0"/>
        </a:xfrm>
      </p:grpSpPr>
      <p:pic>
        <p:nvPicPr>
          <p:cNvPr id="65" name="Imagen 64">
            <a:extLst>
              <a:ext uri="{FF2B5EF4-FFF2-40B4-BE49-F238E27FC236}">
                <a16:creationId xmlns:a16="http://schemas.microsoft.com/office/drawing/2014/main" id="{4226DA30-F081-265C-C634-3F3BD8C15B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FF9269B2-AD97-ED96-A05E-A4BEFDF74A56}"/>
              </a:ext>
            </a:extLst>
          </p:cNvPr>
          <p:cNvSpPr txBox="1"/>
          <p:nvPr/>
        </p:nvSpPr>
        <p:spPr>
          <a:xfrm>
            <a:off x="377371" y="330591"/>
            <a:ext cx="11437257" cy="646331"/>
          </a:xfrm>
          <a:prstGeom prst="rect">
            <a:avLst/>
          </a:prstGeom>
          <a:noFill/>
        </p:spPr>
        <p:txBody>
          <a:bodyPr wrap="square">
            <a:spAutoFit/>
          </a:bodyPr>
          <a:lstStyle/>
          <a:p>
            <a:r>
              <a:rPr lang="es-CL" sz="3600" noProof="0" dirty="0">
                <a:solidFill>
                  <a:schemeClr val="accent1">
                    <a:lumMod val="75000"/>
                  </a:schemeClr>
                </a:solidFill>
                <a:latin typeface="Eras Demi ITC" panose="020B0805030504020804" pitchFamily="34" charset="0"/>
              </a:rPr>
              <a:t>Metodología y Arquitectura del Sistema</a:t>
            </a:r>
          </a:p>
        </p:txBody>
      </p:sp>
      <p:pic>
        <p:nvPicPr>
          <p:cNvPr id="22" name="Imagen 21">
            <a:extLst>
              <a:ext uri="{FF2B5EF4-FFF2-40B4-BE49-F238E27FC236}">
                <a16:creationId xmlns:a16="http://schemas.microsoft.com/office/drawing/2014/main" id="{CAFCC594-C3FF-C5D0-1F05-77D5982CB7D1}"/>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sharpenSoften amount="50000"/>
                    </a14:imgEffect>
                    <a14:imgEffect>
                      <a14:brightnessContrast bright="-40000" contrast="40000"/>
                    </a14:imgEffect>
                  </a14:imgLayer>
                </a14:imgProps>
              </a:ext>
            </a:extLst>
          </a:blip>
          <a:stretch>
            <a:fillRect/>
          </a:stretch>
        </p:blipFill>
        <p:spPr>
          <a:xfrm rot="16200000" flipV="1">
            <a:off x="8788401" y="-1091587"/>
            <a:ext cx="5500914" cy="5500914"/>
          </a:xfrm>
          <a:prstGeom prst="rect">
            <a:avLst/>
          </a:prstGeom>
        </p:spPr>
      </p:pic>
      <p:pic>
        <p:nvPicPr>
          <p:cNvPr id="24" name="Imagen 23">
            <a:extLst>
              <a:ext uri="{FF2B5EF4-FFF2-40B4-BE49-F238E27FC236}">
                <a16:creationId xmlns:a16="http://schemas.microsoft.com/office/drawing/2014/main" id="{33018D68-5E69-4BE5-0578-0A2EBFA8E0A9}"/>
              </a:ext>
            </a:extLst>
          </p:cNvPr>
          <p:cNvPicPr>
            <a:picLocks noChangeAspect="1"/>
          </p:cNvPicPr>
          <p:nvPr/>
        </p:nvPicPr>
        <p:blipFill>
          <a:blip r:embed="rId6">
            <a:duotone>
              <a:schemeClr val="accent1">
                <a:shade val="45000"/>
                <a:satMod val="135000"/>
              </a:schemeClr>
              <a:prstClr val="white"/>
            </a:duotone>
            <a:extLst>
              <a:ext uri="{BEBA8EAE-BF5A-486C-A8C5-ECC9F3942E4B}">
                <a14:imgProps xmlns:a14="http://schemas.microsoft.com/office/drawing/2010/main">
                  <a14:imgLayer r:embed="rId5">
                    <a14:imgEffect>
                      <a14:artisticPlasticWrap/>
                    </a14:imgEffect>
                    <a14:imgEffect>
                      <a14:sharpenSoften amount="50000"/>
                    </a14:imgEffect>
                    <a14:imgEffect>
                      <a14:brightnessContrast bright="-40000" contrast="40000"/>
                    </a14:imgEffect>
                  </a14:imgLayer>
                </a14:imgProps>
              </a:ext>
            </a:extLst>
          </a:blip>
          <a:stretch>
            <a:fillRect/>
          </a:stretch>
        </p:blipFill>
        <p:spPr>
          <a:xfrm rot="5400000">
            <a:off x="8788401" y="2086817"/>
            <a:ext cx="5500914" cy="5500914"/>
          </a:xfrm>
          <a:prstGeom prst="rect">
            <a:avLst/>
          </a:prstGeom>
        </p:spPr>
      </p:pic>
      <p:sp>
        <p:nvSpPr>
          <p:cNvPr id="67" name="Flecha: a la derecha 66">
            <a:extLst>
              <a:ext uri="{FF2B5EF4-FFF2-40B4-BE49-F238E27FC236}">
                <a16:creationId xmlns:a16="http://schemas.microsoft.com/office/drawing/2014/main" id="{2F7A391C-DC51-36B4-3A00-C07EE627C90B}"/>
              </a:ext>
            </a:extLst>
          </p:cNvPr>
          <p:cNvSpPr/>
          <p:nvPr/>
        </p:nvSpPr>
        <p:spPr>
          <a:xfrm>
            <a:off x="1128485" y="1108742"/>
            <a:ext cx="6908800" cy="5418667"/>
          </a:xfrm>
          <a:prstGeom prst="rightArrow">
            <a:avLst/>
          </a:prstGeom>
          <a:ln>
            <a:solidFill>
              <a:schemeClr val="accent1">
                <a:lumMod val="75000"/>
              </a:schemeClr>
            </a:solidFill>
          </a:ln>
        </p:spPr>
        <p:style>
          <a:lnRef idx="0">
            <a:scrgbClr r="0" g="0" b="0"/>
          </a:lnRef>
          <a:fillRef idx="1">
            <a:schemeClr val="accent4">
              <a:tint val="40000"/>
              <a:hueOff val="0"/>
              <a:satOff val="0"/>
              <a:lumOff val="0"/>
              <a:alphaOff val="0"/>
            </a:schemeClr>
          </a:fillRef>
          <a:effectRef idx="0">
            <a:schemeClr val="accent4">
              <a:tint val="40000"/>
              <a:hueOff val="0"/>
              <a:satOff val="0"/>
              <a:lumOff val="0"/>
              <a:alphaOff val="0"/>
            </a:schemeClr>
          </a:effectRef>
          <a:fontRef idx="minor">
            <a:schemeClr val="dk1">
              <a:hueOff val="0"/>
              <a:satOff val="0"/>
              <a:lumOff val="0"/>
              <a:alphaOff val="0"/>
            </a:schemeClr>
          </a:fontRef>
        </p:style>
        <p:txBody>
          <a:bodyPr/>
          <a:lstStyle/>
          <a:p>
            <a:endParaRPr lang="es-CL" noProof="0" dirty="0"/>
          </a:p>
        </p:txBody>
      </p:sp>
      <p:sp>
        <p:nvSpPr>
          <p:cNvPr id="69" name="Forma libre: forma 68">
            <a:extLst>
              <a:ext uri="{FF2B5EF4-FFF2-40B4-BE49-F238E27FC236}">
                <a16:creationId xmlns:a16="http://schemas.microsoft.com/office/drawing/2014/main" id="{739111BF-24BF-E555-FC4C-8A80917BF410}"/>
              </a:ext>
            </a:extLst>
          </p:cNvPr>
          <p:cNvSpPr/>
          <p:nvPr/>
        </p:nvSpPr>
        <p:spPr>
          <a:xfrm>
            <a:off x="2578647"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792402"/>
              <a:satOff val="14520"/>
              <a:lumOff val="1830"/>
              <a:alphaOff val="0"/>
            </a:schemeClr>
          </a:fillRef>
          <a:effectRef idx="0">
            <a:schemeClr val="accent4">
              <a:hueOff val="-792402"/>
              <a:satOff val="14520"/>
              <a:lumOff val="183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r>
              <a:rPr lang="es-CL" sz="2000" b="1" kern="1200" noProof="0" dirty="0"/>
              <a:t> </a:t>
            </a:r>
            <a:endParaRPr lang="es-CL" sz="2000" kern="1200" noProof="0" dirty="0"/>
          </a:p>
        </p:txBody>
      </p:sp>
      <p:sp>
        <p:nvSpPr>
          <p:cNvPr id="70" name="Forma libre: forma 69">
            <a:extLst>
              <a:ext uri="{FF2B5EF4-FFF2-40B4-BE49-F238E27FC236}">
                <a16:creationId xmlns:a16="http://schemas.microsoft.com/office/drawing/2014/main" id="{FD587860-B627-6424-E52F-01601D90117B}"/>
              </a:ext>
            </a:extLst>
          </p:cNvPr>
          <p:cNvSpPr/>
          <p:nvPr/>
        </p:nvSpPr>
        <p:spPr>
          <a:xfrm>
            <a:off x="4636960"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1584803"/>
              <a:satOff val="29040"/>
              <a:lumOff val="3660"/>
              <a:alphaOff val="0"/>
            </a:schemeClr>
          </a:fillRef>
          <a:effectRef idx="0">
            <a:schemeClr val="accent4">
              <a:hueOff val="-1584803"/>
              <a:satOff val="29040"/>
              <a:lumOff val="366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1" name="Forma libre: forma 70">
            <a:extLst>
              <a:ext uri="{FF2B5EF4-FFF2-40B4-BE49-F238E27FC236}">
                <a16:creationId xmlns:a16="http://schemas.microsoft.com/office/drawing/2014/main" id="{E361AF30-CAD5-1A97-0D94-AFB92A83D493}"/>
              </a:ext>
            </a:extLst>
          </p:cNvPr>
          <p:cNvSpPr/>
          <p:nvPr/>
        </p:nvSpPr>
        <p:spPr>
          <a:xfrm>
            <a:off x="6695272"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2377205"/>
              <a:satOff val="43560"/>
              <a:lumOff val="5490"/>
              <a:alphaOff val="0"/>
            </a:schemeClr>
          </a:fillRef>
          <a:effectRef idx="0">
            <a:schemeClr val="accent4">
              <a:hueOff val="-2377205"/>
              <a:satOff val="43560"/>
              <a:lumOff val="549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7" name="CuadroTexto 76">
            <a:extLst>
              <a:ext uri="{FF2B5EF4-FFF2-40B4-BE49-F238E27FC236}">
                <a16:creationId xmlns:a16="http://schemas.microsoft.com/office/drawing/2014/main" id="{5CFBAC05-C424-2F5B-D45A-39ACECDA260F}"/>
              </a:ext>
            </a:extLst>
          </p:cNvPr>
          <p:cNvSpPr txBox="1"/>
          <p:nvPr/>
        </p:nvSpPr>
        <p:spPr>
          <a:xfrm>
            <a:off x="2819331" y="3632511"/>
            <a:ext cx="146879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b="1" i="0" u="none" strike="noStrike" kern="1200" cap="none" spc="0" normalizeH="0" baseline="0" noProof="0" dirty="0">
                <a:ln>
                  <a:noFill/>
                </a:ln>
                <a:solidFill>
                  <a:prstClr val="white"/>
                </a:solidFill>
                <a:effectLst/>
                <a:uLnTx/>
                <a:uFillTx/>
                <a:latin typeface="Aptos" panose="02110004020202020204"/>
                <a:ea typeface="+mn-ea"/>
                <a:cs typeface="+mn-cs"/>
              </a:rPr>
              <a:t>Interfaces </a:t>
            </a:r>
            <a:endParaRPr kumimoji="0" lang="es-CL"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1" name="CuadroTexto 80">
            <a:extLst>
              <a:ext uri="{FF2B5EF4-FFF2-40B4-BE49-F238E27FC236}">
                <a16:creationId xmlns:a16="http://schemas.microsoft.com/office/drawing/2014/main" id="{F324EF21-E2EF-B4DA-9779-92647DC0BB64}"/>
              </a:ext>
            </a:extLst>
          </p:cNvPr>
          <p:cNvSpPr txBox="1"/>
          <p:nvPr/>
        </p:nvSpPr>
        <p:spPr>
          <a:xfrm>
            <a:off x="4636960" y="3632510"/>
            <a:ext cx="1950164"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b="1" i="0" u="none" strike="noStrike" kern="1200" cap="none" spc="0" normalizeH="0" baseline="0" noProof="0" dirty="0" err="1">
                <a:ln>
                  <a:noFill/>
                </a:ln>
                <a:solidFill>
                  <a:prstClr val="white"/>
                </a:solidFill>
                <a:effectLst/>
                <a:uLnTx/>
                <a:uFillTx/>
                <a:latin typeface="Aptos" panose="02110004020202020204"/>
                <a:ea typeface="+mn-ea"/>
                <a:cs typeface="+mn-cs"/>
              </a:rPr>
              <a:t>Criptojacking</a:t>
            </a:r>
            <a:endParaRPr kumimoji="0" lang="es-CL"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5" name="CuadroTexto 84">
            <a:extLst>
              <a:ext uri="{FF2B5EF4-FFF2-40B4-BE49-F238E27FC236}">
                <a16:creationId xmlns:a16="http://schemas.microsoft.com/office/drawing/2014/main" id="{BD43C203-6627-8CE7-4B69-8DC3540E2E9C}"/>
              </a:ext>
            </a:extLst>
          </p:cNvPr>
          <p:cNvSpPr txBox="1"/>
          <p:nvPr/>
        </p:nvSpPr>
        <p:spPr>
          <a:xfrm>
            <a:off x="6730089" y="3494010"/>
            <a:ext cx="1950164" cy="648126"/>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b="1" i="0" u="none" strike="noStrike" kern="1200" cap="none" spc="0" normalizeH="0" baseline="0" noProof="0" dirty="0">
                <a:ln>
                  <a:noFill/>
                </a:ln>
                <a:solidFill>
                  <a:prstClr val="white"/>
                </a:solidFill>
                <a:effectLst/>
                <a:uLnTx/>
                <a:uFillTx/>
                <a:latin typeface="Aptos" panose="02110004020202020204"/>
                <a:ea typeface="+mn-ea"/>
                <a:cs typeface="+mn-cs"/>
              </a:rPr>
              <a:t>Guardar métricas</a:t>
            </a:r>
            <a:endParaRPr kumimoji="0" lang="es-CL"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8" name="Forma libre: forma 67">
            <a:extLst>
              <a:ext uri="{FF2B5EF4-FFF2-40B4-BE49-F238E27FC236}">
                <a16:creationId xmlns:a16="http://schemas.microsoft.com/office/drawing/2014/main" id="{D2D64EC9-4D70-BC9D-04DE-66882A68D2B5}"/>
              </a:ext>
            </a:extLst>
          </p:cNvPr>
          <p:cNvSpPr/>
          <p:nvPr/>
        </p:nvSpPr>
        <p:spPr>
          <a:xfrm>
            <a:off x="520334" y="1108742"/>
            <a:ext cx="8125101" cy="5418667"/>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5" name="CuadroTexto 74">
            <a:extLst>
              <a:ext uri="{FF2B5EF4-FFF2-40B4-BE49-F238E27FC236}">
                <a16:creationId xmlns:a16="http://schemas.microsoft.com/office/drawing/2014/main" id="{5A724E2B-F043-B1EB-B03D-AAFC0E5417D0}"/>
              </a:ext>
            </a:extLst>
          </p:cNvPr>
          <p:cNvSpPr txBox="1"/>
          <p:nvPr/>
        </p:nvSpPr>
        <p:spPr>
          <a:xfrm>
            <a:off x="1126669" y="1473306"/>
            <a:ext cx="134302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err="1">
                <a:ln>
                  <a:noFill/>
                </a:ln>
                <a:solidFill>
                  <a:prstClr val="white"/>
                </a:solidFill>
                <a:effectLst/>
                <a:uLnTx/>
                <a:uFillTx/>
                <a:latin typeface="Eras Medium ITC" panose="020B0602030504020804" pitchFamily="34" charset="0"/>
              </a:rPr>
              <a:t>Quishing</a:t>
            </a: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 </a:t>
            </a:r>
          </a:p>
        </p:txBody>
      </p:sp>
      <p:graphicFrame>
        <p:nvGraphicFramePr>
          <p:cNvPr id="2" name="Tabla 1">
            <a:extLst>
              <a:ext uri="{FF2B5EF4-FFF2-40B4-BE49-F238E27FC236}">
                <a16:creationId xmlns:a16="http://schemas.microsoft.com/office/drawing/2014/main" id="{11A6D88C-6EAA-757A-B962-B8A3E800628C}"/>
              </a:ext>
            </a:extLst>
          </p:cNvPr>
          <p:cNvGraphicFramePr>
            <a:graphicFrameLocks noGrp="1"/>
          </p:cNvGraphicFramePr>
          <p:nvPr>
            <p:extLst>
              <p:ext uri="{D42A27DB-BD31-4B8C-83A1-F6EECF244321}">
                <p14:modId xmlns:p14="http://schemas.microsoft.com/office/powerpoint/2010/main" val="1532285806"/>
              </p:ext>
            </p:extLst>
          </p:nvPr>
        </p:nvGraphicFramePr>
        <p:xfrm>
          <a:off x="900269" y="2031635"/>
          <a:ext cx="7395376" cy="3944003"/>
        </p:xfrm>
        <a:graphic>
          <a:graphicData uri="http://schemas.openxmlformats.org/drawingml/2006/table">
            <a:tbl>
              <a:tblPr firstRow="1" firstCol="1">
                <a:tableStyleId>{00A15C55-8517-42AA-B614-E9B94910E393}</a:tableStyleId>
              </a:tblPr>
              <a:tblGrid>
                <a:gridCol w="1641697">
                  <a:extLst>
                    <a:ext uri="{9D8B030D-6E8A-4147-A177-3AD203B41FA5}">
                      <a16:colId xmlns:a16="http://schemas.microsoft.com/office/drawing/2014/main" val="1728202404"/>
                    </a:ext>
                  </a:extLst>
                </a:gridCol>
                <a:gridCol w="1641697">
                  <a:extLst>
                    <a:ext uri="{9D8B030D-6E8A-4147-A177-3AD203B41FA5}">
                      <a16:colId xmlns:a16="http://schemas.microsoft.com/office/drawing/2014/main" val="1216050048"/>
                    </a:ext>
                  </a:extLst>
                </a:gridCol>
                <a:gridCol w="2778957">
                  <a:extLst>
                    <a:ext uri="{9D8B030D-6E8A-4147-A177-3AD203B41FA5}">
                      <a16:colId xmlns:a16="http://schemas.microsoft.com/office/drawing/2014/main" val="4241309771"/>
                    </a:ext>
                  </a:extLst>
                </a:gridCol>
                <a:gridCol w="1333025">
                  <a:extLst>
                    <a:ext uri="{9D8B030D-6E8A-4147-A177-3AD203B41FA5}">
                      <a16:colId xmlns:a16="http://schemas.microsoft.com/office/drawing/2014/main" val="978393325"/>
                    </a:ext>
                  </a:extLst>
                </a:gridCol>
              </a:tblGrid>
              <a:tr h="776376">
                <a:tc>
                  <a:txBody>
                    <a:bodyPr/>
                    <a:lstStyle/>
                    <a:p>
                      <a:pPr>
                        <a:lnSpc>
                          <a:spcPct val="116000"/>
                        </a:lnSpc>
                        <a:spcAft>
                          <a:spcPts val="800"/>
                        </a:spcAft>
                        <a:buNone/>
                      </a:pPr>
                      <a:r>
                        <a:rPr lang="es-CL" sz="1600" noProof="0" dirty="0">
                          <a:effectLst/>
                          <a:latin typeface="Consolas" panose="020B0609020204030204" pitchFamily="49" charset="0"/>
                        </a:rPr>
                        <a:t>Lugar físico</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Ruta de destino</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Pretexto de confianza</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Número </a:t>
                      </a:r>
                      <a:endParaRPr lang="es-CL" sz="1800" noProof="0" dirty="0">
                        <a:effectLst/>
                        <a:latin typeface="Consolas" panose="020B0609020204030204" pitchFamily="49" charset="0"/>
                      </a:endParaRPr>
                    </a:p>
                    <a:p>
                      <a:pPr>
                        <a:lnSpc>
                          <a:spcPct val="116000"/>
                        </a:lnSpc>
                        <a:spcAft>
                          <a:spcPts val="800"/>
                        </a:spcAft>
                        <a:buNone/>
                      </a:pPr>
                      <a:r>
                        <a:rPr lang="es-CL" sz="1600" noProof="0" dirty="0">
                          <a:effectLst/>
                          <a:latin typeface="Consolas" panose="020B0609020204030204" pitchFamily="49" charset="0"/>
                        </a:rPr>
                        <a:t>de </a:t>
                      </a:r>
                      <a:r>
                        <a:rPr lang="es-CL" sz="1600" noProof="0" dirty="0" err="1">
                          <a:effectLst/>
                          <a:latin typeface="Consolas" panose="020B0609020204030204" pitchFamily="49" charset="0"/>
                        </a:rPr>
                        <a:t>QRs</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558784951"/>
                  </a:ext>
                </a:extLst>
              </a:tr>
              <a:tr h="677411">
                <a:tc>
                  <a:txBody>
                    <a:bodyPr/>
                    <a:lstStyle/>
                    <a:p>
                      <a:pPr>
                        <a:lnSpc>
                          <a:spcPct val="116000"/>
                        </a:lnSpc>
                        <a:spcAft>
                          <a:spcPts val="800"/>
                        </a:spcAft>
                        <a:buNone/>
                      </a:pPr>
                      <a:r>
                        <a:rPr lang="es-CL" sz="1600" noProof="0" dirty="0">
                          <a:effectLst/>
                          <a:latin typeface="Consolas" panose="020B0609020204030204" pitchFamily="49" charset="0"/>
                        </a:rPr>
                        <a:t>Paraderos </a:t>
                      </a:r>
                      <a:endParaRPr lang="es-CL" sz="1800" noProof="0" dirty="0">
                        <a:effectLst/>
                        <a:latin typeface="Consolas" panose="020B0609020204030204" pitchFamily="49" charset="0"/>
                      </a:endParaRPr>
                    </a:p>
                    <a:p>
                      <a:pPr>
                        <a:lnSpc>
                          <a:spcPct val="116000"/>
                        </a:lnSpc>
                        <a:spcAft>
                          <a:spcPts val="800"/>
                        </a:spcAft>
                        <a:buNone/>
                      </a:pPr>
                      <a:r>
                        <a:rPr lang="es-CL" sz="1100" noProof="0" dirty="0">
                          <a:effectLst/>
                          <a:latin typeface="Consolas" panose="020B0609020204030204" pitchFamily="49" charset="0"/>
                        </a:rPr>
                        <a:t>(2 distintos)</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/encuesta-pasaje</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Encuesta para ganar un pasaje gratis</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2</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29016409"/>
                  </a:ext>
                </a:extLst>
              </a:tr>
              <a:tr h="677411">
                <a:tc>
                  <a:txBody>
                    <a:bodyPr/>
                    <a:lstStyle/>
                    <a:p>
                      <a:pPr>
                        <a:lnSpc>
                          <a:spcPct val="116000"/>
                        </a:lnSpc>
                        <a:spcAft>
                          <a:spcPts val="800"/>
                        </a:spcAft>
                        <a:buNone/>
                      </a:pPr>
                      <a:r>
                        <a:rPr lang="es-CL" sz="1600" noProof="0" dirty="0">
                          <a:effectLst/>
                          <a:latin typeface="Consolas" panose="020B0609020204030204" pitchFamily="49" charset="0"/>
                        </a:rPr>
                        <a:t>Restaurante</a:t>
                      </a:r>
                      <a:endParaRPr lang="es-CL" sz="1800" noProof="0" dirty="0">
                        <a:effectLst/>
                        <a:latin typeface="Consolas" panose="020B0609020204030204" pitchFamily="49" charset="0"/>
                      </a:endParaRPr>
                    </a:p>
                    <a:p>
                      <a:pPr>
                        <a:lnSpc>
                          <a:spcPct val="116000"/>
                        </a:lnSpc>
                        <a:spcAft>
                          <a:spcPts val="800"/>
                        </a:spcAft>
                        <a:buNone/>
                      </a:pPr>
                      <a:r>
                        <a:rPr lang="es-CL" sz="1100" noProof="0" dirty="0">
                          <a:effectLst/>
                          <a:latin typeface="Consolas" panose="020B0609020204030204" pitchFamily="49" charset="0"/>
                        </a:rPr>
                        <a:t>(4 mesas)</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/restaurante</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Encuesta de satisfacción para ganar una bebida gratis</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4</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871920508"/>
                  </a:ext>
                </a:extLst>
              </a:tr>
              <a:tr h="677411">
                <a:tc>
                  <a:txBody>
                    <a:bodyPr/>
                    <a:lstStyle/>
                    <a:p>
                      <a:pPr>
                        <a:lnSpc>
                          <a:spcPct val="116000"/>
                        </a:lnSpc>
                        <a:spcAft>
                          <a:spcPts val="800"/>
                        </a:spcAft>
                        <a:buNone/>
                      </a:pPr>
                      <a:r>
                        <a:rPr lang="es-CL" sz="1600" noProof="0" dirty="0">
                          <a:effectLst/>
                          <a:latin typeface="Consolas" panose="020B0609020204030204" pitchFamily="49" charset="0"/>
                        </a:rPr>
                        <a:t>Ingeniería UC</a:t>
                      </a:r>
                      <a:endParaRPr lang="es-CL" sz="1800" noProof="0" dirty="0">
                        <a:effectLst/>
                        <a:latin typeface="Consolas" panose="020B0609020204030204" pitchFamily="49" charset="0"/>
                      </a:endParaRPr>
                    </a:p>
                    <a:p>
                      <a:pPr>
                        <a:lnSpc>
                          <a:spcPct val="116000"/>
                        </a:lnSpc>
                        <a:spcAft>
                          <a:spcPts val="800"/>
                        </a:spcAft>
                        <a:buNone/>
                      </a:pPr>
                      <a:r>
                        <a:rPr lang="es-CL" sz="1100" noProof="0" dirty="0">
                          <a:effectLst/>
                          <a:latin typeface="Consolas" panose="020B0609020204030204" pitchFamily="49" charset="0"/>
                        </a:rPr>
                        <a:t>(CAI)</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a:t>
                      </a:r>
                      <a:r>
                        <a:rPr lang="es-CL" sz="1600" noProof="0" dirty="0" err="1">
                          <a:effectLst/>
                          <a:latin typeface="Consolas" panose="020B0609020204030204" pitchFamily="49" charset="0"/>
                        </a:rPr>
                        <a:t>eduram</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Espacio para quejarse del wifi de la universidad</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32</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773830537"/>
                  </a:ext>
                </a:extLst>
              </a:tr>
              <a:tr h="677411">
                <a:tc>
                  <a:txBody>
                    <a:bodyPr/>
                    <a:lstStyle/>
                    <a:p>
                      <a:pPr>
                        <a:lnSpc>
                          <a:spcPct val="116000"/>
                        </a:lnSpc>
                        <a:spcAft>
                          <a:spcPts val="800"/>
                        </a:spcAft>
                        <a:buNone/>
                      </a:pPr>
                      <a:r>
                        <a:rPr lang="es-CL" sz="1600" noProof="0" dirty="0">
                          <a:effectLst/>
                          <a:latin typeface="Consolas" panose="020B0609020204030204" pitchFamily="49" charset="0"/>
                        </a:rPr>
                        <a:t>Edificio </a:t>
                      </a:r>
                      <a:endParaRPr lang="es-CL" sz="1800" noProof="0" dirty="0">
                        <a:effectLst/>
                        <a:latin typeface="Consolas" panose="020B0609020204030204" pitchFamily="49" charset="0"/>
                      </a:endParaRPr>
                    </a:p>
                    <a:p>
                      <a:pPr>
                        <a:lnSpc>
                          <a:spcPct val="116000"/>
                        </a:lnSpc>
                        <a:spcAft>
                          <a:spcPts val="800"/>
                        </a:spcAft>
                        <a:buNone/>
                      </a:pPr>
                      <a:r>
                        <a:rPr lang="es-CL" sz="1100" noProof="0" dirty="0">
                          <a:effectLst/>
                          <a:latin typeface="Consolas" panose="020B0609020204030204" pitchFamily="49" charset="0"/>
                        </a:rPr>
                        <a:t>(3 </a:t>
                      </a:r>
                      <a:r>
                        <a:rPr lang="es-CL" sz="1100" noProof="0" dirty="0" err="1">
                          <a:effectLst/>
                          <a:latin typeface="Consolas" panose="020B0609020204030204" pitchFamily="49" charset="0"/>
                        </a:rPr>
                        <a:t>asensores</a:t>
                      </a:r>
                      <a:r>
                        <a:rPr lang="es-CL" sz="1100" noProof="0" dirty="0">
                          <a:effectLst/>
                          <a:latin typeface="Consolas" panose="020B0609020204030204" pitchFamily="49" charset="0"/>
                        </a:rPr>
                        <a:t>)</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a:t>
                      </a:r>
                      <a:r>
                        <a:rPr lang="es-CL" sz="1600" noProof="0" dirty="0" err="1">
                          <a:effectLst/>
                          <a:latin typeface="Consolas" panose="020B0609020204030204" pitchFamily="49" charset="0"/>
                        </a:rPr>
                        <a:t>micomunidad</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Espacio para quejarse del alza en los gastos comunes</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3</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508556043"/>
                  </a:ext>
                </a:extLst>
              </a:tr>
            </a:tbl>
          </a:graphicData>
        </a:graphic>
      </p:graphicFrame>
    </p:spTree>
    <p:extLst>
      <p:ext uri="{BB962C8B-B14F-4D97-AF65-F5344CB8AC3E}">
        <p14:creationId xmlns:p14="http://schemas.microsoft.com/office/powerpoint/2010/main" val="20726916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83000">
              <a:schemeClr val="accent2">
                <a:lumMod val="50000"/>
              </a:schemeClr>
            </a:gs>
            <a:gs pos="33000">
              <a:schemeClr val="accent5">
                <a:lumMod val="50000"/>
              </a:schemeClr>
            </a:gs>
            <a:gs pos="0">
              <a:schemeClr val="accent6">
                <a:lumMod val="50000"/>
              </a:schemeClr>
            </a:gs>
            <a:gs pos="100000">
              <a:schemeClr val="accent1">
                <a:lumMod val="50000"/>
              </a:schemeClr>
            </a:gs>
          </a:gsLst>
          <a:lin ang="16200000" scaled="1"/>
          <a:tileRect/>
        </a:gradFill>
        <a:effectLst/>
      </p:bgPr>
    </p:bg>
    <p:spTree>
      <p:nvGrpSpPr>
        <p:cNvPr id="1" name="">
          <a:extLst>
            <a:ext uri="{FF2B5EF4-FFF2-40B4-BE49-F238E27FC236}">
              <a16:creationId xmlns:a16="http://schemas.microsoft.com/office/drawing/2014/main" id="{9C45FCD2-762D-E24F-2CFB-9C792C1220E3}"/>
            </a:ext>
          </a:extLst>
        </p:cNvPr>
        <p:cNvGrpSpPr/>
        <p:nvPr/>
      </p:nvGrpSpPr>
      <p:grpSpPr>
        <a:xfrm>
          <a:off x="0" y="0"/>
          <a:ext cx="0" cy="0"/>
          <a:chOff x="0" y="0"/>
          <a:chExt cx="0" cy="0"/>
        </a:xfrm>
      </p:grpSpPr>
      <p:pic>
        <p:nvPicPr>
          <p:cNvPr id="65" name="Imagen 64">
            <a:extLst>
              <a:ext uri="{FF2B5EF4-FFF2-40B4-BE49-F238E27FC236}">
                <a16:creationId xmlns:a16="http://schemas.microsoft.com/office/drawing/2014/main" id="{D839B16D-2D0C-AD88-4A12-C3F623B068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02B2D463-9414-A9BF-6AC1-A02AF8A43D93}"/>
              </a:ext>
            </a:extLst>
          </p:cNvPr>
          <p:cNvSpPr txBox="1"/>
          <p:nvPr/>
        </p:nvSpPr>
        <p:spPr>
          <a:xfrm>
            <a:off x="377371" y="330591"/>
            <a:ext cx="11437257" cy="646331"/>
          </a:xfrm>
          <a:prstGeom prst="rect">
            <a:avLst/>
          </a:prstGeom>
          <a:noFill/>
        </p:spPr>
        <p:txBody>
          <a:bodyPr wrap="square">
            <a:spAutoFit/>
          </a:bodyPr>
          <a:lstStyle/>
          <a:p>
            <a:r>
              <a:rPr lang="es-CL" sz="3600" noProof="0" dirty="0">
                <a:solidFill>
                  <a:schemeClr val="accent1">
                    <a:lumMod val="75000"/>
                  </a:schemeClr>
                </a:solidFill>
                <a:latin typeface="Eras Demi ITC" panose="020B0805030504020804" pitchFamily="34" charset="0"/>
              </a:rPr>
              <a:t>Metodología y Arquitectura del Sistema</a:t>
            </a:r>
          </a:p>
        </p:txBody>
      </p:sp>
      <p:pic>
        <p:nvPicPr>
          <p:cNvPr id="22" name="Imagen 21">
            <a:extLst>
              <a:ext uri="{FF2B5EF4-FFF2-40B4-BE49-F238E27FC236}">
                <a16:creationId xmlns:a16="http://schemas.microsoft.com/office/drawing/2014/main" id="{538F78D2-736B-BC54-4036-7BE27E871F44}"/>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sharpenSoften amount="50000"/>
                    </a14:imgEffect>
                    <a14:imgEffect>
                      <a14:brightnessContrast bright="-40000" contrast="40000"/>
                    </a14:imgEffect>
                  </a14:imgLayer>
                </a14:imgProps>
              </a:ext>
            </a:extLst>
          </a:blip>
          <a:stretch>
            <a:fillRect/>
          </a:stretch>
        </p:blipFill>
        <p:spPr>
          <a:xfrm rot="16200000" flipV="1">
            <a:off x="8788401" y="-1091587"/>
            <a:ext cx="5500914" cy="5500914"/>
          </a:xfrm>
          <a:prstGeom prst="rect">
            <a:avLst/>
          </a:prstGeom>
        </p:spPr>
      </p:pic>
      <p:pic>
        <p:nvPicPr>
          <p:cNvPr id="24" name="Imagen 23">
            <a:extLst>
              <a:ext uri="{FF2B5EF4-FFF2-40B4-BE49-F238E27FC236}">
                <a16:creationId xmlns:a16="http://schemas.microsoft.com/office/drawing/2014/main" id="{F174163F-0E85-518E-E1E0-60C0136B2488}"/>
              </a:ext>
            </a:extLst>
          </p:cNvPr>
          <p:cNvPicPr>
            <a:picLocks noChangeAspect="1"/>
          </p:cNvPicPr>
          <p:nvPr/>
        </p:nvPicPr>
        <p:blipFill>
          <a:blip r:embed="rId6">
            <a:duotone>
              <a:schemeClr val="accent1">
                <a:shade val="45000"/>
                <a:satMod val="135000"/>
              </a:schemeClr>
              <a:prstClr val="white"/>
            </a:duotone>
            <a:extLst>
              <a:ext uri="{BEBA8EAE-BF5A-486C-A8C5-ECC9F3942E4B}">
                <a14:imgProps xmlns:a14="http://schemas.microsoft.com/office/drawing/2010/main">
                  <a14:imgLayer r:embed="rId5">
                    <a14:imgEffect>
                      <a14:artisticPlasticWrap/>
                    </a14:imgEffect>
                    <a14:imgEffect>
                      <a14:sharpenSoften amount="50000"/>
                    </a14:imgEffect>
                    <a14:imgEffect>
                      <a14:brightnessContrast bright="-40000" contrast="40000"/>
                    </a14:imgEffect>
                  </a14:imgLayer>
                </a14:imgProps>
              </a:ext>
            </a:extLst>
          </a:blip>
          <a:stretch>
            <a:fillRect/>
          </a:stretch>
        </p:blipFill>
        <p:spPr>
          <a:xfrm rot="5400000">
            <a:off x="8788401" y="2086817"/>
            <a:ext cx="5500914" cy="5500914"/>
          </a:xfrm>
          <a:prstGeom prst="rect">
            <a:avLst/>
          </a:prstGeom>
        </p:spPr>
      </p:pic>
      <p:sp>
        <p:nvSpPr>
          <p:cNvPr id="67" name="Flecha: a la derecha 66">
            <a:extLst>
              <a:ext uri="{FF2B5EF4-FFF2-40B4-BE49-F238E27FC236}">
                <a16:creationId xmlns:a16="http://schemas.microsoft.com/office/drawing/2014/main" id="{C528AED9-A371-371E-9D98-A287A572FBB0}"/>
              </a:ext>
            </a:extLst>
          </p:cNvPr>
          <p:cNvSpPr/>
          <p:nvPr/>
        </p:nvSpPr>
        <p:spPr>
          <a:xfrm>
            <a:off x="1128485" y="1108742"/>
            <a:ext cx="6908800" cy="5418667"/>
          </a:xfrm>
          <a:prstGeom prst="rightArrow">
            <a:avLst/>
          </a:prstGeom>
          <a:ln>
            <a:solidFill>
              <a:schemeClr val="accent1">
                <a:lumMod val="75000"/>
              </a:schemeClr>
            </a:solidFill>
          </a:ln>
        </p:spPr>
        <p:style>
          <a:lnRef idx="0">
            <a:scrgbClr r="0" g="0" b="0"/>
          </a:lnRef>
          <a:fillRef idx="1">
            <a:schemeClr val="accent4">
              <a:tint val="40000"/>
              <a:hueOff val="0"/>
              <a:satOff val="0"/>
              <a:lumOff val="0"/>
              <a:alphaOff val="0"/>
            </a:schemeClr>
          </a:fillRef>
          <a:effectRef idx="0">
            <a:schemeClr val="accent4">
              <a:tint val="40000"/>
              <a:hueOff val="0"/>
              <a:satOff val="0"/>
              <a:lumOff val="0"/>
              <a:alphaOff val="0"/>
            </a:schemeClr>
          </a:effectRef>
          <a:fontRef idx="minor">
            <a:schemeClr val="dk1">
              <a:hueOff val="0"/>
              <a:satOff val="0"/>
              <a:lumOff val="0"/>
              <a:alphaOff val="0"/>
            </a:schemeClr>
          </a:fontRef>
        </p:style>
        <p:txBody>
          <a:bodyPr/>
          <a:lstStyle/>
          <a:p>
            <a:endParaRPr lang="es-CL" noProof="0" dirty="0"/>
          </a:p>
        </p:txBody>
      </p:sp>
      <p:sp>
        <p:nvSpPr>
          <p:cNvPr id="69" name="Forma libre: forma 68">
            <a:extLst>
              <a:ext uri="{FF2B5EF4-FFF2-40B4-BE49-F238E27FC236}">
                <a16:creationId xmlns:a16="http://schemas.microsoft.com/office/drawing/2014/main" id="{E8287F87-BC9D-CD47-7915-D970E71AADCE}"/>
              </a:ext>
            </a:extLst>
          </p:cNvPr>
          <p:cNvSpPr/>
          <p:nvPr/>
        </p:nvSpPr>
        <p:spPr>
          <a:xfrm>
            <a:off x="2578647"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792402"/>
              <a:satOff val="14520"/>
              <a:lumOff val="1830"/>
              <a:alphaOff val="0"/>
            </a:schemeClr>
          </a:fillRef>
          <a:effectRef idx="0">
            <a:schemeClr val="accent4">
              <a:hueOff val="-792402"/>
              <a:satOff val="14520"/>
              <a:lumOff val="183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r>
              <a:rPr lang="es-CL" sz="2000" b="1" kern="1200" noProof="0" dirty="0"/>
              <a:t> </a:t>
            </a:r>
            <a:endParaRPr lang="es-CL" sz="2000" kern="1200" noProof="0" dirty="0"/>
          </a:p>
        </p:txBody>
      </p:sp>
      <p:sp>
        <p:nvSpPr>
          <p:cNvPr id="70" name="Forma libre: forma 69">
            <a:extLst>
              <a:ext uri="{FF2B5EF4-FFF2-40B4-BE49-F238E27FC236}">
                <a16:creationId xmlns:a16="http://schemas.microsoft.com/office/drawing/2014/main" id="{5376B7D7-79CA-35B1-6D61-F99B35C974AC}"/>
              </a:ext>
            </a:extLst>
          </p:cNvPr>
          <p:cNvSpPr/>
          <p:nvPr/>
        </p:nvSpPr>
        <p:spPr>
          <a:xfrm>
            <a:off x="4636960"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1584803"/>
              <a:satOff val="29040"/>
              <a:lumOff val="3660"/>
              <a:alphaOff val="0"/>
            </a:schemeClr>
          </a:fillRef>
          <a:effectRef idx="0">
            <a:schemeClr val="accent4">
              <a:hueOff val="-1584803"/>
              <a:satOff val="29040"/>
              <a:lumOff val="366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1" name="Forma libre: forma 70">
            <a:extLst>
              <a:ext uri="{FF2B5EF4-FFF2-40B4-BE49-F238E27FC236}">
                <a16:creationId xmlns:a16="http://schemas.microsoft.com/office/drawing/2014/main" id="{03E453C2-733A-1840-AE19-61192565DE52}"/>
              </a:ext>
            </a:extLst>
          </p:cNvPr>
          <p:cNvSpPr/>
          <p:nvPr/>
        </p:nvSpPr>
        <p:spPr>
          <a:xfrm>
            <a:off x="6695272"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2377205"/>
              <a:satOff val="43560"/>
              <a:lumOff val="5490"/>
              <a:alphaOff val="0"/>
            </a:schemeClr>
          </a:fillRef>
          <a:effectRef idx="0">
            <a:schemeClr val="accent4">
              <a:hueOff val="-2377205"/>
              <a:satOff val="43560"/>
              <a:lumOff val="549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7" name="CuadroTexto 76">
            <a:extLst>
              <a:ext uri="{FF2B5EF4-FFF2-40B4-BE49-F238E27FC236}">
                <a16:creationId xmlns:a16="http://schemas.microsoft.com/office/drawing/2014/main" id="{C3162410-915B-E9B5-C3CF-632D38EEB8EC}"/>
              </a:ext>
            </a:extLst>
          </p:cNvPr>
          <p:cNvSpPr txBox="1"/>
          <p:nvPr/>
        </p:nvSpPr>
        <p:spPr>
          <a:xfrm>
            <a:off x="2819331" y="3632511"/>
            <a:ext cx="146879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b="1" i="0" u="none" strike="noStrike" kern="1200" cap="none" spc="0" normalizeH="0" baseline="0" noProof="0" dirty="0">
                <a:ln>
                  <a:noFill/>
                </a:ln>
                <a:solidFill>
                  <a:prstClr val="white"/>
                </a:solidFill>
                <a:effectLst/>
                <a:uLnTx/>
                <a:uFillTx/>
                <a:latin typeface="Aptos" panose="02110004020202020204"/>
                <a:ea typeface="+mn-ea"/>
                <a:cs typeface="+mn-cs"/>
              </a:rPr>
              <a:t>Interfaces </a:t>
            </a:r>
            <a:endParaRPr kumimoji="0" lang="es-CL"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1" name="CuadroTexto 80">
            <a:extLst>
              <a:ext uri="{FF2B5EF4-FFF2-40B4-BE49-F238E27FC236}">
                <a16:creationId xmlns:a16="http://schemas.microsoft.com/office/drawing/2014/main" id="{042EFBBD-A21F-B53D-A591-0617D21289BB}"/>
              </a:ext>
            </a:extLst>
          </p:cNvPr>
          <p:cNvSpPr txBox="1"/>
          <p:nvPr/>
        </p:nvSpPr>
        <p:spPr>
          <a:xfrm>
            <a:off x="4636960" y="3632510"/>
            <a:ext cx="1950164"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b="1" i="0" u="none" strike="noStrike" kern="1200" cap="none" spc="0" normalizeH="0" baseline="0" noProof="0" dirty="0" err="1">
                <a:ln>
                  <a:noFill/>
                </a:ln>
                <a:solidFill>
                  <a:prstClr val="white"/>
                </a:solidFill>
                <a:effectLst/>
                <a:uLnTx/>
                <a:uFillTx/>
                <a:latin typeface="Aptos" panose="02110004020202020204"/>
                <a:ea typeface="+mn-ea"/>
                <a:cs typeface="+mn-cs"/>
              </a:rPr>
              <a:t>Criptojacking</a:t>
            </a:r>
            <a:endParaRPr kumimoji="0" lang="es-CL"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5" name="CuadroTexto 84">
            <a:extLst>
              <a:ext uri="{FF2B5EF4-FFF2-40B4-BE49-F238E27FC236}">
                <a16:creationId xmlns:a16="http://schemas.microsoft.com/office/drawing/2014/main" id="{57D4174F-C88D-F75B-654C-E1A591A53F91}"/>
              </a:ext>
            </a:extLst>
          </p:cNvPr>
          <p:cNvSpPr txBox="1"/>
          <p:nvPr/>
        </p:nvSpPr>
        <p:spPr>
          <a:xfrm>
            <a:off x="6730089" y="3494010"/>
            <a:ext cx="1950164" cy="648126"/>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b="1" i="0" u="none" strike="noStrike" kern="1200" cap="none" spc="0" normalizeH="0" baseline="0" noProof="0" dirty="0">
                <a:ln>
                  <a:noFill/>
                </a:ln>
                <a:solidFill>
                  <a:prstClr val="white"/>
                </a:solidFill>
                <a:effectLst/>
                <a:uLnTx/>
                <a:uFillTx/>
                <a:latin typeface="Aptos" panose="02110004020202020204"/>
                <a:ea typeface="+mn-ea"/>
                <a:cs typeface="+mn-cs"/>
              </a:rPr>
              <a:t>Guardar métricas</a:t>
            </a:r>
            <a:endParaRPr kumimoji="0" lang="es-CL"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8" name="Forma libre: forma 67">
            <a:extLst>
              <a:ext uri="{FF2B5EF4-FFF2-40B4-BE49-F238E27FC236}">
                <a16:creationId xmlns:a16="http://schemas.microsoft.com/office/drawing/2014/main" id="{47301186-1DFD-5CCB-3DB3-CF97A54862B3}"/>
              </a:ext>
            </a:extLst>
          </p:cNvPr>
          <p:cNvSpPr/>
          <p:nvPr/>
        </p:nvSpPr>
        <p:spPr>
          <a:xfrm>
            <a:off x="520334" y="1108742"/>
            <a:ext cx="8125101" cy="5418667"/>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5" name="CuadroTexto 74">
            <a:extLst>
              <a:ext uri="{FF2B5EF4-FFF2-40B4-BE49-F238E27FC236}">
                <a16:creationId xmlns:a16="http://schemas.microsoft.com/office/drawing/2014/main" id="{9F4AE489-789B-AE3D-AF84-512C12BC2867}"/>
              </a:ext>
            </a:extLst>
          </p:cNvPr>
          <p:cNvSpPr txBox="1"/>
          <p:nvPr/>
        </p:nvSpPr>
        <p:spPr>
          <a:xfrm>
            <a:off x="1126669" y="1473306"/>
            <a:ext cx="134302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err="1">
                <a:ln>
                  <a:noFill/>
                </a:ln>
                <a:solidFill>
                  <a:prstClr val="white"/>
                </a:solidFill>
                <a:effectLst/>
                <a:uLnTx/>
                <a:uFillTx/>
                <a:latin typeface="Eras Medium ITC" panose="020B0602030504020804" pitchFamily="34" charset="0"/>
              </a:rPr>
              <a:t>Quishing</a:t>
            </a: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 </a:t>
            </a:r>
          </a:p>
        </p:txBody>
      </p:sp>
      <p:grpSp>
        <p:nvGrpSpPr>
          <p:cNvPr id="8" name="Grupo 7">
            <a:extLst>
              <a:ext uri="{FF2B5EF4-FFF2-40B4-BE49-F238E27FC236}">
                <a16:creationId xmlns:a16="http://schemas.microsoft.com/office/drawing/2014/main" id="{383FDB3F-2B6C-82EF-2495-7DFD40ED0637}"/>
              </a:ext>
            </a:extLst>
          </p:cNvPr>
          <p:cNvGrpSpPr/>
          <p:nvPr/>
        </p:nvGrpSpPr>
        <p:grpSpPr>
          <a:xfrm>
            <a:off x="3832884" y="1475632"/>
            <a:ext cx="4292177" cy="4684882"/>
            <a:chOff x="2128502" y="-819192"/>
            <a:chExt cx="5943600" cy="6977380"/>
          </a:xfrm>
        </p:grpSpPr>
        <p:pic>
          <p:nvPicPr>
            <p:cNvPr id="3" name="drawing">
              <a:extLst>
                <a:ext uri="{FF2B5EF4-FFF2-40B4-BE49-F238E27FC236}">
                  <a16:creationId xmlns:a16="http://schemas.microsoft.com/office/drawing/2014/main" id="{448E4D60-F73C-7467-602B-63B2990F8E1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128502" y="-819192"/>
              <a:ext cx="2623820" cy="3194685"/>
            </a:xfrm>
            <a:prstGeom prst="rect">
              <a:avLst/>
            </a:prstGeom>
          </p:spPr>
        </p:pic>
        <p:pic>
          <p:nvPicPr>
            <p:cNvPr id="4" name="drawing">
              <a:extLst>
                <a:ext uri="{FF2B5EF4-FFF2-40B4-BE49-F238E27FC236}">
                  <a16:creationId xmlns:a16="http://schemas.microsoft.com/office/drawing/2014/main" id="{C82DD125-554E-AAFD-8C10-D46709A557D3}"/>
                </a:ext>
              </a:extLst>
            </p:cNvPr>
            <p:cNvPicPr>
              <a:picLocks noChangeAspect="1"/>
            </p:cNvPicPr>
            <p:nvPr/>
          </p:nvPicPr>
          <p:blipFill>
            <a:blip r:embed="rId8" cstate="print">
              <a:extLst>
                <a:ext uri="{28A0092B-C50C-407E-A947-70E740481C1C}">
                  <a14:useLocalDpi xmlns:a14="http://schemas.microsoft.com/office/drawing/2010/main" val="0"/>
                </a:ext>
              </a:extLst>
            </a:blip>
            <a:srcRect b="34941"/>
            <a:stretch>
              <a:fillRect/>
            </a:stretch>
          </p:blipFill>
          <p:spPr>
            <a:xfrm>
              <a:off x="5019022" y="-793792"/>
              <a:ext cx="3053080" cy="2647315"/>
            </a:xfrm>
            <a:prstGeom prst="rect">
              <a:avLst/>
            </a:prstGeom>
          </p:spPr>
        </p:pic>
        <p:pic>
          <p:nvPicPr>
            <p:cNvPr id="5" name="drawing">
              <a:extLst>
                <a:ext uri="{FF2B5EF4-FFF2-40B4-BE49-F238E27FC236}">
                  <a16:creationId xmlns:a16="http://schemas.microsoft.com/office/drawing/2014/main" id="{EBCA8012-C372-718B-7C58-B3D6CCCA0D4D}"/>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038072" y="2113873"/>
              <a:ext cx="3034030" cy="4043045"/>
            </a:xfrm>
            <a:prstGeom prst="rect">
              <a:avLst/>
            </a:prstGeom>
          </p:spPr>
        </p:pic>
        <p:pic>
          <p:nvPicPr>
            <p:cNvPr id="6" name="Imagen 5">
              <a:extLst>
                <a:ext uri="{FF2B5EF4-FFF2-40B4-BE49-F238E27FC236}">
                  <a16:creationId xmlns:a16="http://schemas.microsoft.com/office/drawing/2014/main" id="{F56BF6E4-01E9-6397-078F-C1C889E04FE6}"/>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b="2905"/>
            <a:stretch>
              <a:fillRect/>
            </a:stretch>
          </p:blipFill>
          <p:spPr bwMode="auto">
            <a:xfrm>
              <a:off x="2128502" y="2633303"/>
              <a:ext cx="2623820" cy="3524885"/>
            </a:xfrm>
            <a:prstGeom prst="rect">
              <a:avLst/>
            </a:prstGeom>
            <a:noFill/>
            <a:ln>
              <a:noFill/>
            </a:ln>
            <a:extLst>
              <a:ext uri="{53640926-AAD7-44D8-BBD7-CCE9431645EC}">
                <a14:shadowObscured xmlns:a14="http://schemas.microsoft.com/office/drawing/2010/main"/>
              </a:ext>
            </a:extLst>
          </p:spPr>
        </p:pic>
      </p:grpSp>
      <p:pic>
        <p:nvPicPr>
          <p:cNvPr id="12" name="Imagen 11">
            <a:extLst>
              <a:ext uri="{FF2B5EF4-FFF2-40B4-BE49-F238E27FC236}">
                <a16:creationId xmlns:a16="http://schemas.microsoft.com/office/drawing/2014/main" id="{2CE9269C-C3EC-9A8D-AD95-87675A629EEB}"/>
              </a:ext>
            </a:extLst>
          </p:cNvPr>
          <p:cNvPicPr>
            <a:picLocks noChangeAspect="1"/>
          </p:cNvPicPr>
          <p:nvPr/>
        </p:nvPicPr>
        <p:blipFill>
          <a:blip r:embed="rId11"/>
          <a:stretch>
            <a:fillRect/>
          </a:stretch>
        </p:blipFill>
        <p:spPr>
          <a:xfrm>
            <a:off x="718574" y="2058046"/>
            <a:ext cx="2918386" cy="3891181"/>
          </a:xfrm>
          <a:prstGeom prst="rect">
            <a:avLst/>
          </a:prstGeom>
        </p:spPr>
      </p:pic>
    </p:spTree>
    <p:extLst>
      <p:ext uri="{BB962C8B-B14F-4D97-AF65-F5344CB8AC3E}">
        <p14:creationId xmlns:p14="http://schemas.microsoft.com/office/powerpoint/2010/main" val="9178621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83000">
              <a:schemeClr val="accent2">
                <a:lumMod val="50000"/>
              </a:schemeClr>
            </a:gs>
            <a:gs pos="33000">
              <a:schemeClr val="accent5">
                <a:lumMod val="50000"/>
              </a:schemeClr>
            </a:gs>
            <a:gs pos="0">
              <a:schemeClr val="accent6">
                <a:lumMod val="50000"/>
              </a:schemeClr>
            </a:gs>
            <a:gs pos="100000">
              <a:schemeClr val="accent1">
                <a:lumMod val="50000"/>
              </a:schemeClr>
            </a:gs>
          </a:gsLst>
          <a:lin ang="16200000" scaled="1"/>
          <a:tileRect/>
        </a:gradFill>
        <a:effectLst/>
      </p:bgPr>
    </p:bg>
    <p:spTree>
      <p:nvGrpSpPr>
        <p:cNvPr id="1" name="">
          <a:extLst>
            <a:ext uri="{FF2B5EF4-FFF2-40B4-BE49-F238E27FC236}">
              <a16:creationId xmlns:a16="http://schemas.microsoft.com/office/drawing/2014/main" id="{262ED58A-FEDE-590C-32F8-A30D1051E850}"/>
            </a:ext>
          </a:extLst>
        </p:cNvPr>
        <p:cNvGrpSpPr/>
        <p:nvPr/>
      </p:nvGrpSpPr>
      <p:grpSpPr>
        <a:xfrm>
          <a:off x="0" y="0"/>
          <a:ext cx="0" cy="0"/>
          <a:chOff x="0" y="0"/>
          <a:chExt cx="0" cy="0"/>
        </a:xfrm>
      </p:grpSpPr>
      <p:pic>
        <p:nvPicPr>
          <p:cNvPr id="65" name="Imagen 64">
            <a:extLst>
              <a:ext uri="{FF2B5EF4-FFF2-40B4-BE49-F238E27FC236}">
                <a16:creationId xmlns:a16="http://schemas.microsoft.com/office/drawing/2014/main" id="{935FE7AD-B4F4-18FF-3AC7-D980FF4EF4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D5C3C6D8-B9D9-079E-370B-F1C5A4EC78CD}"/>
              </a:ext>
            </a:extLst>
          </p:cNvPr>
          <p:cNvSpPr txBox="1"/>
          <p:nvPr/>
        </p:nvSpPr>
        <p:spPr>
          <a:xfrm>
            <a:off x="377371" y="330591"/>
            <a:ext cx="11437257" cy="646331"/>
          </a:xfrm>
          <a:prstGeom prst="rect">
            <a:avLst/>
          </a:prstGeom>
          <a:noFill/>
        </p:spPr>
        <p:txBody>
          <a:bodyPr wrap="square">
            <a:spAutoFit/>
          </a:bodyPr>
          <a:lstStyle/>
          <a:p>
            <a:r>
              <a:rPr lang="es-CL" sz="3600" noProof="0" dirty="0">
                <a:solidFill>
                  <a:schemeClr val="accent1">
                    <a:lumMod val="75000"/>
                  </a:schemeClr>
                </a:solidFill>
                <a:latin typeface="Eras Demi ITC" panose="020B0805030504020804" pitchFamily="34" charset="0"/>
              </a:rPr>
              <a:t>Metodología y Arquitectura del Sistema</a:t>
            </a:r>
          </a:p>
        </p:txBody>
      </p:sp>
      <p:pic>
        <p:nvPicPr>
          <p:cNvPr id="22" name="Imagen 21">
            <a:extLst>
              <a:ext uri="{FF2B5EF4-FFF2-40B4-BE49-F238E27FC236}">
                <a16:creationId xmlns:a16="http://schemas.microsoft.com/office/drawing/2014/main" id="{A547C571-FC14-9200-583C-C6E9C3DB9817}"/>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sharpenSoften amount="50000"/>
                    </a14:imgEffect>
                    <a14:imgEffect>
                      <a14:brightnessContrast bright="-40000" contrast="40000"/>
                    </a14:imgEffect>
                  </a14:imgLayer>
                </a14:imgProps>
              </a:ext>
            </a:extLst>
          </a:blip>
          <a:stretch>
            <a:fillRect/>
          </a:stretch>
        </p:blipFill>
        <p:spPr>
          <a:xfrm rot="16200000" flipV="1">
            <a:off x="8788401" y="-1091587"/>
            <a:ext cx="5500914" cy="5500914"/>
          </a:xfrm>
          <a:prstGeom prst="rect">
            <a:avLst/>
          </a:prstGeom>
        </p:spPr>
      </p:pic>
      <p:pic>
        <p:nvPicPr>
          <p:cNvPr id="24" name="Imagen 23">
            <a:extLst>
              <a:ext uri="{FF2B5EF4-FFF2-40B4-BE49-F238E27FC236}">
                <a16:creationId xmlns:a16="http://schemas.microsoft.com/office/drawing/2014/main" id="{7D905014-5EDC-7C0A-916C-4732CA034B59}"/>
              </a:ext>
            </a:extLst>
          </p:cNvPr>
          <p:cNvPicPr>
            <a:picLocks noChangeAspect="1"/>
          </p:cNvPicPr>
          <p:nvPr/>
        </p:nvPicPr>
        <p:blipFill>
          <a:blip r:embed="rId6">
            <a:duotone>
              <a:schemeClr val="accent1">
                <a:shade val="45000"/>
                <a:satMod val="135000"/>
              </a:schemeClr>
              <a:prstClr val="white"/>
            </a:duotone>
            <a:extLst>
              <a:ext uri="{BEBA8EAE-BF5A-486C-A8C5-ECC9F3942E4B}">
                <a14:imgProps xmlns:a14="http://schemas.microsoft.com/office/drawing/2010/main">
                  <a14:imgLayer r:embed="rId5">
                    <a14:imgEffect>
                      <a14:artisticPlasticWrap/>
                    </a14:imgEffect>
                    <a14:imgEffect>
                      <a14:sharpenSoften amount="50000"/>
                    </a14:imgEffect>
                    <a14:imgEffect>
                      <a14:brightnessContrast bright="-40000" contrast="40000"/>
                    </a14:imgEffect>
                  </a14:imgLayer>
                </a14:imgProps>
              </a:ext>
            </a:extLst>
          </a:blip>
          <a:stretch>
            <a:fillRect/>
          </a:stretch>
        </p:blipFill>
        <p:spPr>
          <a:xfrm rot="5400000">
            <a:off x="8788401" y="2086817"/>
            <a:ext cx="5500914" cy="5500914"/>
          </a:xfrm>
          <a:prstGeom prst="rect">
            <a:avLst/>
          </a:prstGeom>
        </p:spPr>
      </p:pic>
      <p:sp>
        <p:nvSpPr>
          <p:cNvPr id="67" name="Flecha: a la derecha 66">
            <a:extLst>
              <a:ext uri="{FF2B5EF4-FFF2-40B4-BE49-F238E27FC236}">
                <a16:creationId xmlns:a16="http://schemas.microsoft.com/office/drawing/2014/main" id="{7162356F-5710-6073-E957-A83B6EA72446}"/>
              </a:ext>
            </a:extLst>
          </p:cNvPr>
          <p:cNvSpPr/>
          <p:nvPr/>
        </p:nvSpPr>
        <p:spPr>
          <a:xfrm>
            <a:off x="1128485" y="1108742"/>
            <a:ext cx="6908800" cy="5418667"/>
          </a:xfrm>
          <a:prstGeom prst="rightArrow">
            <a:avLst/>
          </a:prstGeom>
          <a:ln>
            <a:solidFill>
              <a:schemeClr val="accent1">
                <a:lumMod val="75000"/>
              </a:schemeClr>
            </a:solidFill>
          </a:ln>
        </p:spPr>
        <p:style>
          <a:lnRef idx="0">
            <a:scrgbClr r="0" g="0" b="0"/>
          </a:lnRef>
          <a:fillRef idx="1">
            <a:schemeClr val="accent4">
              <a:tint val="40000"/>
              <a:hueOff val="0"/>
              <a:satOff val="0"/>
              <a:lumOff val="0"/>
              <a:alphaOff val="0"/>
            </a:schemeClr>
          </a:fillRef>
          <a:effectRef idx="0">
            <a:schemeClr val="accent4">
              <a:tint val="40000"/>
              <a:hueOff val="0"/>
              <a:satOff val="0"/>
              <a:lumOff val="0"/>
              <a:alphaOff val="0"/>
            </a:schemeClr>
          </a:effectRef>
          <a:fontRef idx="minor">
            <a:schemeClr val="dk1">
              <a:hueOff val="0"/>
              <a:satOff val="0"/>
              <a:lumOff val="0"/>
              <a:alphaOff val="0"/>
            </a:schemeClr>
          </a:fontRef>
        </p:style>
        <p:txBody>
          <a:bodyPr/>
          <a:lstStyle/>
          <a:p>
            <a:endParaRPr lang="es-CL" noProof="0" dirty="0"/>
          </a:p>
        </p:txBody>
      </p:sp>
      <p:sp>
        <p:nvSpPr>
          <p:cNvPr id="68" name="Forma libre: forma 67">
            <a:extLst>
              <a:ext uri="{FF2B5EF4-FFF2-40B4-BE49-F238E27FC236}">
                <a16:creationId xmlns:a16="http://schemas.microsoft.com/office/drawing/2014/main" id="{B5E87B1B-C84D-4768-714F-0C4B2E7FB35D}"/>
              </a:ext>
            </a:extLst>
          </p:cNvPr>
          <p:cNvSpPr/>
          <p:nvPr/>
        </p:nvSpPr>
        <p:spPr>
          <a:xfrm>
            <a:off x="520335"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69" name="Forma libre: forma 68">
            <a:extLst>
              <a:ext uri="{FF2B5EF4-FFF2-40B4-BE49-F238E27FC236}">
                <a16:creationId xmlns:a16="http://schemas.microsoft.com/office/drawing/2014/main" id="{3CF9EAF5-5F83-EE3E-C218-4CF21AE9A967}"/>
              </a:ext>
            </a:extLst>
          </p:cNvPr>
          <p:cNvSpPr/>
          <p:nvPr/>
        </p:nvSpPr>
        <p:spPr>
          <a:xfrm>
            <a:off x="2578647"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792402"/>
              <a:satOff val="14520"/>
              <a:lumOff val="1830"/>
              <a:alphaOff val="0"/>
            </a:schemeClr>
          </a:fillRef>
          <a:effectRef idx="0">
            <a:schemeClr val="accent4">
              <a:hueOff val="-792402"/>
              <a:satOff val="14520"/>
              <a:lumOff val="183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r>
              <a:rPr lang="es-CL" sz="2000" b="1" kern="1200" noProof="0" dirty="0"/>
              <a:t> </a:t>
            </a:r>
            <a:endParaRPr lang="es-CL" sz="2000" kern="1200" noProof="0" dirty="0"/>
          </a:p>
        </p:txBody>
      </p:sp>
      <p:sp>
        <p:nvSpPr>
          <p:cNvPr id="70" name="Forma libre: forma 69">
            <a:extLst>
              <a:ext uri="{FF2B5EF4-FFF2-40B4-BE49-F238E27FC236}">
                <a16:creationId xmlns:a16="http://schemas.microsoft.com/office/drawing/2014/main" id="{E32F4469-C189-EA5A-AEFE-422FAF32C4A9}"/>
              </a:ext>
            </a:extLst>
          </p:cNvPr>
          <p:cNvSpPr/>
          <p:nvPr/>
        </p:nvSpPr>
        <p:spPr>
          <a:xfrm>
            <a:off x="4636960"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1584803"/>
              <a:satOff val="29040"/>
              <a:lumOff val="3660"/>
              <a:alphaOff val="0"/>
            </a:schemeClr>
          </a:fillRef>
          <a:effectRef idx="0">
            <a:schemeClr val="accent4">
              <a:hueOff val="-1584803"/>
              <a:satOff val="29040"/>
              <a:lumOff val="366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1" name="Forma libre: forma 70">
            <a:extLst>
              <a:ext uri="{FF2B5EF4-FFF2-40B4-BE49-F238E27FC236}">
                <a16:creationId xmlns:a16="http://schemas.microsoft.com/office/drawing/2014/main" id="{DDC7D13A-4EA1-8FF4-F9D7-0283024E9605}"/>
              </a:ext>
            </a:extLst>
          </p:cNvPr>
          <p:cNvSpPr/>
          <p:nvPr/>
        </p:nvSpPr>
        <p:spPr>
          <a:xfrm>
            <a:off x="6695272"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2377205"/>
              <a:satOff val="43560"/>
              <a:lumOff val="5490"/>
              <a:alphaOff val="0"/>
            </a:schemeClr>
          </a:fillRef>
          <a:effectRef idx="0">
            <a:schemeClr val="accent4">
              <a:hueOff val="-2377205"/>
              <a:satOff val="43560"/>
              <a:lumOff val="549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5" name="CuadroTexto 74">
            <a:extLst>
              <a:ext uri="{FF2B5EF4-FFF2-40B4-BE49-F238E27FC236}">
                <a16:creationId xmlns:a16="http://schemas.microsoft.com/office/drawing/2014/main" id="{8D759236-4E0E-F6A4-7F65-4E7AD79AA166}"/>
              </a:ext>
            </a:extLst>
          </p:cNvPr>
          <p:cNvSpPr txBox="1"/>
          <p:nvPr/>
        </p:nvSpPr>
        <p:spPr>
          <a:xfrm>
            <a:off x="823904" y="3632511"/>
            <a:ext cx="134302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err="1">
                <a:ln>
                  <a:noFill/>
                </a:ln>
                <a:solidFill>
                  <a:prstClr val="white"/>
                </a:solidFill>
                <a:effectLst/>
                <a:uLnTx/>
                <a:uFillTx/>
                <a:latin typeface="Eras Medium ITC" panose="020B0602030504020804" pitchFamily="34" charset="0"/>
              </a:rPr>
              <a:t>Quishing</a:t>
            </a: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 </a:t>
            </a:r>
          </a:p>
        </p:txBody>
      </p:sp>
      <p:sp>
        <p:nvSpPr>
          <p:cNvPr id="77" name="CuadroTexto 76">
            <a:extLst>
              <a:ext uri="{FF2B5EF4-FFF2-40B4-BE49-F238E27FC236}">
                <a16:creationId xmlns:a16="http://schemas.microsoft.com/office/drawing/2014/main" id="{8E08909F-744C-FBD2-5482-DBE58BDA6137}"/>
              </a:ext>
            </a:extLst>
          </p:cNvPr>
          <p:cNvSpPr txBox="1"/>
          <p:nvPr/>
        </p:nvSpPr>
        <p:spPr>
          <a:xfrm>
            <a:off x="2819331" y="3632511"/>
            <a:ext cx="146879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Interfaces </a:t>
            </a:r>
          </a:p>
        </p:txBody>
      </p:sp>
      <p:sp>
        <p:nvSpPr>
          <p:cNvPr id="81" name="CuadroTexto 80">
            <a:extLst>
              <a:ext uri="{FF2B5EF4-FFF2-40B4-BE49-F238E27FC236}">
                <a16:creationId xmlns:a16="http://schemas.microsoft.com/office/drawing/2014/main" id="{5F560276-539B-FC6C-7DCB-52FB9A3C9DC5}"/>
              </a:ext>
            </a:extLst>
          </p:cNvPr>
          <p:cNvSpPr txBox="1"/>
          <p:nvPr/>
        </p:nvSpPr>
        <p:spPr>
          <a:xfrm>
            <a:off x="4636960" y="3632510"/>
            <a:ext cx="1950164"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err="1">
                <a:ln>
                  <a:noFill/>
                </a:ln>
                <a:solidFill>
                  <a:prstClr val="white"/>
                </a:solidFill>
                <a:effectLst/>
                <a:uLnTx/>
                <a:uFillTx/>
                <a:latin typeface="Eras Medium ITC" panose="020B0602030504020804" pitchFamily="34" charset="0"/>
              </a:rPr>
              <a:t>Criptojacking</a:t>
            </a:r>
            <a:endPar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endParaRPr>
          </a:p>
        </p:txBody>
      </p:sp>
      <p:sp>
        <p:nvSpPr>
          <p:cNvPr id="85" name="CuadroTexto 84">
            <a:extLst>
              <a:ext uri="{FF2B5EF4-FFF2-40B4-BE49-F238E27FC236}">
                <a16:creationId xmlns:a16="http://schemas.microsoft.com/office/drawing/2014/main" id="{69C81551-201C-95AD-F414-2CA296E0A98F}"/>
              </a:ext>
            </a:extLst>
          </p:cNvPr>
          <p:cNvSpPr txBox="1"/>
          <p:nvPr/>
        </p:nvSpPr>
        <p:spPr>
          <a:xfrm>
            <a:off x="6730089" y="3494010"/>
            <a:ext cx="1950164" cy="648126"/>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Guardar métricas</a:t>
            </a:r>
          </a:p>
        </p:txBody>
      </p:sp>
    </p:spTree>
    <p:extLst>
      <p:ext uri="{BB962C8B-B14F-4D97-AF65-F5344CB8AC3E}">
        <p14:creationId xmlns:p14="http://schemas.microsoft.com/office/powerpoint/2010/main" val="8038850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83000">
              <a:schemeClr val="accent2">
                <a:lumMod val="50000"/>
              </a:schemeClr>
            </a:gs>
            <a:gs pos="33000">
              <a:schemeClr val="accent5">
                <a:lumMod val="50000"/>
              </a:schemeClr>
            </a:gs>
            <a:gs pos="0">
              <a:schemeClr val="accent6">
                <a:lumMod val="50000"/>
              </a:schemeClr>
            </a:gs>
            <a:gs pos="100000">
              <a:schemeClr val="accent1">
                <a:lumMod val="50000"/>
              </a:schemeClr>
            </a:gs>
          </a:gsLst>
          <a:lin ang="16200000" scaled="1"/>
          <a:tileRect/>
        </a:gradFill>
        <a:effectLst/>
      </p:bgPr>
    </p:bg>
    <p:spTree>
      <p:nvGrpSpPr>
        <p:cNvPr id="1" name="">
          <a:extLst>
            <a:ext uri="{FF2B5EF4-FFF2-40B4-BE49-F238E27FC236}">
              <a16:creationId xmlns:a16="http://schemas.microsoft.com/office/drawing/2014/main" id="{573D6B57-0310-FEBC-FEE4-3B9AF5A32A80}"/>
            </a:ext>
          </a:extLst>
        </p:cNvPr>
        <p:cNvGrpSpPr/>
        <p:nvPr/>
      </p:nvGrpSpPr>
      <p:grpSpPr>
        <a:xfrm>
          <a:off x="0" y="0"/>
          <a:ext cx="0" cy="0"/>
          <a:chOff x="0" y="0"/>
          <a:chExt cx="0" cy="0"/>
        </a:xfrm>
      </p:grpSpPr>
      <p:pic>
        <p:nvPicPr>
          <p:cNvPr id="65" name="Imagen 64">
            <a:extLst>
              <a:ext uri="{FF2B5EF4-FFF2-40B4-BE49-F238E27FC236}">
                <a16:creationId xmlns:a16="http://schemas.microsoft.com/office/drawing/2014/main" id="{45E4A2BE-4CCC-FAB3-274D-313E0E64D8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0DCA1FCE-D4B5-65B0-DCBF-F0B06E47B934}"/>
              </a:ext>
            </a:extLst>
          </p:cNvPr>
          <p:cNvSpPr txBox="1"/>
          <p:nvPr/>
        </p:nvSpPr>
        <p:spPr>
          <a:xfrm>
            <a:off x="377371" y="330591"/>
            <a:ext cx="11437257" cy="646331"/>
          </a:xfrm>
          <a:prstGeom prst="rect">
            <a:avLst/>
          </a:prstGeom>
          <a:noFill/>
        </p:spPr>
        <p:txBody>
          <a:bodyPr wrap="square">
            <a:spAutoFit/>
          </a:bodyPr>
          <a:lstStyle/>
          <a:p>
            <a:r>
              <a:rPr lang="es-CL" sz="3600" noProof="0" dirty="0">
                <a:solidFill>
                  <a:schemeClr val="accent1">
                    <a:lumMod val="75000"/>
                  </a:schemeClr>
                </a:solidFill>
                <a:latin typeface="Eras Demi ITC" panose="020B0805030504020804" pitchFamily="34" charset="0"/>
              </a:rPr>
              <a:t>Metodología y Arquitectura del Sistema</a:t>
            </a:r>
          </a:p>
        </p:txBody>
      </p:sp>
      <p:pic>
        <p:nvPicPr>
          <p:cNvPr id="22" name="Imagen 21">
            <a:extLst>
              <a:ext uri="{FF2B5EF4-FFF2-40B4-BE49-F238E27FC236}">
                <a16:creationId xmlns:a16="http://schemas.microsoft.com/office/drawing/2014/main" id="{D2069183-DB40-2348-8254-6B108C4CF59F}"/>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sharpenSoften amount="50000"/>
                    </a14:imgEffect>
                    <a14:imgEffect>
                      <a14:brightnessContrast bright="-40000" contrast="40000"/>
                    </a14:imgEffect>
                  </a14:imgLayer>
                </a14:imgProps>
              </a:ext>
            </a:extLst>
          </a:blip>
          <a:stretch>
            <a:fillRect/>
          </a:stretch>
        </p:blipFill>
        <p:spPr>
          <a:xfrm rot="16200000" flipV="1">
            <a:off x="8788401" y="-1091587"/>
            <a:ext cx="5500914" cy="5500914"/>
          </a:xfrm>
          <a:prstGeom prst="rect">
            <a:avLst/>
          </a:prstGeom>
        </p:spPr>
      </p:pic>
      <p:pic>
        <p:nvPicPr>
          <p:cNvPr id="24" name="Imagen 23">
            <a:extLst>
              <a:ext uri="{FF2B5EF4-FFF2-40B4-BE49-F238E27FC236}">
                <a16:creationId xmlns:a16="http://schemas.microsoft.com/office/drawing/2014/main" id="{E766C885-CC62-1651-2D3C-CEF18ABC7986}"/>
              </a:ext>
            </a:extLst>
          </p:cNvPr>
          <p:cNvPicPr>
            <a:picLocks noChangeAspect="1"/>
          </p:cNvPicPr>
          <p:nvPr/>
        </p:nvPicPr>
        <p:blipFill>
          <a:blip r:embed="rId6">
            <a:duotone>
              <a:schemeClr val="accent1">
                <a:shade val="45000"/>
                <a:satMod val="135000"/>
              </a:schemeClr>
              <a:prstClr val="white"/>
            </a:duotone>
            <a:extLst>
              <a:ext uri="{BEBA8EAE-BF5A-486C-A8C5-ECC9F3942E4B}">
                <a14:imgProps xmlns:a14="http://schemas.microsoft.com/office/drawing/2010/main">
                  <a14:imgLayer r:embed="rId5">
                    <a14:imgEffect>
                      <a14:artisticPlasticWrap/>
                    </a14:imgEffect>
                    <a14:imgEffect>
                      <a14:sharpenSoften amount="50000"/>
                    </a14:imgEffect>
                    <a14:imgEffect>
                      <a14:brightnessContrast bright="-40000" contrast="40000"/>
                    </a14:imgEffect>
                  </a14:imgLayer>
                </a14:imgProps>
              </a:ext>
            </a:extLst>
          </a:blip>
          <a:stretch>
            <a:fillRect/>
          </a:stretch>
        </p:blipFill>
        <p:spPr>
          <a:xfrm rot="5400000">
            <a:off x="8788401" y="2086817"/>
            <a:ext cx="5500914" cy="5500914"/>
          </a:xfrm>
          <a:prstGeom prst="rect">
            <a:avLst/>
          </a:prstGeom>
        </p:spPr>
      </p:pic>
      <p:sp>
        <p:nvSpPr>
          <p:cNvPr id="67" name="Flecha: a la derecha 66">
            <a:extLst>
              <a:ext uri="{FF2B5EF4-FFF2-40B4-BE49-F238E27FC236}">
                <a16:creationId xmlns:a16="http://schemas.microsoft.com/office/drawing/2014/main" id="{C5576328-25B7-C5B3-C72D-97D4D012C189}"/>
              </a:ext>
            </a:extLst>
          </p:cNvPr>
          <p:cNvSpPr/>
          <p:nvPr/>
        </p:nvSpPr>
        <p:spPr>
          <a:xfrm>
            <a:off x="1128485" y="1108742"/>
            <a:ext cx="6908800" cy="5418667"/>
          </a:xfrm>
          <a:prstGeom prst="rightArrow">
            <a:avLst/>
          </a:prstGeom>
          <a:ln>
            <a:solidFill>
              <a:schemeClr val="accent1">
                <a:lumMod val="75000"/>
              </a:schemeClr>
            </a:solidFill>
          </a:ln>
        </p:spPr>
        <p:style>
          <a:lnRef idx="0">
            <a:scrgbClr r="0" g="0" b="0"/>
          </a:lnRef>
          <a:fillRef idx="1">
            <a:schemeClr val="accent4">
              <a:tint val="40000"/>
              <a:hueOff val="0"/>
              <a:satOff val="0"/>
              <a:lumOff val="0"/>
              <a:alphaOff val="0"/>
            </a:schemeClr>
          </a:fillRef>
          <a:effectRef idx="0">
            <a:schemeClr val="accent4">
              <a:tint val="40000"/>
              <a:hueOff val="0"/>
              <a:satOff val="0"/>
              <a:lumOff val="0"/>
              <a:alphaOff val="0"/>
            </a:schemeClr>
          </a:effectRef>
          <a:fontRef idx="minor">
            <a:schemeClr val="dk1">
              <a:hueOff val="0"/>
              <a:satOff val="0"/>
              <a:lumOff val="0"/>
              <a:alphaOff val="0"/>
            </a:schemeClr>
          </a:fontRef>
        </p:style>
        <p:txBody>
          <a:bodyPr/>
          <a:lstStyle/>
          <a:p>
            <a:endParaRPr lang="es-CL" noProof="0" dirty="0"/>
          </a:p>
        </p:txBody>
      </p:sp>
      <p:sp>
        <p:nvSpPr>
          <p:cNvPr id="68" name="Forma libre: forma 67">
            <a:extLst>
              <a:ext uri="{FF2B5EF4-FFF2-40B4-BE49-F238E27FC236}">
                <a16:creationId xmlns:a16="http://schemas.microsoft.com/office/drawing/2014/main" id="{5FE07D9A-7561-DCBB-3C1C-E7EA8FF5F32C}"/>
              </a:ext>
            </a:extLst>
          </p:cNvPr>
          <p:cNvSpPr/>
          <p:nvPr/>
        </p:nvSpPr>
        <p:spPr>
          <a:xfrm>
            <a:off x="520335"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0" name="Forma libre: forma 69">
            <a:extLst>
              <a:ext uri="{FF2B5EF4-FFF2-40B4-BE49-F238E27FC236}">
                <a16:creationId xmlns:a16="http://schemas.microsoft.com/office/drawing/2014/main" id="{75780479-B604-99CC-E135-294F45BBA266}"/>
              </a:ext>
            </a:extLst>
          </p:cNvPr>
          <p:cNvSpPr/>
          <p:nvPr/>
        </p:nvSpPr>
        <p:spPr>
          <a:xfrm>
            <a:off x="5363524" y="2711763"/>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1584803"/>
              <a:satOff val="29040"/>
              <a:lumOff val="3660"/>
              <a:alphaOff val="0"/>
            </a:schemeClr>
          </a:fillRef>
          <a:effectRef idx="0">
            <a:schemeClr val="accent4">
              <a:hueOff val="-1584803"/>
              <a:satOff val="29040"/>
              <a:lumOff val="366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1" name="Forma libre: forma 70">
            <a:extLst>
              <a:ext uri="{FF2B5EF4-FFF2-40B4-BE49-F238E27FC236}">
                <a16:creationId xmlns:a16="http://schemas.microsoft.com/office/drawing/2014/main" id="{DF1AB56D-E5B4-7940-1B70-E644127D5B16}"/>
              </a:ext>
            </a:extLst>
          </p:cNvPr>
          <p:cNvSpPr/>
          <p:nvPr/>
        </p:nvSpPr>
        <p:spPr>
          <a:xfrm>
            <a:off x="6695272"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2377205"/>
              <a:satOff val="43560"/>
              <a:lumOff val="5490"/>
              <a:alphaOff val="0"/>
            </a:schemeClr>
          </a:fillRef>
          <a:effectRef idx="0">
            <a:schemeClr val="accent4">
              <a:hueOff val="-2377205"/>
              <a:satOff val="43560"/>
              <a:lumOff val="549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5" name="CuadroTexto 74">
            <a:extLst>
              <a:ext uri="{FF2B5EF4-FFF2-40B4-BE49-F238E27FC236}">
                <a16:creationId xmlns:a16="http://schemas.microsoft.com/office/drawing/2014/main" id="{B3C091F7-A108-5DD5-A50F-C168D53E8C0A}"/>
              </a:ext>
            </a:extLst>
          </p:cNvPr>
          <p:cNvSpPr txBox="1"/>
          <p:nvPr/>
        </p:nvSpPr>
        <p:spPr>
          <a:xfrm>
            <a:off x="823904" y="3632511"/>
            <a:ext cx="134302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b="1" i="0" u="none" strike="noStrike" kern="1200" cap="none" spc="0" normalizeH="0" baseline="0" noProof="0" dirty="0" err="1">
                <a:ln>
                  <a:noFill/>
                </a:ln>
                <a:solidFill>
                  <a:prstClr val="white"/>
                </a:solidFill>
                <a:effectLst/>
                <a:uLnTx/>
                <a:uFillTx/>
                <a:latin typeface="Aptos" panose="02110004020202020204"/>
                <a:ea typeface="+mn-ea"/>
                <a:cs typeface="+mn-cs"/>
              </a:rPr>
              <a:t>Quishing</a:t>
            </a:r>
            <a:r>
              <a:rPr kumimoji="0" lang="es-CL" sz="2000" b="1" i="0" u="none" strike="noStrike" kern="1200" cap="none" spc="0" normalizeH="0" baseline="0" noProof="0" dirty="0">
                <a:ln>
                  <a:noFill/>
                </a:ln>
                <a:solidFill>
                  <a:prstClr val="white"/>
                </a:solidFill>
                <a:effectLst/>
                <a:uLnTx/>
                <a:uFillTx/>
                <a:latin typeface="Aptos" panose="02110004020202020204"/>
                <a:ea typeface="+mn-ea"/>
                <a:cs typeface="+mn-cs"/>
              </a:rPr>
              <a:t> </a:t>
            </a:r>
            <a:endParaRPr kumimoji="0" lang="es-CL"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1" name="CuadroTexto 80">
            <a:extLst>
              <a:ext uri="{FF2B5EF4-FFF2-40B4-BE49-F238E27FC236}">
                <a16:creationId xmlns:a16="http://schemas.microsoft.com/office/drawing/2014/main" id="{5868678F-EB50-E97A-F3B8-DA465F1206C5}"/>
              </a:ext>
            </a:extLst>
          </p:cNvPr>
          <p:cNvSpPr txBox="1"/>
          <p:nvPr/>
        </p:nvSpPr>
        <p:spPr>
          <a:xfrm>
            <a:off x="5363524" y="3609931"/>
            <a:ext cx="1950164"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b="1" i="0" u="none" strike="noStrike" kern="1200" cap="none" spc="0" normalizeH="0" baseline="0" noProof="0" dirty="0" err="1">
                <a:ln>
                  <a:noFill/>
                </a:ln>
                <a:solidFill>
                  <a:prstClr val="white"/>
                </a:solidFill>
                <a:effectLst/>
                <a:uLnTx/>
                <a:uFillTx/>
                <a:latin typeface="Aptos" panose="02110004020202020204"/>
                <a:ea typeface="+mn-ea"/>
                <a:cs typeface="+mn-cs"/>
              </a:rPr>
              <a:t>Criptojacking</a:t>
            </a:r>
            <a:endParaRPr kumimoji="0" lang="es-CL"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5" name="CuadroTexto 84">
            <a:extLst>
              <a:ext uri="{FF2B5EF4-FFF2-40B4-BE49-F238E27FC236}">
                <a16:creationId xmlns:a16="http://schemas.microsoft.com/office/drawing/2014/main" id="{C8FB02A1-3E1F-D568-0ACF-5B9A3DA253F7}"/>
              </a:ext>
            </a:extLst>
          </p:cNvPr>
          <p:cNvSpPr txBox="1"/>
          <p:nvPr/>
        </p:nvSpPr>
        <p:spPr>
          <a:xfrm>
            <a:off x="6730089" y="3494010"/>
            <a:ext cx="1950164" cy="648126"/>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b="1" i="0" u="none" strike="noStrike" kern="1200" cap="none" spc="0" normalizeH="0" baseline="0" noProof="0" dirty="0">
                <a:ln>
                  <a:noFill/>
                </a:ln>
                <a:solidFill>
                  <a:prstClr val="white"/>
                </a:solidFill>
                <a:effectLst/>
                <a:uLnTx/>
                <a:uFillTx/>
                <a:latin typeface="Aptos" panose="02110004020202020204"/>
                <a:ea typeface="+mn-ea"/>
                <a:cs typeface="+mn-cs"/>
              </a:rPr>
              <a:t>Guardar métricas</a:t>
            </a:r>
            <a:endParaRPr kumimoji="0" lang="es-CL"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9" name="Forma libre: forma 68">
            <a:extLst>
              <a:ext uri="{FF2B5EF4-FFF2-40B4-BE49-F238E27FC236}">
                <a16:creationId xmlns:a16="http://schemas.microsoft.com/office/drawing/2014/main" id="{D8AFEB4E-8822-ED27-8B49-7DE477F866EA}"/>
              </a:ext>
            </a:extLst>
          </p:cNvPr>
          <p:cNvSpPr>
            <a:spLocks noGrp="1" noRot="1" noMove="1" noResize="1" noEditPoints="1" noAdjustHandles="1" noChangeArrowheads="1" noChangeShapeType="1"/>
          </p:cNvSpPr>
          <p:nvPr/>
        </p:nvSpPr>
        <p:spPr>
          <a:xfrm>
            <a:off x="520334" y="1108742"/>
            <a:ext cx="8125102" cy="54186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792402"/>
              <a:satOff val="14520"/>
              <a:lumOff val="1830"/>
              <a:alphaOff val="0"/>
            </a:schemeClr>
          </a:fillRef>
          <a:effectRef idx="0">
            <a:schemeClr val="accent4">
              <a:hueOff val="-792402"/>
              <a:satOff val="14520"/>
              <a:lumOff val="183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r>
              <a:rPr lang="es-CL" sz="2000" b="1" kern="1200" noProof="0" dirty="0"/>
              <a:t> </a:t>
            </a:r>
            <a:endParaRPr lang="es-CL" sz="2000" kern="1200" noProof="0" dirty="0"/>
          </a:p>
        </p:txBody>
      </p:sp>
      <p:sp>
        <p:nvSpPr>
          <p:cNvPr id="77" name="CuadroTexto 76">
            <a:extLst>
              <a:ext uri="{FF2B5EF4-FFF2-40B4-BE49-F238E27FC236}">
                <a16:creationId xmlns:a16="http://schemas.microsoft.com/office/drawing/2014/main" id="{1D28D3B3-AB6B-C8CE-6BD7-58F56DEF6891}"/>
              </a:ext>
            </a:extLst>
          </p:cNvPr>
          <p:cNvSpPr txBox="1"/>
          <p:nvPr/>
        </p:nvSpPr>
        <p:spPr>
          <a:xfrm>
            <a:off x="1001704" y="1609876"/>
            <a:ext cx="146879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Interfaces </a:t>
            </a:r>
          </a:p>
        </p:txBody>
      </p:sp>
      <p:pic>
        <p:nvPicPr>
          <p:cNvPr id="14" name="Gráfico 13" descr="QR Code con relleno sólido">
            <a:extLst>
              <a:ext uri="{FF2B5EF4-FFF2-40B4-BE49-F238E27FC236}">
                <a16:creationId xmlns:a16="http://schemas.microsoft.com/office/drawing/2014/main" id="{69329DA2-03E4-FDFD-BE97-227336A87A7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790069" y="4283569"/>
            <a:ext cx="914400" cy="914400"/>
          </a:xfrm>
          <a:prstGeom prst="rect">
            <a:avLst/>
          </a:prstGeom>
        </p:spPr>
      </p:pic>
      <p:pic>
        <p:nvPicPr>
          <p:cNvPr id="16" name="Gráfico 15" descr="World con relleno sólido">
            <a:extLst>
              <a:ext uri="{FF2B5EF4-FFF2-40B4-BE49-F238E27FC236}">
                <a16:creationId xmlns:a16="http://schemas.microsoft.com/office/drawing/2014/main" id="{97698FF2-C3A2-CA13-D1F6-D800D3AB126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043640" y="4333724"/>
            <a:ext cx="914400" cy="914400"/>
          </a:xfrm>
          <a:prstGeom prst="rect">
            <a:avLst/>
          </a:prstGeom>
        </p:spPr>
      </p:pic>
      <p:pic>
        <p:nvPicPr>
          <p:cNvPr id="18" name="Gráfico 17" descr="Database con relleno sólido">
            <a:extLst>
              <a:ext uri="{FF2B5EF4-FFF2-40B4-BE49-F238E27FC236}">
                <a16:creationId xmlns:a16="http://schemas.microsoft.com/office/drawing/2014/main" id="{A0FA97FE-9F40-1A07-8740-F7503A54B2A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790069" y="2311090"/>
            <a:ext cx="914400" cy="914400"/>
          </a:xfrm>
          <a:prstGeom prst="rect">
            <a:avLst/>
          </a:prstGeom>
        </p:spPr>
      </p:pic>
      <p:pic>
        <p:nvPicPr>
          <p:cNvPr id="20" name="Gráfico 19" descr="Web design con relleno sólido">
            <a:extLst>
              <a:ext uri="{FF2B5EF4-FFF2-40B4-BE49-F238E27FC236}">
                <a16:creationId xmlns:a16="http://schemas.microsoft.com/office/drawing/2014/main" id="{D0B17A1D-DC1E-5786-EA2C-9A7E322D5D5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052837" y="2311090"/>
            <a:ext cx="914400" cy="914400"/>
          </a:xfrm>
          <a:prstGeom prst="rect">
            <a:avLst/>
          </a:prstGeom>
        </p:spPr>
      </p:pic>
      <p:sp>
        <p:nvSpPr>
          <p:cNvPr id="25" name="CuadroTexto 24">
            <a:extLst>
              <a:ext uri="{FF2B5EF4-FFF2-40B4-BE49-F238E27FC236}">
                <a16:creationId xmlns:a16="http://schemas.microsoft.com/office/drawing/2014/main" id="{5C7D2559-108B-627C-4CA9-BB25534C4109}"/>
              </a:ext>
            </a:extLst>
          </p:cNvPr>
          <p:cNvSpPr txBox="1"/>
          <p:nvPr/>
        </p:nvSpPr>
        <p:spPr>
          <a:xfrm>
            <a:off x="1329448" y="3132413"/>
            <a:ext cx="7143750" cy="369332"/>
          </a:xfrm>
          <a:prstGeom prst="rect">
            <a:avLst/>
          </a:prstGeom>
          <a:noFill/>
        </p:spPr>
        <p:txBody>
          <a:bodyPr wrap="square">
            <a:spAutoFit/>
          </a:bodyPr>
          <a:lstStyle/>
          <a:p>
            <a:r>
              <a:rPr lang="es-CL" noProof="0" dirty="0" err="1">
                <a:solidFill>
                  <a:schemeClr val="bg1"/>
                </a:solidFill>
                <a:latin typeface="Consolas" panose="020B0609020204030204" pitchFamily="49" charset="0"/>
              </a:rPr>
              <a:t>React</a:t>
            </a:r>
            <a:r>
              <a:rPr lang="es-CL" noProof="0" dirty="0">
                <a:solidFill>
                  <a:schemeClr val="bg1"/>
                </a:solidFill>
                <a:latin typeface="Consolas" panose="020B0609020204030204" pitchFamily="49" charset="0"/>
              </a:rPr>
              <a:t> y </a:t>
            </a:r>
            <a:r>
              <a:rPr lang="es-CL" noProof="0" dirty="0" err="1">
                <a:solidFill>
                  <a:schemeClr val="bg1"/>
                </a:solidFill>
                <a:latin typeface="Consolas" panose="020B0609020204030204" pitchFamily="49" charset="0"/>
              </a:rPr>
              <a:t>TypeScript</a:t>
            </a:r>
            <a:endParaRPr lang="es-CL" noProof="0" dirty="0">
              <a:solidFill>
                <a:schemeClr val="bg1"/>
              </a:solidFill>
              <a:latin typeface="Consolas" panose="020B0609020204030204" pitchFamily="49" charset="0"/>
            </a:endParaRPr>
          </a:p>
        </p:txBody>
      </p:sp>
      <p:sp>
        <p:nvSpPr>
          <p:cNvPr id="29" name="CuadroTexto 28">
            <a:extLst>
              <a:ext uri="{FF2B5EF4-FFF2-40B4-BE49-F238E27FC236}">
                <a16:creationId xmlns:a16="http://schemas.microsoft.com/office/drawing/2014/main" id="{E61DB153-237E-2622-54A5-0DD6E90DFBC9}"/>
              </a:ext>
            </a:extLst>
          </p:cNvPr>
          <p:cNvSpPr txBox="1"/>
          <p:nvPr/>
        </p:nvSpPr>
        <p:spPr>
          <a:xfrm>
            <a:off x="5656400" y="3190295"/>
            <a:ext cx="7143750" cy="369332"/>
          </a:xfrm>
          <a:prstGeom prst="rect">
            <a:avLst/>
          </a:prstGeom>
          <a:noFill/>
        </p:spPr>
        <p:txBody>
          <a:bodyPr wrap="square">
            <a:spAutoFit/>
          </a:bodyPr>
          <a:lstStyle/>
          <a:p>
            <a:r>
              <a:rPr lang="es-CL" noProof="0" dirty="0" err="1">
                <a:solidFill>
                  <a:schemeClr val="bg1"/>
                </a:solidFill>
                <a:latin typeface="Consolas" panose="020B0609020204030204" pitchFamily="49" charset="0"/>
              </a:rPr>
              <a:t>Supabase</a:t>
            </a:r>
            <a:endParaRPr lang="es-CL" noProof="0" dirty="0">
              <a:solidFill>
                <a:schemeClr val="bg1"/>
              </a:solidFill>
              <a:latin typeface="Consolas" panose="020B0609020204030204" pitchFamily="49" charset="0"/>
            </a:endParaRPr>
          </a:p>
        </p:txBody>
      </p:sp>
      <p:sp>
        <p:nvSpPr>
          <p:cNvPr id="33" name="CuadroTexto 32">
            <a:extLst>
              <a:ext uri="{FF2B5EF4-FFF2-40B4-BE49-F238E27FC236}">
                <a16:creationId xmlns:a16="http://schemas.microsoft.com/office/drawing/2014/main" id="{EA1CEFAD-56BB-9F45-2423-575261B1F5A1}"/>
              </a:ext>
            </a:extLst>
          </p:cNvPr>
          <p:cNvSpPr txBox="1"/>
          <p:nvPr/>
        </p:nvSpPr>
        <p:spPr>
          <a:xfrm>
            <a:off x="1065085" y="5180283"/>
            <a:ext cx="7143750" cy="369332"/>
          </a:xfrm>
          <a:prstGeom prst="rect">
            <a:avLst/>
          </a:prstGeom>
          <a:noFill/>
        </p:spPr>
        <p:txBody>
          <a:bodyPr wrap="square">
            <a:spAutoFit/>
          </a:bodyPr>
          <a:lstStyle/>
          <a:p>
            <a:r>
              <a:rPr lang="es-CL" noProof="0" dirty="0" err="1">
                <a:solidFill>
                  <a:schemeClr val="bg1"/>
                </a:solidFill>
                <a:latin typeface="Consolas" panose="020B0609020204030204" pitchFamily="49" charset="0"/>
              </a:rPr>
              <a:t>Netifly</a:t>
            </a:r>
            <a:r>
              <a:rPr lang="es-CL" noProof="0" dirty="0">
                <a:solidFill>
                  <a:schemeClr val="bg1"/>
                </a:solidFill>
                <a:latin typeface="Consolas" panose="020B0609020204030204" pitchFamily="49" charset="0"/>
              </a:rPr>
              <a:t> + </a:t>
            </a:r>
            <a:r>
              <a:rPr lang="es-CL" noProof="0" dirty="0" err="1">
                <a:solidFill>
                  <a:schemeClr val="bg1"/>
                </a:solidFill>
                <a:latin typeface="Consolas" panose="020B0609020204030204" pitchFamily="49" charset="0"/>
              </a:rPr>
              <a:t>GithubActions</a:t>
            </a:r>
            <a:endParaRPr lang="es-CL" noProof="0" dirty="0">
              <a:solidFill>
                <a:schemeClr val="bg1"/>
              </a:solidFill>
              <a:latin typeface="Consolas" panose="020B0609020204030204" pitchFamily="49" charset="0"/>
            </a:endParaRPr>
          </a:p>
        </p:txBody>
      </p:sp>
      <p:sp>
        <p:nvSpPr>
          <p:cNvPr id="37" name="CuadroTexto 36">
            <a:extLst>
              <a:ext uri="{FF2B5EF4-FFF2-40B4-BE49-F238E27FC236}">
                <a16:creationId xmlns:a16="http://schemas.microsoft.com/office/drawing/2014/main" id="{8F79E78D-688C-2D4B-11C0-7AB3B0F9CB6E}"/>
              </a:ext>
            </a:extLst>
          </p:cNvPr>
          <p:cNvSpPr txBox="1"/>
          <p:nvPr/>
        </p:nvSpPr>
        <p:spPr>
          <a:xfrm>
            <a:off x="5431404" y="5180283"/>
            <a:ext cx="7143750" cy="369332"/>
          </a:xfrm>
          <a:prstGeom prst="rect">
            <a:avLst/>
          </a:prstGeom>
          <a:noFill/>
        </p:spPr>
        <p:txBody>
          <a:bodyPr wrap="square">
            <a:spAutoFit/>
          </a:bodyPr>
          <a:lstStyle/>
          <a:p>
            <a:r>
              <a:rPr lang="es-CL" noProof="0" dirty="0">
                <a:solidFill>
                  <a:schemeClr val="bg1"/>
                </a:solidFill>
                <a:latin typeface="Consolas" panose="020B0609020204030204" pitchFamily="49" charset="0"/>
              </a:rPr>
              <a:t>Generar </a:t>
            </a:r>
            <a:r>
              <a:rPr lang="es-CL" noProof="0" dirty="0" err="1">
                <a:solidFill>
                  <a:schemeClr val="bg1"/>
                </a:solidFill>
                <a:latin typeface="Consolas" panose="020B0609020204030204" pitchFamily="49" charset="0"/>
              </a:rPr>
              <a:t>QRs</a:t>
            </a:r>
            <a:r>
              <a:rPr lang="es-CL" noProof="0" dirty="0">
                <a:solidFill>
                  <a:schemeClr val="bg1"/>
                </a:solidFill>
                <a:latin typeface="Consolas" panose="020B0609020204030204" pitchFamily="49" charset="0"/>
              </a:rPr>
              <a:t> </a:t>
            </a:r>
          </a:p>
        </p:txBody>
      </p:sp>
    </p:spTree>
    <p:extLst>
      <p:ext uri="{BB962C8B-B14F-4D97-AF65-F5344CB8AC3E}">
        <p14:creationId xmlns:p14="http://schemas.microsoft.com/office/powerpoint/2010/main" val="25282165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83000">
              <a:schemeClr val="accent2">
                <a:lumMod val="50000"/>
              </a:schemeClr>
            </a:gs>
            <a:gs pos="33000">
              <a:schemeClr val="accent5">
                <a:lumMod val="50000"/>
              </a:schemeClr>
            </a:gs>
            <a:gs pos="0">
              <a:schemeClr val="accent6">
                <a:lumMod val="50000"/>
              </a:schemeClr>
            </a:gs>
            <a:gs pos="100000">
              <a:schemeClr val="accent1">
                <a:lumMod val="50000"/>
              </a:schemeClr>
            </a:gs>
          </a:gsLst>
          <a:lin ang="16200000" scaled="1"/>
          <a:tileRect/>
        </a:gradFill>
        <a:effectLst/>
      </p:bgPr>
    </p:bg>
    <p:spTree>
      <p:nvGrpSpPr>
        <p:cNvPr id="1" name="">
          <a:extLst>
            <a:ext uri="{FF2B5EF4-FFF2-40B4-BE49-F238E27FC236}">
              <a16:creationId xmlns:a16="http://schemas.microsoft.com/office/drawing/2014/main" id="{A781C68F-2C9B-B7DE-36D0-E414A96F75E6}"/>
            </a:ext>
          </a:extLst>
        </p:cNvPr>
        <p:cNvGrpSpPr/>
        <p:nvPr/>
      </p:nvGrpSpPr>
      <p:grpSpPr>
        <a:xfrm>
          <a:off x="0" y="0"/>
          <a:ext cx="0" cy="0"/>
          <a:chOff x="0" y="0"/>
          <a:chExt cx="0" cy="0"/>
        </a:xfrm>
      </p:grpSpPr>
      <p:pic>
        <p:nvPicPr>
          <p:cNvPr id="65" name="Imagen 64">
            <a:extLst>
              <a:ext uri="{FF2B5EF4-FFF2-40B4-BE49-F238E27FC236}">
                <a16:creationId xmlns:a16="http://schemas.microsoft.com/office/drawing/2014/main" id="{8533D027-1239-6590-AA86-AC84226186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48ECFAF0-DD7E-C190-4314-681724222C82}"/>
              </a:ext>
            </a:extLst>
          </p:cNvPr>
          <p:cNvSpPr txBox="1"/>
          <p:nvPr/>
        </p:nvSpPr>
        <p:spPr>
          <a:xfrm>
            <a:off x="377371" y="330591"/>
            <a:ext cx="11437257" cy="646331"/>
          </a:xfrm>
          <a:prstGeom prst="rect">
            <a:avLst/>
          </a:prstGeom>
          <a:noFill/>
        </p:spPr>
        <p:txBody>
          <a:bodyPr wrap="square">
            <a:spAutoFit/>
          </a:bodyPr>
          <a:lstStyle/>
          <a:p>
            <a:r>
              <a:rPr lang="es-CL" sz="3600" noProof="0" dirty="0">
                <a:solidFill>
                  <a:schemeClr val="accent1">
                    <a:lumMod val="75000"/>
                  </a:schemeClr>
                </a:solidFill>
                <a:latin typeface="Eras Demi ITC" panose="020B0805030504020804" pitchFamily="34" charset="0"/>
              </a:rPr>
              <a:t>Metodología y Arquitectura del Sistema</a:t>
            </a:r>
          </a:p>
        </p:txBody>
      </p:sp>
      <p:pic>
        <p:nvPicPr>
          <p:cNvPr id="22" name="Imagen 21">
            <a:extLst>
              <a:ext uri="{FF2B5EF4-FFF2-40B4-BE49-F238E27FC236}">
                <a16:creationId xmlns:a16="http://schemas.microsoft.com/office/drawing/2014/main" id="{EB339E39-F490-D3D6-8E05-228ED8E0916B}"/>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sharpenSoften amount="50000"/>
                    </a14:imgEffect>
                    <a14:imgEffect>
                      <a14:brightnessContrast bright="-40000" contrast="40000"/>
                    </a14:imgEffect>
                  </a14:imgLayer>
                </a14:imgProps>
              </a:ext>
            </a:extLst>
          </a:blip>
          <a:stretch>
            <a:fillRect/>
          </a:stretch>
        </p:blipFill>
        <p:spPr>
          <a:xfrm rot="16200000" flipV="1">
            <a:off x="8788401" y="-1091587"/>
            <a:ext cx="5500914" cy="5500914"/>
          </a:xfrm>
          <a:prstGeom prst="rect">
            <a:avLst/>
          </a:prstGeom>
        </p:spPr>
      </p:pic>
      <p:pic>
        <p:nvPicPr>
          <p:cNvPr id="24" name="Imagen 23">
            <a:extLst>
              <a:ext uri="{FF2B5EF4-FFF2-40B4-BE49-F238E27FC236}">
                <a16:creationId xmlns:a16="http://schemas.microsoft.com/office/drawing/2014/main" id="{EB497954-DB45-00DF-35D5-41161F642E17}"/>
              </a:ext>
            </a:extLst>
          </p:cNvPr>
          <p:cNvPicPr>
            <a:picLocks noChangeAspect="1"/>
          </p:cNvPicPr>
          <p:nvPr/>
        </p:nvPicPr>
        <p:blipFill>
          <a:blip r:embed="rId6">
            <a:duotone>
              <a:schemeClr val="accent1">
                <a:shade val="45000"/>
                <a:satMod val="135000"/>
              </a:schemeClr>
              <a:prstClr val="white"/>
            </a:duotone>
            <a:extLst>
              <a:ext uri="{BEBA8EAE-BF5A-486C-A8C5-ECC9F3942E4B}">
                <a14:imgProps xmlns:a14="http://schemas.microsoft.com/office/drawing/2010/main">
                  <a14:imgLayer r:embed="rId5">
                    <a14:imgEffect>
                      <a14:artisticPlasticWrap/>
                    </a14:imgEffect>
                    <a14:imgEffect>
                      <a14:sharpenSoften amount="50000"/>
                    </a14:imgEffect>
                    <a14:imgEffect>
                      <a14:brightnessContrast bright="-40000" contrast="40000"/>
                    </a14:imgEffect>
                  </a14:imgLayer>
                </a14:imgProps>
              </a:ext>
            </a:extLst>
          </a:blip>
          <a:stretch>
            <a:fillRect/>
          </a:stretch>
        </p:blipFill>
        <p:spPr>
          <a:xfrm rot="5400000">
            <a:off x="8788401" y="2086817"/>
            <a:ext cx="5500914" cy="5500914"/>
          </a:xfrm>
          <a:prstGeom prst="rect">
            <a:avLst/>
          </a:prstGeom>
        </p:spPr>
      </p:pic>
      <p:sp>
        <p:nvSpPr>
          <p:cNvPr id="67" name="Flecha: a la derecha 66">
            <a:extLst>
              <a:ext uri="{FF2B5EF4-FFF2-40B4-BE49-F238E27FC236}">
                <a16:creationId xmlns:a16="http://schemas.microsoft.com/office/drawing/2014/main" id="{2D7956ED-47F0-9A98-7C5B-C408D9E139EF}"/>
              </a:ext>
            </a:extLst>
          </p:cNvPr>
          <p:cNvSpPr/>
          <p:nvPr/>
        </p:nvSpPr>
        <p:spPr>
          <a:xfrm>
            <a:off x="1128485" y="1108742"/>
            <a:ext cx="6908800" cy="5418667"/>
          </a:xfrm>
          <a:prstGeom prst="rightArrow">
            <a:avLst/>
          </a:prstGeom>
          <a:ln>
            <a:solidFill>
              <a:schemeClr val="accent1">
                <a:lumMod val="75000"/>
              </a:schemeClr>
            </a:solidFill>
          </a:ln>
        </p:spPr>
        <p:style>
          <a:lnRef idx="0">
            <a:scrgbClr r="0" g="0" b="0"/>
          </a:lnRef>
          <a:fillRef idx="1">
            <a:schemeClr val="accent4">
              <a:tint val="40000"/>
              <a:hueOff val="0"/>
              <a:satOff val="0"/>
              <a:lumOff val="0"/>
              <a:alphaOff val="0"/>
            </a:schemeClr>
          </a:fillRef>
          <a:effectRef idx="0">
            <a:schemeClr val="accent4">
              <a:tint val="40000"/>
              <a:hueOff val="0"/>
              <a:satOff val="0"/>
              <a:lumOff val="0"/>
              <a:alphaOff val="0"/>
            </a:schemeClr>
          </a:effectRef>
          <a:fontRef idx="minor">
            <a:schemeClr val="dk1">
              <a:hueOff val="0"/>
              <a:satOff val="0"/>
              <a:lumOff val="0"/>
              <a:alphaOff val="0"/>
            </a:schemeClr>
          </a:fontRef>
        </p:style>
        <p:txBody>
          <a:bodyPr/>
          <a:lstStyle/>
          <a:p>
            <a:endParaRPr lang="es-CL" noProof="0" dirty="0"/>
          </a:p>
        </p:txBody>
      </p:sp>
      <p:sp>
        <p:nvSpPr>
          <p:cNvPr id="69" name="Forma libre: forma 68">
            <a:extLst>
              <a:ext uri="{FF2B5EF4-FFF2-40B4-BE49-F238E27FC236}">
                <a16:creationId xmlns:a16="http://schemas.microsoft.com/office/drawing/2014/main" id="{CBE004B4-C348-1C25-59E0-72F4E06C1C6E}"/>
              </a:ext>
            </a:extLst>
          </p:cNvPr>
          <p:cNvSpPr>
            <a:spLocks noGrp="1" noRot="1" noMove="1" noResize="1" noEditPoints="1" noAdjustHandles="1" noChangeArrowheads="1" noChangeShapeType="1"/>
          </p:cNvSpPr>
          <p:nvPr/>
        </p:nvSpPr>
        <p:spPr>
          <a:xfrm>
            <a:off x="520334" y="1108742"/>
            <a:ext cx="8125102" cy="54186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792402"/>
              <a:satOff val="14520"/>
              <a:lumOff val="1830"/>
              <a:alphaOff val="0"/>
            </a:schemeClr>
          </a:fillRef>
          <a:effectRef idx="0">
            <a:schemeClr val="accent4">
              <a:hueOff val="-792402"/>
              <a:satOff val="14520"/>
              <a:lumOff val="183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r>
              <a:rPr lang="es-CL" sz="2000" b="1" kern="1200" noProof="0" dirty="0"/>
              <a:t> </a:t>
            </a:r>
            <a:endParaRPr lang="es-CL" sz="2000" kern="1200" noProof="0" dirty="0"/>
          </a:p>
        </p:txBody>
      </p:sp>
      <p:sp>
        <p:nvSpPr>
          <p:cNvPr id="77" name="CuadroTexto 76">
            <a:extLst>
              <a:ext uri="{FF2B5EF4-FFF2-40B4-BE49-F238E27FC236}">
                <a16:creationId xmlns:a16="http://schemas.microsoft.com/office/drawing/2014/main" id="{6A63EA33-92C8-7C31-80D1-45A19030EF4E}"/>
              </a:ext>
            </a:extLst>
          </p:cNvPr>
          <p:cNvSpPr txBox="1"/>
          <p:nvPr/>
        </p:nvSpPr>
        <p:spPr>
          <a:xfrm>
            <a:off x="985520" y="1366183"/>
            <a:ext cx="146879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Interfaces </a:t>
            </a:r>
          </a:p>
        </p:txBody>
      </p:sp>
      <p:pic>
        <p:nvPicPr>
          <p:cNvPr id="2" name="drawing">
            <a:extLst>
              <a:ext uri="{FF2B5EF4-FFF2-40B4-BE49-F238E27FC236}">
                <a16:creationId xmlns:a16="http://schemas.microsoft.com/office/drawing/2014/main" id="{8B0789C2-A8E8-A2F5-285B-9296BDDBE11E}"/>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985520" y="1790503"/>
            <a:ext cx="3548380" cy="2113368"/>
          </a:xfrm>
          <a:prstGeom prst="rect">
            <a:avLst/>
          </a:prstGeom>
        </p:spPr>
      </p:pic>
      <p:pic>
        <p:nvPicPr>
          <p:cNvPr id="3" name="drawing">
            <a:extLst>
              <a:ext uri="{FF2B5EF4-FFF2-40B4-BE49-F238E27FC236}">
                <a16:creationId xmlns:a16="http://schemas.microsoft.com/office/drawing/2014/main" id="{987AAE43-692D-2F91-79CB-C207642A7445}"/>
              </a:ext>
            </a:extLst>
          </p:cNvPr>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4632128" y="1790502"/>
            <a:ext cx="3548122" cy="2113369"/>
          </a:xfrm>
          <a:prstGeom prst="rect">
            <a:avLst/>
          </a:prstGeom>
        </p:spPr>
      </p:pic>
      <p:pic>
        <p:nvPicPr>
          <p:cNvPr id="4" name="drawing">
            <a:extLst>
              <a:ext uri="{FF2B5EF4-FFF2-40B4-BE49-F238E27FC236}">
                <a16:creationId xmlns:a16="http://schemas.microsoft.com/office/drawing/2014/main" id="{C8DA9E71-553E-77E2-0499-682CD8CA4C63}"/>
              </a:ext>
            </a:extLst>
          </p:cNvPr>
          <p:cNvPicPr>
            <a:picLocks noChangeAspect="1"/>
          </p:cNvPicPr>
          <p:nvPr/>
        </p:nvPicPr>
        <p:blipFill>
          <a:blip r:embed="rId9">
            <a:extLst>
              <a:ext uri="{28A0092B-C50C-407E-A947-70E740481C1C}">
                <a14:useLocalDpi xmlns:a14="http://schemas.microsoft.com/office/drawing/2010/main"/>
              </a:ext>
            </a:extLst>
          </a:blip>
          <a:stretch>
            <a:fillRect/>
          </a:stretch>
        </p:blipFill>
        <p:spPr>
          <a:xfrm>
            <a:off x="985520" y="3972191"/>
            <a:ext cx="3548122" cy="2113524"/>
          </a:xfrm>
          <a:prstGeom prst="rect">
            <a:avLst/>
          </a:prstGeom>
        </p:spPr>
      </p:pic>
      <p:pic>
        <p:nvPicPr>
          <p:cNvPr id="5" name="drawing">
            <a:extLst>
              <a:ext uri="{FF2B5EF4-FFF2-40B4-BE49-F238E27FC236}">
                <a16:creationId xmlns:a16="http://schemas.microsoft.com/office/drawing/2014/main" id="{3064A3CD-CD5D-0A98-EA35-9EBDAAA83071}"/>
              </a:ext>
            </a:extLst>
          </p:cNvPr>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4622189" y="3972191"/>
            <a:ext cx="3558061" cy="2113524"/>
          </a:xfrm>
          <a:prstGeom prst="rect">
            <a:avLst/>
          </a:prstGeom>
        </p:spPr>
      </p:pic>
    </p:spTree>
    <p:extLst>
      <p:ext uri="{BB962C8B-B14F-4D97-AF65-F5344CB8AC3E}">
        <p14:creationId xmlns:p14="http://schemas.microsoft.com/office/powerpoint/2010/main" val="40901416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83000">
              <a:schemeClr val="accent2">
                <a:lumMod val="50000"/>
              </a:schemeClr>
            </a:gs>
            <a:gs pos="33000">
              <a:schemeClr val="accent5">
                <a:lumMod val="50000"/>
              </a:schemeClr>
            </a:gs>
            <a:gs pos="0">
              <a:schemeClr val="accent6">
                <a:lumMod val="50000"/>
              </a:schemeClr>
            </a:gs>
            <a:gs pos="100000">
              <a:schemeClr val="accent1">
                <a:lumMod val="50000"/>
              </a:schemeClr>
            </a:gs>
          </a:gsLst>
          <a:lin ang="16200000" scaled="1"/>
          <a:tileRect/>
        </a:gradFill>
        <a:effectLst/>
      </p:bgPr>
    </p:bg>
    <p:spTree>
      <p:nvGrpSpPr>
        <p:cNvPr id="1" name="">
          <a:extLst>
            <a:ext uri="{FF2B5EF4-FFF2-40B4-BE49-F238E27FC236}">
              <a16:creationId xmlns:a16="http://schemas.microsoft.com/office/drawing/2014/main" id="{7C292F90-CAC9-9A61-7F09-3C8B8A5DF99C}"/>
            </a:ext>
          </a:extLst>
        </p:cNvPr>
        <p:cNvGrpSpPr/>
        <p:nvPr/>
      </p:nvGrpSpPr>
      <p:grpSpPr>
        <a:xfrm>
          <a:off x="0" y="0"/>
          <a:ext cx="0" cy="0"/>
          <a:chOff x="0" y="0"/>
          <a:chExt cx="0" cy="0"/>
        </a:xfrm>
      </p:grpSpPr>
      <p:pic>
        <p:nvPicPr>
          <p:cNvPr id="65" name="Imagen 64">
            <a:extLst>
              <a:ext uri="{FF2B5EF4-FFF2-40B4-BE49-F238E27FC236}">
                <a16:creationId xmlns:a16="http://schemas.microsoft.com/office/drawing/2014/main" id="{3FE134AF-6C01-31AD-BAF7-D9DAF1B409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B111A987-84A6-10EA-B00A-E24186C2BA0C}"/>
              </a:ext>
            </a:extLst>
          </p:cNvPr>
          <p:cNvSpPr txBox="1"/>
          <p:nvPr/>
        </p:nvSpPr>
        <p:spPr>
          <a:xfrm>
            <a:off x="377371" y="330591"/>
            <a:ext cx="11437257" cy="646331"/>
          </a:xfrm>
          <a:prstGeom prst="rect">
            <a:avLst/>
          </a:prstGeom>
          <a:noFill/>
        </p:spPr>
        <p:txBody>
          <a:bodyPr wrap="square">
            <a:spAutoFit/>
          </a:bodyPr>
          <a:lstStyle/>
          <a:p>
            <a:r>
              <a:rPr lang="es-CL" sz="3600" noProof="0" dirty="0">
                <a:solidFill>
                  <a:schemeClr val="accent1">
                    <a:lumMod val="75000"/>
                  </a:schemeClr>
                </a:solidFill>
                <a:latin typeface="Eras Demi ITC" panose="020B0805030504020804" pitchFamily="34" charset="0"/>
              </a:rPr>
              <a:t>Metodología y Arquitectura del Sistema</a:t>
            </a:r>
          </a:p>
        </p:txBody>
      </p:sp>
      <p:pic>
        <p:nvPicPr>
          <p:cNvPr id="22" name="Imagen 21">
            <a:extLst>
              <a:ext uri="{FF2B5EF4-FFF2-40B4-BE49-F238E27FC236}">
                <a16:creationId xmlns:a16="http://schemas.microsoft.com/office/drawing/2014/main" id="{13941544-3A19-287A-56FA-569B7F7AF45C}"/>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sharpenSoften amount="50000"/>
                    </a14:imgEffect>
                    <a14:imgEffect>
                      <a14:brightnessContrast bright="-40000" contrast="40000"/>
                    </a14:imgEffect>
                  </a14:imgLayer>
                </a14:imgProps>
              </a:ext>
            </a:extLst>
          </a:blip>
          <a:stretch>
            <a:fillRect/>
          </a:stretch>
        </p:blipFill>
        <p:spPr>
          <a:xfrm rot="16200000" flipV="1">
            <a:off x="8788401" y="-1091587"/>
            <a:ext cx="5500914" cy="5500914"/>
          </a:xfrm>
          <a:prstGeom prst="rect">
            <a:avLst/>
          </a:prstGeom>
        </p:spPr>
      </p:pic>
      <p:pic>
        <p:nvPicPr>
          <p:cNvPr id="24" name="Imagen 23">
            <a:extLst>
              <a:ext uri="{FF2B5EF4-FFF2-40B4-BE49-F238E27FC236}">
                <a16:creationId xmlns:a16="http://schemas.microsoft.com/office/drawing/2014/main" id="{4D019D4A-02ED-1F42-0406-2B5E74F1F3D3}"/>
              </a:ext>
            </a:extLst>
          </p:cNvPr>
          <p:cNvPicPr>
            <a:picLocks noChangeAspect="1"/>
          </p:cNvPicPr>
          <p:nvPr/>
        </p:nvPicPr>
        <p:blipFill>
          <a:blip r:embed="rId6">
            <a:duotone>
              <a:schemeClr val="accent1">
                <a:shade val="45000"/>
                <a:satMod val="135000"/>
              </a:schemeClr>
              <a:prstClr val="white"/>
            </a:duotone>
            <a:extLst>
              <a:ext uri="{BEBA8EAE-BF5A-486C-A8C5-ECC9F3942E4B}">
                <a14:imgProps xmlns:a14="http://schemas.microsoft.com/office/drawing/2010/main">
                  <a14:imgLayer r:embed="rId5">
                    <a14:imgEffect>
                      <a14:artisticPlasticWrap/>
                    </a14:imgEffect>
                    <a14:imgEffect>
                      <a14:sharpenSoften amount="50000"/>
                    </a14:imgEffect>
                    <a14:imgEffect>
                      <a14:brightnessContrast bright="-40000" contrast="40000"/>
                    </a14:imgEffect>
                  </a14:imgLayer>
                </a14:imgProps>
              </a:ext>
            </a:extLst>
          </a:blip>
          <a:stretch>
            <a:fillRect/>
          </a:stretch>
        </p:blipFill>
        <p:spPr>
          <a:xfrm rot="5400000">
            <a:off x="8788401" y="2086817"/>
            <a:ext cx="5500914" cy="5500914"/>
          </a:xfrm>
          <a:prstGeom prst="rect">
            <a:avLst/>
          </a:prstGeom>
        </p:spPr>
      </p:pic>
      <p:sp>
        <p:nvSpPr>
          <p:cNvPr id="67" name="Flecha: a la derecha 66">
            <a:extLst>
              <a:ext uri="{FF2B5EF4-FFF2-40B4-BE49-F238E27FC236}">
                <a16:creationId xmlns:a16="http://schemas.microsoft.com/office/drawing/2014/main" id="{DF32DCF0-F5E2-2935-92AB-A118CCC36DEF}"/>
              </a:ext>
            </a:extLst>
          </p:cNvPr>
          <p:cNvSpPr/>
          <p:nvPr/>
        </p:nvSpPr>
        <p:spPr>
          <a:xfrm>
            <a:off x="1128485" y="1108742"/>
            <a:ext cx="6908800" cy="5418667"/>
          </a:xfrm>
          <a:prstGeom prst="rightArrow">
            <a:avLst/>
          </a:prstGeom>
          <a:ln>
            <a:solidFill>
              <a:schemeClr val="accent1">
                <a:lumMod val="75000"/>
              </a:schemeClr>
            </a:solidFill>
          </a:ln>
        </p:spPr>
        <p:style>
          <a:lnRef idx="0">
            <a:scrgbClr r="0" g="0" b="0"/>
          </a:lnRef>
          <a:fillRef idx="1">
            <a:schemeClr val="accent4">
              <a:tint val="40000"/>
              <a:hueOff val="0"/>
              <a:satOff val="0"/>
              <a:lumOff val="0"/>
              <a:alphaOff val="0"/>
            </a:schemeClr>
          </a:fillRef>
          <a:effectRef idx="0">
            <a:schemeClr val="accent4">
              <a:tint val="40000"/>
              <a:hueOff val="0"/>
              <a:satOff val="0"/>
              <a:lumOff val="0"/>
              <a:alphaOff val="0"/>
            </a:schemeClr>
          </a:effectRef>
          <a:fontRef idx="minor">
            <a:schemeClr val="dk1">
              <a:hueOff val="0"/>
              <a:satOff val="0"/>
              <a:lumOff val="0"/>
              <a:alphaOff val="0"/>
            </a:schemeClr>
          </a:fontRef>
        </p:style>
        <p:txBody>
          <a:bodyPr/>
          <a:lstStyle/>
          <a:p>
            <a:endParaRPr lang="es-CL" noProof="0" dirty="0"/>
          </a:p>
        </p:txBody>
      </p:sp>
      <p:sp>
        <p:nvSpPr>
          <p:cNvPr id="68" name="Forma libre: forma 67">
            <a:extLst>
              <a:ext uri="{FF2B5EF4-FFF2-40B4-BE49-F238E27FC236}">
                <a16:creationId xmlns:a16="http://schemas.microsoft.com/office/drawing/2014/main" id="{A620A2FA-6B80-158D-45B8-DF968FB3A81A}"/>
              </a:ext>
            </a:extLst>
          </p:cNvPr>
          <p:cNvSpPr/>
          <p:nvPr/>
        </p:nvSpPr>
        <p:spPr>
          <a:xfrm>
            <a:off x="520335"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69" name="Forma libre: forma 68">
            <a:extLst>
              <a:ext uri="{FF2B5EF4-FFF2-40B4-BE49-F238E27FC236}">
                <a16:creationId xmlns:a16="http://schemas.microsoft.com/office/drawing/2014/main" id="{196E5BBF-1E60-6ABE-1DC2-D116A1691F8F}"/>
              </a:ext>
            </a:extLst>
          </p:cNvPr>
          <p:cNvSpPr/>
          <p:nvPr/>
        </p:nvSpPr>
        <p:spPr>
          <a:xfrm>
            <a:off x="2578647"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792402"/>
              <a:satOff val="14520"/>
              <a:lumOff val="1830"/>
              <a:alphaOff val="0"/>
            </a:schemeClr>
          </a:fillRef>
          <a:effectRef idx="0">
            <a:schemeClr val="accent4">
              <a:hueOff val="-792402"/>
              <a:satOff val="14520"/>
              <a:lumOff val="183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r>
              <a:rPr lang="es-CL" sz="2000" b="1" kern="1200" noProof="0" dirty="0"/>
              <a:t> </a:t>
            </a:r>
            <a:endParaRPr lang="es-CL" sz="2000" kern="1200" noProof="0" dirty="0"/>
          </a:p>
        </p:txBody>
      </p:sp>
      <p:sp>
        <p:nvSpPr>
          <p:cNvPr id="70" name="Forma libre: forma 69">
            <a:extLst>
              <a:ext uri="{FF2B5EF4-FFF2-40B4-BE49-F238E27FC236}">
                <a16:creationId xmlns:a16="http://schemas.microsoft.com/office/drawing/2014/main" id="{1118B88A-AFFE-B650-24F4-B1D86CFE3109}"/>
              </a:ext>
            </a:extLst>
          </p:cNvPr>
          <p:cNvSpPr/>
          <p:nvPr/>
        </p:nvSpPr>
        <p:spPr>
          <a:xfrm>
            <a:off x="4636960"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1584803"/>
              <a:satOff val="29040"/>
              <a:lumOff val="3660"/>
              <a:alphaOff val="0"/>
            </a:schemeClr>
          </a:fillRef>
          <a:effectRef idx="0">
            <a:schemeClr val="accent4">
              <a:hueOff val="-1584803"/>
              <a:satOff val="29040"/>
              <a:lumOff val="366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1" name="Forma libre: forma 70">
            <a:extLst>
              <a:ext uri="{FF2B5EF4-FFF2-40B4-BE49-F238E27FC236}">
                <a16:creationId xmlns:a16="http://schemas.microsoft.com/office/drawing/2014/main" id="{5694C5AF-E011-D2EC-09FF-549EE90263DA}"/>
              </a:ext>
            </a:extLst>
          </p:cNvPr>
          <p:cNvSpPr/>
          <p:nvPr/>
        </p:nvSpPr>
        <p:spPr>
          <a:xfrm>
            <a:off x="6695272"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2377205"/>
              <a:satOff val="43560"/>
              <a:lumOff val="5490"/>
              <a:alphaOff val="0"/>
            </a:schemeClr>
          </a:fillRef>
          <a:effectRef idx="0">
            <a:schemeClr val="accent4">
              <a:hueOff val="-2377205"/>
              <a:satOff val="43560"/>
              <a:lumOff val="549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5" name="CuadroTexto 74">
            <a:extLst>
              <a:ext uri="{FF2B5EF4-FFF2-40B4-BE49-F238E27FC236}">
                <a16:creationId xmlns:a16="http://schemas.microsoft.com/office/drawing/2014/main" id="{B25933C0-76C9-B0A2-2639-C62D267F0D68}"/>
              </a:ext>
            </a:extLst>
          </p:cNvPr>
          <p:cNvSpPr txBox="1"/>
          <p:nvPr/>
        </p:nvSpPr>
        <p:spPr>
          <a:xfrm>
            <a:off x="823904" y="3632511"/>
            <a:ext cx="134302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err="1">
                <a:ln>
                  <a:noFill/>
                </a:ln>
                <a:solidFill>
                  <a:prstClr val="white"/>
                </a:solidFill>
                <a:effectLst/>
                <a:uLnTx/>
                <a:uFillTx/>
                <a:latin typeface="Eras Medium ITC" panose="020B0602030504020804" pitchFamily="34" charset="0"/>
              </a:rPr>
              <a:t>Quishing</a:t>
            </a: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 </a:t>
            </a:r>
          </a:p>
        </p:txBody>
      </p:sp>
      <p:sp>
        <p:nvSpPr>
          <p:cNvPr id="77" name="CuadroTexto 76">
            <a:extLst>
              <a:ext uri="{FF2B5EF4-FFF2-40B4-BE49-F238E27FC236}">
                <a16:creationId xmlns:a16="http://schemas.microsoft.com/office/drawing/2014/main" id="{263C06C0-1637-84FE-F32D-058693389128}"/>
              </a:ext>
            </a:extLst>
          </p:cNvPr>
          <p:cNvSpPr txBox="1"/>
          <p:nvPr/>
        </p:nvSpPr>
        <p:spPr>
          <a:xfrm>
            <a:off x="2819331" y="3632511"/>
            <a:ext cx="146879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Interfaces </a:t>
            </a:r>
          </a:p>
        </p:txBody>
      </p:sp>
      <p:sp>
        <p:nvSpPr>
          <p:cNvPr id="81" name="CuadroTexto 80">
            <a:extLst>
              <a:ext uri="{FF2B5EF4-FFF2-40B4-BE49-F238E27FC236}">
                <a16:creationId xmlns:a16="http://schemas.microsoft.com/office/drawing/2014/main" id="{18790AD9-2DD0-6A7B-CC24-834881D4A0FA}"/>
              </a:ext>
            </a:extLst>
          </p:cNvPr>
          <p:cNvSpPr txBox="1"/>
          <p:nvPr/>
        </p:nvSpPr>
        <p:spPr>
          <a:xfrm>
            <a:off x="4636960" y="3632510"/>
            <a:ext cx="1950164"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err="1">
                <a:ln>
                  <a:noFill/>
                </a:ln>
                <a:solidFill>
                  <a:prstClr val="white"/>
                </a:solidFill>
                <a:effectLst/>
                <a:uLnTx/>
                <a:uFillTx/>
                <a:latin typeface="Eras Medium ITC" panose="020B0602030504020804" pitchFamily="34" charset="0"/>
              </a:rPr>
              <a:t>Criptojacking</a:t>
            </a:r>
            <a:endPar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endParaRPr>
          </a:p>
        </p:txBody>
      </p:sp>
      <p:sp>
        <p:nvSpPr>
          <p:cNvPr id="85" name="CuadroTexto 84">
            <a:extLst>
              <a:ext uri="{FF2B5EF4-FFF2-40B4-BE49-F238E27FC236}">
                <a16:creationId xmlns:a16="http://schemas.microsoft.com/office/drawing/2014/main" id="{35D4AC53-7170-3FEE-F101-4C689D485A69}"/>
              </a:ext>
            </a:extLst>
          </p:cNvPr>
          <p:cNvSpPr txBox="1"/>
          <p:nvPr/>
        </p:nvSpPr>
        <p:spPr>
          <a:xfrm>
            <a:off x="6730089" y="3494010"/>
            <a:ext cx="1950164" cy="648126"/>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Guardar métricas</a:t>
            </a:r>
          </a:p>
        </p:txBody>
      </p:sp>
    </p:spTree>
    <p:extLst>
      <p:ext uri="{BB962C8B-B14F-4D97-AF65-F5344CB8AC3E}">
        <p14:creationId xmlns:p14="http://schemas.microsoft.com/office/powerpoint/2010/main" val="15068106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83000">
              <a:schemeClr val="accent2">
                <a:lumMod val="50000"/>
              </a:schemeClr>
            </a:gs>
            <a:gs pos="33000">
              <a:schemeClr val="accent5">
                <a:lumMod val="50000"/>
              </a:schemeClr>
            </a:gs>
            <a:gs pos="0">
              <a:schemeClr val="accent6">
                <a:lumMod val="50000"/>
              </a:schemeClr>
            </a:gs>
            <a:gs pos="100000">
              <a:schemeClr val="accent1">
                <a:lumMod val="50000"/>
              </a:schemeClr>
            </a:gs>
          </a:gsLst>
          <a:lin ang="16200000" scaled="1"/>
          <a:tileRect/>
        </a:gradFill>
        <a:effectLst/>
      </p:bgPr>
    </p:bg>
    <p:spTree>
      <p:nvGrpSpPr>
        <p:cNvPr id="1" name="">
          <a:extLst>
            <a:ext uri="{FF2B5EF4-FFF2-40B4-BE49-F238E27FC236}">
              <a16:creationId xmlns:a16="http://schemas.microsoft.com/office/drawing/2014/main" id="{8B1178F8-2A04-1118-58E0-46621DE6B9A6}"/>
            </a:ext>
          </a:extLst>
        </p:cNvPr>
        <p:cNvGrpSpPr/>
        <p:nvPr/>
      </p:nvGrpSpPr>
      <p:grpSpPr>
        <a:xfrm>
          <a:off x="0" y="0"/>
          <a:ext cx="0" cy="0"/>
          <a:chOff x="0" y="0"/>
          <a:chExt cx="0" cy="0"/>
        </a:xfrm>
      </p:grpSpPr>
      <p:pic>
        <p:nvPicPr>
          <p:cNvPr id="65" name="Imagen 64">
            <a:extLst>
              <a:ext uri="{FF2B5EF4-FFF2-40B4-BE49-F238E27FC236}">
                <a16:creationId xmlns:a16="http://schemas.microsoft.com/office/drawing/2014/main" id="{1C14EC90-2F39-5949-4871-EA0CB9D8A5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EF6B593D-BA83-40BE-FA37-A621411F6A4F}"/>
              </a:ext>
            </a:extLst>
          </p:cNvPr>
          <p:cNvSpPr txBox="1"/>
          <p:nvPr/>
        </p:nvSpPr>
        <p:spPr>
          <a:xfrm>
            <a:off x="377371" y="330591"/>
            <a:ext cx="11437257" cy="646331"/>
          </a:xfrm>
          <a:prstGeom prst="rect">
            <a:avLst/>
          </a:prstGeom>
          <a:noFill/>
        </p:spPr>
        <p:txBody>
          <a:bodyPr wrap="square">
            <a:spAutoFit/>
          </a:bodyPr>
          <a:lstStyle/>
          <a:p>
            <a:r>
              <a:rPr lang="es-CL" sz="3600" noProof="0" dirty="0">
                <a:solidFill>
                  <a:schemeClr val="accent1">
                    <a:lumMod val="75000"/>
                  </a:schemeClr>
                </a:solidFill>
                <a:latin typeface="Eras Demi ITC" panose="020B0805030504020804" pitchFamily="34" charset="0"/>
              </a:rPr>
              <a:t>Metodología y Arquitectura del Sistema</a:t>
            </a:r>
          </a:p>
        </p:txBody>
      </p:sp>
      <p:pic>
        <p:nvPicPr>
          <p:cNvPr id="22" name="Imagen 21">
            <a:extLst>
              <a:ext uri="{FF2B5EF4-FFF2-40B4-BE49-F238E27FC236}">
                <a16:creationId xmlns:a16="http://schemas.microsoft.com/office/drawing/2014/main" id="{4DC33990-4CE6-43CF-7651-26DE8B2955E4}"/>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sharpenSoften amount="50000"/>
                    </a14:imgEffect>
                    <a14:imgEffect>
                      <a14:brightnessContrast bright="-40000" contrast="40000"/>
                    </a14:imgEffect>
                  </a14:imgLayer>
                </a14:imgProps>
              </a:ext>
            </a:extLst>
          </a:blip>
          <a:stretch>
            <a:fillRect/>
          </a:stretch>
        </p:blipFill>
        <p:spPr>
          <a:xfrm rot="16200000" flipV="1">
            <a:off x="8788401" y="-1091587"/>
            <a:ext cx="5500914" cy="5500914"/>
          </a:xfrm>
          <a:prstGeom prst="rect">
            <a:avLst/>
          </a:prstGeom>
        </p:spPr>
      </p:pic>
      <p:pic>
        <p:nvPicPr>
          <p:cNvPr id="24" name="Imagen 23">
            <a:extLst>
              <a:ext uri="{FF2B5EF4-FFF2-40B4-BE49-F238E27FC236}">
                <a16:creationId xmlns:a16="http://schemas.microsoft.com/office/drawing/2014/main" id="{EE7FB333-CEB8-7B7C-CAE1-524C3BFF2568}"/>
              </a:ext>
            </a:extLst>
          </p:cNvPr>
          <p:cNvPicPr>
            <a:picLocks noChangeAspect="1"/>
          </p:cNvPicPr>
          <p:nvPr/>
        </p:nvPicPr>
        <p:blipFill>
          <a:blip r:embed="rId6">
            <a:duotone>
              <a:schemeClr val="accent1">
                <a:shade val="45000"/>
                <a:satMod val="135000"/>
              </a:schemeClr>
              <a:prstClr val="white"/>
            </a:duotone>
            <a:extLst>
              <a:ext uri="{BEBA8EAE-BF5A-486C-A8C5-ECC9F3942E4B}">
                <a14:imgProps xmlns:a14="http://schemas.microsoft.com/office/drawing/2010/main">
                  <a14:imgLayer r:embed="rId5">
                    <a14:imgEffect>
                      <a14:artisticPlasticWrap/>
                    </a14:imgEffect>
                    <a14:imgEffect>
                      <a14:sharpenSoften amount="50000"/>
                    </a14:imgEffect>
                    <a14:imgEffect>
                      <a14:brightnessContrast bright="-40000" contrast="40000"/>
                    </a14:imgEffect>
                  </a14:imgLayer>
                </a14:imgProps>
              </a:ext>
            </a:extLst>
          </a:blip>
          <a:stretch>
            <a:fillRect/>
          </a:stretch>
        </p:blipFill>
        <p:spPr>
          <a:xfrm rot="5400000">
            <a:off x="8788401" y="2086817"/>
            <a:ext cx="5500914" cy="5500914"/>
          </a:xfrm>
          <a:prstGeom prst="rect">
            <a:avLst/>
          </a:prstGeom>
        </p:spPr>
      </p:pic>
      <p:sp>
        <p:nvSpPr>
          <p:cNvPr id="67" name="Flecha: a la derecha 66">
            <a:extLst>
              <a:ext uri="{FF2B5EF4-FFF2-40B4-BE49-F238E27FC236}">
                <a16:creationId xmlns:a16="http://schemas.microsoft.com/office/drawing/2014/main" id="{1B476E99-8028-7BB2-50CA-6923722FC1C3}"/>
              </a:ext>
            </a:extLst>
          </p:cNvPr>
          <p:cNvSpPr/>
          <p:nvPr/>
        </p:nvSpPr>
        <p:spPr>
          <a:xfrm>
            <a:off x="1128485" y="1108742"/>
            <a:ext cx="6908800" cy="5418667"/>
          </a:xfrm>
          <a:prstGeom prst="rightArrow">
            <a:avLst/>
          </a:prstGeom>
          <a:ln>
            <a:solidFill>
              <a:schemeClr val="accent1">
                <a:lumMod val="75000"/>
              </a:schemeClr>
            </a:solidFill>
          </a:ln>
        </p:spPr>
        <p:style>
          <a:lnRef idx="0">
            <a:scrgbClr r="0" g="0" b="0"/>
          </a:lnRef>
          <a:fillRef idx="1">
            <a:schemeClr val="accent4">
              <a:tint val="40000"/>
              <a:hueOff val="0"/>
              <a:satOff val="0"/>
              <a:lumOff val="0"/>
              <a:alphaOff val="0"/>
            </a:schemeClr>
          </a:fillRef>
          <a:effectRef idx="0">
            <a:schemeClr val="accent4">
              <a:tint val="40000"/>
              <a:hueOff val="0"/>
              <a:satOff val="0"/>
              <a:lumOff val="0"/>
              <a:alphaOff val="0"/>
            </a:schemeClr>
          </a:effectRef>
          <a:fontRef idx="minor">
            <a:schemeClr val="dk1">
              <a:hueOff val="0"/>
              <a:satOff val="0"/>
              <a:lumOff val="0"/>
              <a:alphaOff val="0"/>
            </a:schemeClr>
          </a:fontRef>
        </p:style>
        <p:txBody>
          <a:bodyPr/>
          <a:lstStyle/>
          <a:p>
            <a:endParaRPr lang="es-CL" noProof="0" dirty="0"/>
          </a:p>
        </p:txBody>
      </p:sp>
      <p:sp>
        <p:nvSpPr>
          <p:cNvPr id="68" name="Forma libre: forma 67">
            <a:extLst>
              <a:ext uri="{FF2B5EF4-FFF2-40B4-BE49-F238E27FC236}">
                <a16:creationId xmlns:a16="http://schemas.microsoft.com/office/drawing/2014/main" id="{ACA1337D-541B-8402-BD7D-7660F662A42D}"/>
              </a:ext>
            </a:extLst>
          </p:cNvPr>
          <p:cNvSpPr/>
          <p:nvPr/>
        </p:nvSpPr>
        <p:spPr>
          <a:xfrm>
            <a:off x="520335"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69" name="Forma libre: forma 68">
            <a:extLst>
              <a:ext uri="{FF2B5EF4-FFF2-40B4-BE49-F238E27FC236}">
                <a16:creationId xmlns:a16="http://schemas.microsoft.com/office/drawing/2014/main" id="{EB151F30-E1D7-C3D0-9405-2684344D837C}"/>
              </a:ext>
            </a:extLst>
          </p:cNvPr>
          <p:cNvSpPr/>
          <p:nvPr/>
        </p:nvSpPr>
        <p:spPr>
          <a:xfrm>
            <a:off x="2578647"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792402"/>
              <a:satOff val="14520"/>
              <a:lumOff val="1830"/>
              <a:alphaOff val="0"/>
            </a:schemeClr>
          </a:fillRef>
          <a:effectRef idx="0">
            <a:schemeClr val="accent4">
              <a:hueOff val="-792402"/>
              <a:satOff val="14520"/>
              <a:lumOff val="183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r>
              <a:rPr lang="es-CL" sz="2000" b="1" kern="1200" noProof="0" dirty="0"/>
              <a:t> </a:t>
            </a:r>
            <a:endParaRPr lang="es-CL" sz="2000" kern="1200" noProof="0" dirty="0"/>
          </a:p>
        </p:txBody>
      </p:sp>
      <p:sp>
        <p:nvSpPr>
          <p:cNvPr id="71" name="Forma libre: forma 70">
            <a:extLst>
              <a:ext uri="{FF2B5EF4-FFF2-40B4-BE49-F238E27FC236}">
                <a16:creationId xmlns:a16="http://schemas.microsoft.com/office/drawing/2014/main" id="{8B6C6F78-D8E4-2761-1FB9-64B0BAA1E084}"/>
              </a:ext>
            </a:extLst>
          </p:cNvPr>
          <p:cNvSpPr/>
          <p:nvPr/>
        </p:nvSpPr>
        <p:spPr>
          <a:xfrm>
            <a:off x="6695272"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2377205"/>
              <a:satOff val="43560"/>
              <a:lumOff val="5490"/>
              <a:alphaOff val="0"/>
            </a:schemeClr>
          </a:fillRef>
          <a:effectRef idx="0">
            <a:schemeClr val="accent4">
              <a:hueOff val="-2377205"/>
              <a:satOff val="43560"/>
              <a:lumOff val="549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5" name="CuadroTexto 74">
            <a:extLst>
              <a:ext uri="{FF2B5EF4-FFF2-40B4-BE49-F238E27FC236}">
                <a16:creationId xmlns:a16="http://schemas.microsoft.com/office/drawing/2014/main" id="{51ECDC35-A30A-8E6D-1609-AD47022BBA21}"/>
              </a:ext>
            </a:extLst>
          </p:cNvPr>
          <p:cNvSpPr txBox="1"/>
          <p:nvPr/>
        </p:nvSpPr>
        <p:spPr>
          <a:xfrm>
            <a:off x="823904" y="3632511"/>
            <a:ext cx="134302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b="1" i="0" u="none" strike="noStrike" kern="1200" cap="none" spc="0" normalizeH="0" baseline="0" noProof="0" dirty="0" err="1">
                <a:ln>
                  <a:noFill/>
                </a:ln>
                <a:solidFill>
                  <a:prstClr val="white"/>
                </a:solidFill>
                <a:effectLst/>
                <a:uLnTx/>
                <a:uFillTx/>
                <a:latin typeface="Aptos" panose="02110004020202020204"/>
                <a:ea typeface="+mn-ea"/>
                <a:cs typeface="+mn-cs"/>
              </a:rPr>
              <a:t>Quishing</a:t>
            </a:r>
            <a:r>
              <a:rPr kumimoji="0" lang="es-CL" sz="2000" b="1" i="0" u="none" strike="noStrike" kern="1200" cap="none" spc="0" normalizeH="0" baseline="0" noProof="0" dirty="0">
                <a:ln>
                  <a:noFill/>
                </a:ln>
                <a:solidFill>
                  <a:prstClr val="white"/>
                </a:solidFill>
                <a:effectLst/>
                <a:uLnTx/>
                <a:uFillTx/>
                <a:latin typeface="Aptos" panose="02110004020202020204"/>
                <a:ea typeface="+mn-ea"/>
                <a:cs typeface="+mn-cs"/>
              </a:rPr>
              <a:t> </a:t>
            </a:r>
            <a:endParaRPr kumimoji="0" lang="es-CL"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7" name="CuadroTexto 76">
            <a:extLst>
              <a:ext uri="{FF2B5EF4-FFF2-40B4-BE49-F238E27FC236}">
                <a16:creationId xmlns:a16="http://schemas.microsoft.com/office/drawing/2014/main" id="{3A5A61E3-4CB8-4030-E18C-80C0727F52D5}"/>
              </a:ext>
            </a:extLst>
          </p:cNvPr>
          <p:cNvSpPr txBox="1"/>
          <p:nvPr/>
        </p:nvSpPr>
        <p:spPr>
          <a:xfrm>
            <a:off x="2819331" y="3632511"/>
            <a:ext cx="146879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b="1" i="0" u="none" strike="noStrike" kern="1200" cap="none" spc="0" normalizeH="0" baseline="0" noProof="0" dirty="0">
                <a:ln>
                  <a:noFill/>
                </a:ln>
                <a:solidFill>
                  <a:prstClr val="white"/>
                </a:solidFill>
                <a:effectLst/>
                <a:uLnTx/>
                <a:uFillTx/>
                <a:latin typeface="Aptos" panose="02110004020202020204"/>
                <a:ea typeface="+mn-ea"/>
                <a:cs typeface="+mn-cs"/>
              </a:rPr>
              <a:t>Interfaces </a:t>
            </a:r>
            <a:endParaRPr kumimoji="0" lang="es-CL"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5" name="CuadroTexto 84">
            <a:extLst>
              <a:ext uri="{FF2B5EF4-FFF2-40B4-BE49-F238E27FC236}">
                <a16:creationId xmlns:a16="http://schemas.microsoft.com/office/drawing/2014/main" id="{3518A37D-0542-D8D0-AA43-20A1C4102ADD}"/>
              </a:ext>
            </a:extLst>
          </p:cNvPr>
          <p:cNvSpPr txBox="1"/>
          <p:nvPr/>
        </p:nvSpPr>
        <p:spPr>
          <a:xfrm>
            <a:off x="6730089" y="3494010"/>
            <a:ext cx="1950164" cy="648126"/>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b="1" i="0" u="none" strike="noStrike" kern="1200" cap="none" spc="0" normalizeH="0" baseline="0" noProof="0" dirty="0">
                <a:ln>
                  <a:noFill/>
                </a:ln>
                <a:solidFill>
                  <a:prstClr val="white"/>
                </a:solidFill>
                <a:effectLst/>
                <a:uLnTx/>
                <a:uFillTx/>
                <a:latin typeface="Aptos" panose="02110004020202020204"/>
                <a:ea typeface="+mn-ea"/>
                <a:cs typeface="+mn-cs"/>
              </a:rPr>
              <a:t>Guardar métricas</a:t>
            </a:r>
            <a:endParaRPr kumimoji="0" lang="es-CL"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0" name="Forma libre: forma 69">
            <a:extLst>
              <a:ext uri="{FF2B5EF4-FFF2-40B4-BE49-F238E27FC236}">
                <a16:creationId xmlns:a16="http://schemas.microsoft.com/office/drawing/2014/main" id="{415EA3CD-98C2-5E36-B120-F4AB6E14AFFA}"/>
              </a:ext>
            </a:extLst>
          </p:cNvPr>
          <p:cNvSpPr/>
          <p:nvPr/>
        </p:nvSpPr>
        <p:spPr>
          <a:xfrm>
            <a:off x="520334" y="1108741"/>
            <a:ext cx="8125102" cy="5418667"/>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1584803"/>
              <a:satOff val="29040"/>
              <a:lumOff val="3660"/>
              <a:alphaOff val="0"/>
            </a:schemeClr>
          </a:fillRef>
          <a:effectRef idx="0">
            <a:schemeClr val="accent4">
              <a:hueOff val="-1584803"/>
              <a:satOff val="29040"/>
              <a:lumOff val="366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81" name="CuadroTexto 80">
            <a:extLst>
              <a:ext uri="{FF2B5EF4-FFF2-40B4-BE49-F238E27FC236}">
                <a16:creationId xmlns:a16="http://schemas.microsoft.com/office/drawing/2014/main" id="{484642B0-E6FE-DECA-DDDE-57C8DD327F34}"/>
              </a:ext>
            </a:extLst>
          </p:cNvPr>
          <p:cNvSpPr txBox="1"/>
          <p:nvPr/>
        </p:nvSpPr>
        <p:spPr>
          <a:xfrm>
            <a:off x="869167" y="1516975"/>
            <a:ext cx="1950164"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err="1">
                <a:ln>
                  <a:noFill/>
                </a:ln>
                <a:solidFill>
                  <a:prstClr val="white"/>
                </a:solidFill>
                <a:effectLst/>
                <a:uLnTx/>
                <a:uFillTx/>
                <a:latin typeface="Eras Medium ITC" panose="020B0602030504020804" pitchFamily="34" charset="0"/>
              </a:rPr>
              <a:t>Criptojacking</a:t>
            </a:r>
            <a:endPar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endParaRPr>
          </a:p>
        </p:txBody>
      </p:sp>
      <p:graphicFrame>
        <p:nvGraphicFramePr>
          <p:cNvPr id="2" name="Tabla 1">
            <a:extLst>
              <a:ext uri="{FF2B5EF4-FFF2-40B4-BE49-F238E27FC236}">
                <a16:creationId xmlns:a16="http://schemas.microsoft.com/office/drawing/2014/main" id="{077CBEC5-030D-C3B3-64B7-EBAD2743AA00}"/>
              </a:ext>
            </a:extLst>
          </p:cNvPr>
          <p:cNvGraphicFramePr>
            <a:graphicFrameLocks noGrp="1"/>
          </p:cNvGraphicFramePr>
          <p:nvPr>
            <p:extLst>
              <p:ext uri="{D42A27DB-BD31-4B8C-83A1-F6EECF244321}">
                <p14:modId xmlns:p14="http://schemas.microsoft.com/office/powerpoint/2010/main" val="271955237"/>
              </p:ext>
            </p:extLst>
          </p:nvPr>
        </p:nvGraphicFramePr>
        <p:xfrm>
          <a:off x="1010734" y="1888102"/>
          <a:ext cx="7244079" cy="4347693"/>
        </p:xfrm>
        <a:graphic>
          <a:graphicData uri="http://schemas.openxmlformats.org/drawingml/2006/table">
            <a:tbl>
              <a:tblPr firstRow="1" firstCol="1">
                <a:tableStyleId>{93296810-A885-4BE3-A3E7-6D5BEEA58F35}</a:tableStyleId>
              </a:tblPr>
              <a:tblGrid>
                <a:gridCol w="2414693">
                  <a:extLst>
                    <a:ext uri="{9D8B030D-6E8A-4147-A177-3AD203B41FA5}">
                      <a16:colId xmlns:a16="http://schemas.microsoft.com/office/drawing/2014/main" val="465989609"/>
                    </a:ext>
                  </a:extLst>
                </a:gridCol>
                <a:gridCol w="2022687">
                  <a:extLst>
                    <a:ext uri="{9D8B030D-6E8A-4147-A177-3AD203B41FA5}">
                      <a16:colId xmlns:a16="http://schemas.microsoft.com/office/drawing/2014/main" val="3229975836"/>
                    </a:ext>
                  </a:extLst>
                </a:gridCol>
                <a:gridCol w="2806699">
                  <a:extLst>
                    <a:ext uri="{9D8B030D-6E8A-4147-A177-3AD203B41FA5}">
                      <a16:colId xmlns:a16="http://schemas.microsoft.com/office/drawing/2014/main" val="566517907"/>
                    </a:ext>
                  </a:extLst>
                </a:gridCol>
              </a:tblGrid>
              <a:tr h="294181">
                <a:tc>
                  <a:txBody>
                    <a:bodyPr/>
                    <a:lstStyle/>
                    <a:p>
                      <a:pPr>
                        <a:lnSpc>
                          <a:spcPct val="116000"/>
                        </a:lnSpc>
                        <a:spcAft>
                          <a:spcPts val="800"/>
                        </a:spcAft>
                        <a:buNone/>
                      </a:pPr>
                      <a:r>
                        <a:rPr lang="es-CL" sz="1600" noProof="0" dirty="0">
                          <a:effectLst/>
                          <a:latin typeface="Consolas" panose="020B0609020204030204" pitchFamily="49" charset="0"/>
                        </a:rPr>
                        <a:t>Parámetro</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Valor</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Descripción</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690631867"/>
                  </a:ext>
                </a:extLst>
              </a:tr>
              <a:tr h="884896">
                <a:tc>
                  <a:txBody>
                    <a:bodyPr/>
                    <a:lstStyle/>
                    <a:p>
                      <a:pPr>
                        <a:lnSpc>
                          <a:spcPct val="116000"/>
                        </a:lnSpc>
                        <a:spcAft>
                          <a:spcPts val="800"/>
                        </a:spcAft>
                        <a:buNone/>
                      </a:pPr>
                      <a:r>
                        <a:rPr lang="es-CL" sz="1600" noProof="0" dirty="0">
                          <a:effectLst/>
                          <a:latin typeface="Consolas" panose="020B0609020204030204" pitchFamily="49" charset="0"/>
                        </a:rPr>
                        <a:t>Algoritmo</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FNV-1a (32 bits)</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Hash no criptográfico, elegido por su velocidad en JS</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8201735"/>
                  </a:ext>
                </a:extLst>
              </a:tr>
              <a:tr h="584636">
                <a:tc>
                  <a:txBody>
                    <a:bodyPr/>
                    <a:lstStyle/>
                    <a:p>
                      <a:pPr>
                        <a:lnSpc>
                          <a:spcPct val="116000"/>
                        </a:lnSpc>
                        <a:spcAft>
                          <a:spcPts val="800"/>
                        </a:spcAft>
                        <a:buNone/>
                      </a:pPr>
                      <a:r>
                        <a:rPr lang="es-CL" sz="1600" noProof="0" dirty="0">
                          <a:effectLst/>
                          <a:latin typeface="Consolas" panose="020B0609020204030204" pitchFamily="49" charset="0"/>
                        </a:rPr>
                        <a:t>Dificultad</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Prefijo 000</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El hash resultante debe comenzar con 3 ceros</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565996960"/>
                  </a:ext>
                </a:extLst>
              </a:tr>
              <a:tr h="584636">
                <a:tc>
                  <a:txBody>
                    <a:bodyPr/>
                    <a:lstStyle/>
                    <a:p>
                      <a:pPr>
                        <a:lnSpc>
                          <a:spcPct val="116000"/>
                        </a:lnSpc>
                        <a:spcAft>
                          <a:spcPts val="800"/>
                        </a:spcAft>
                        <a:buNone/>
                      </a:pPr>
                      <a:r>
                        <a:rPr lang="es-CL" sz="1600" noProof="0" dirty="0">
                          <a:effectLst/>
                          <a:latin typeface="Consolas" panose="020B0609020204030204" pitchFamily="49" charset="0"/>
                        </a:rPr>
                        <a:t>Velocidad</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500 hashes /100 ms</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Equivalente a 5000 hashes/segundo por </a:t>
                      </a:r>
                      <a:r>
                        <a:rPr lang="es-CL" sz="1600" noProof="0" dirty="0" err="1">
                          <a:effectLst/>
                          <a:latin typeface="Consolas" panose="020B0609020204030204" pitchFamily="49" charset="0"/>
                        </a:rPr>
                        <a:t>sesion</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209092125"/>
                  </a:ext>
                </a:extLst>
              </a:tr>
              <a:tr h="584636">
                <a:tc>
                  <a:txBody>
                    <a:bodyPr/>
                    <a:lstStyle/>
                    <a:p>
                      <a:pPr>
                        <a:lnSpc>
                          <a:spcPct val="116000"/>
                        </a:lnSpc>
                        <a:spcAft>
                          <a:spcPts val="800"/>
                        </a:spcAft>
                        <a:buNone/>
                      </a:pPr>
                      <a:r>
                        <a:rPr lang="es-CL" sz="1600" noProof="0" dirty="0">
                          <a:effectLst/>
                          <a:latin typeface="Consolas" panose="020B0609020204030204" pitchFamily="49" charset="0"/>
                        </a:rPr>
                        <a:t>Recompensa</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0.000000000003125 BTC/bloque</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Valor simbólico por sesión</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760266747"/>
                  </a:ext>
                </a:extLst>
              </a:tr>
              <a:tr h="584636">
                <a:tc>
                  <a:txBody>
                    <a:bodyPr/>
                    <a:lstStyle/>
                    <a:p>
                      <a:pPr>
                        <a:lnSpc>
                          <a:spcPct val="116000"/>
                        </a:lnSpc>
                        <a:spcAft>
                          <a:spcPts val="800"/>
                        </a:spcAft>
                        <a:buNone/>
                      </a:pPr>
                      <a:r>
                        <a:rPr lang="es-CL" sz="1600" noProof="0" dirty="0">
                          <a:effectLst/>
                          <a:latin typeface="Consolas" panose="020B0609020204030204" pitchFamily="49" charset="0"/>
                        </a:rPr>
                        <a:t>Guardado periódico</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Cada 5 segundos</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err="1">
                          <a:effectLst/>
                          <a:latin typeface="Consolas" panose="020B0609020204030204" pitchFamily="49" charset="0"/>
                        </a:rPr>
                        <a:t>Upsert</a:t>
                      </a:r>
                      <a:r>
                        <a:rPr lang="es-CL" sz="1600" noProof="0" dirty="0">
                          <a:effectLst/>
                          <a:latin typeface="Consolas" panose="020B0609020204030204" pitchFamily="49" charset="0"/>
                        </a:rPr>
                        <a:t> a </a:t>
                      </a:r>
                      <a:r>
                        <a:rPr lang="es-CL" sz="1600" noProof="0" dirty="0" err="1">
                          <a:effectLst/>
                          <a:latin typeface="Consolas" panose="020B0609020204030204" pitchFamily="49" charset="0"/>
                        </a:rPr>
                        <a:t>Supabase</a:t>
                      </a:r>
                      <a:r>
                        <a:rPr lang="es-CL" sz="1600" noProof="0" dirty="0">
                          <a:effectLst/>
                          <a:latin typeface="Consolas" panose="020B0609020204030204" pitchFamily="49" charset="0"/>
                        </a:rPr>
                        <a:t> con progreso acumulado  </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480945035"/>
                  </a:ext>
                </a:extLst>
              </a:tr>
              <a:tr h="584636">
                <a:tc>
                  <a:txBody>
                    <a:bodyPr/>
                    <a:lstStyle/>
                    <a:p>
                      <a:pPr>
                        <a:lnSpc>
                          <a:spcPct val="116000"/>
                        </a:lnSpc>
                        <a:spcAft>
                          <a:spcPts val="800"/>
                        </a:spcAft>
                        <a:buNone/>
                      </a:pPr>
                      <a:r>
                        <a:rPr lang="es-CL" sz="1600" noProof="0" dirty="0">
                          <a:effectLst/>
                          <a:latin typeface="Consolas" panose="020B0609020204030204" pitchFamily="49" charset="0"/>
                        </a:rPr>
                        <a:t>Guardado final</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Al salir de la página</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CL" sz="1600" noProof="0" dirty="0">
                          <a:effectLst/>
                          <a:latin typeface="Consolas" panose="020B0609020204030204" pitchFamily="49" charset="0"/>
                        </a:rPr>
                        <a:t>Mediante </a:t>
                      </a:r>
                      <a:r>
                        <a:rPr lang="es-CL" sz="1600" noProof="0" dirty="0" err="1">
                          <a:effectLst/>
                          <a:latin typeface="Consolas" panose="020B0609020204030204" pitchFamily="49" charset="0"/>
                        </a:rPr>
                        <a:t>cleanup</a:t>
                      </a:r>
                      <a:r>
                        <a:rPr lang="es-CL" sz="1600" noProof="0" dirty="0">
                          <a:effectLst/>
                          <a:latin typeface="Consolas" panose="020B0609020204030204" pitchFamily="49" charset="0"/>
                        </a:rPr>
                        <a:t> del </a:t>
                      </a:r>
                      <a:r>
                        <a:rPr lang="es-CL" sz="1600" noProof="0" dirty="0" err="1">
                          <a:effectLst/>
                          <a:latin typeface="Consolas" panose="020B0609020204030204" pitchFamily="49" charset="0"/>
                        </a:rPr>
                        <a:t>useEffect</a:t>
                      </a:r>
                      <a:r>
                        <a:rPr lang="es-CL" sz="1600" noProof="0" dirty="0">
                          <a:effectLst/>
                          <a:latin typeface="Consolas" panose="020B0609020204030204" pitchFamily="49" charset="0"/>
                        </a:rPr>
                        <a:t>   </a:t>
                      </a:r>
                      <a:endParaRPr lang="es-CL" sz="1800" noProof="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088150817"/>
                  </a:ext>
                </a:extLst>
              </a:tr>
            </a:tbl>
          </a:graphicData>
        </a:graphic>
      </p:graphicFrame>
    </p:spTree>
    <p:extLst>
      <p:ext uri="{BB962C8B-B14F-4D97-AF65-F5344CB8AC3E}">
        <p14:creationId xmlns:p14="http://schemas.microsoft.com/office/powerpoint/2010/main" val="11467465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83000">
              <a:schemeClr val="accent2">
                <a:lumMod val="50000"/>
              </a:schemeClr>
            </a:gs>
            <a:gs pos="33000">
              <a:schemeClr val="accent5">
                <a:lumMod val="50000"/>
              </a:schemeClr>
            </a:gs>
            <a:gs pos="0">
              <a:schemeClr val="accent6">
                <a:lumMod val="50000"/>
              </a:schemeClr>
            </a:gs>
            <a:gs pos="100000">
              <a:schemeClr val="accent1">
                <a:lumMod val="50000"/>
              </a:schemeClr>
            </a:gs>
          </a:gsLst>
          <a:lin ang="16200000" scaled="1"/>
          <a:tileRect/>
        </a:gradFill>
        <a:effectLst/>
      </p:bgPr>
    </p:bg>
    <p:spTree>
      <p:nvGrpSpPr>
        <p:cNvPr id="1" name="">
          <a:extLst>
            <a:ext uri="{FF2B5EF4-FFF2-40B4-BE49-F238E27FC236}">
              <a16:creationId xmlns:a16="http://schemas.microsoft.com/office/drawing/2014/main" id="{C553B551-EF63-E8DF-EE68-0A0B823A3B45}"/>
            </a:ext>
          </a:extLst>
        </p:cNvPr>
        <p:cNvGrpSpPr/>
        <p:nvPr/>
      </p:nvGrpSpPr>
      <p:grpSpPr>
        <a:xfrm>
          <a:off x="0" y="0"/>
          <a:ext cx="0" cy="0"/>
          <a:chOff x="0" y="0"/>
          <a:chExt cx="0" cy="0"/>
        </a:xfrm>
      </p:grpSpPr>
      <p:pic>
        <p:nvPicPr>
          <p:cNvPr id="65" name="Imagen 64">
            <a:extLst>
              <a:ext uri="{FF2B5EF4-FFF2-40B4-BE49-F238E27FC236}">
                <a16:creationId xmlns:a16="http://schemas.microsoft.com/office/drawing/2014/main" id="{884AE9ED-C824-2910-D213-BCB9903AA5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4064F5A7-09EB-7BC9-224B-C61BD69843CE}"/>
              </a:ext>
            </a:extLst>
          </p:cNvPr>
          <p:cNvSpPr txBox="1"/>
          <p:nvPr/>
        </p:nvSpPr>
        <p:spPr>
          <a:xfrm>
            <a:off x="377371" y="330591"/>
            <a:ext cx="11437257" cy="646331"/>
          </a:xfrm>
          <a:prstGeom prst="rect">
            <a:avLst/>
          </a:prstGeom>
          <a:noFill/>
        </p:spPr>
        <p:txBody>
          <a:bodyPr wrap="square">
            <a:spAutoFit/>
          </a:bodyPr>
          <a:lstStyle/>
          <a:p>
            <a:r>
              <a:rPr lang="es-CL" sz="3600" noProof="0" dirty="0">
                <a:solidFill>
                  <a:schemeClr val="accent1">
                    <a:lumMod val="75000"/>
                  </a:schemeClr>
                </a:solidFill>
                <a:latin typeface="Eras Demi ITC" panose="020B0805030504020804" pitchFamily="34" charset="0"/>
              </a:rPr>
              <a:t>Metodología y Arquitectura del Sistema</a:t>
            </a:r>
          </a:p>
        </p:txBody>
      </p:sp>
      <p:pic>
        <p:nvPicPr>
          <p:cNvPr id="22" name="Imagen 21">
            <a:extLst>
              <a:ext uri="{FF2B5EF4-FFF2-40B4-BE49-F238E27FC236}">
                <a16:creationId xmlns:a16="http://schemas.microsoft.com/office/drawing/2014/main" id="{86F1F178-28A7-1814-A387-E8ACA2532669}"/>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sharpenSoften amount="50000"/>
                    </a14:imgEffect>
                    <a14:imgEffect>
                      <a14:brightnessContrast bright="-40000" contrast="40000"/>
                    </a14:imgEffect>
                  </a14:imgLayer>
                </a14:imgProps>
              </a:ext>
            </a:extLst>
          </a:blip>
          <a:stretch>
            <a:fillRect/>
          </a:stretch>
        </p:blipFill>
        <p:spPr>
          <a:xfrm rot="16200000" flipV="1">
            <a:off x="8788401" y="-1091587"/>
            <a:ext cx="5500914" cy="5500914"/>
          </a:xfrm>
          <a:prstGeom prst="rect">
            <a:avLst/>
          </a:prstGeom>
        </p:spPr>
      </p:pic>
      <p:pic>
        <p:nvPicPr>
          <p:cNvPr id="24" name="Imagen 23">
            <a:extLst>
              <a:ext uri="{FF2B5EF4-FFF2-40B4-BE49-F238E27FC236}">
                <a16:creationId xmlns:a16="http://schemas.microsoft.com/office/drawing/2014/main" id="{6469F212-0C94-21C2-D898-328C1F146102}"/>
              </a:ext>
            </a:extLst>
          </p:cNvPr>
          <p:cNvPicPr>
            <a:picLocks noChangeAspect="1"/>
          </p:cNvPicPr>
          <p:nvPr/>
        </p:nvPicPr>
        <p:blipFill>
          <a:blip r:embed="rId6">
            <a:duotone>
              <a:schemeClr val="accent1">
                <a:shade val="45000"/>
                <a:satMod val="135000"/>
              </a:schemeClr>
              <a:prstClr val="white"/>
            </a:duotone>
            <a:extLst>
              <a:ext uri="{BEBA8EAE-BF5A-486C-A8C5-ECC9F3942E4B}">
                <a14:imgProps xmlns:a14="http://schemas.microsoft.com/office/drawing/2010/main">
                  <a14:imgLayer r:embed="rId5">
                    <a14:imgEffect>
                      <a14:artisticPlasticWrap/>
                    </a14:imgEffect>
                    <a14:imgEffect>
                      <a14:sharpenSoften amount="50000"/>
                    </a14:imgEffect>
                    <a14:imgEffect>
                      <a14:brightnessContrast bright="-40000" contrast="40000"/>
                    </a14:imgEffect>
                  </a14:imgLayer>
                </a14:imgProps>
              </a:ext>
            </a:extLst>
          </a:blip>
          <a:stretch>
            <a:fillRect/>
          </a:stretch>
        </p:blipFill>
        <p:spPr>
          <a:xfrm rot="5400000">
            <a:off x="8788401" y="2086817"/>
            <a:ext cx="5500914" cy="5500914"/>
          </a:xfrm>
          <a:prstGeom prst="rect">
            <a:avLst/>
          </a:prstGeom>
        </p:spPr>
      </p:pic>
      <p:sp>
        <p:nvSpPr>
          <p:cNvPr id="67" name="Flecha: a la derecha 66">
            <a:extLst>
              <a:ext uri="{FF2B5EF4-FFF2-40B4-BE49-F238E27FC236}">
                <a16:creationId xmlns:a16="http://schemas.microsoft.com/office/drawing/2014/main" id="{6EF6EE5E-555F-94ED-905E-AD3631169237}"/>
              </a:ext>
            </a:extLst>
          </p:cNvPr>
          <p:cNvSpPr/>
          <p:nvPr/>
        </p:nvSpPr>
        <p:spPr>
          <a:xfrm>
            <a:off x="1128485" y="1108742"/>
            <a:ext cx="6908800" cy="5418667"/>
          </a:xfrm>
          <a:prstGeom prst="rightArrow">
            <a:avLst/>
          </a:prstGeom>
          <a:ln>
            <a:solidFill>
              <a:schemeClr val="accent1">
                <a:lumMod val="75000"/>
              </a:schemeClr>
            </a:solidFill>
          </a:ln>
        </p:spPr>
        <p:style>
          <a:lnRef idx="0">
            <a:scrgbClr r="0" g="0" b="0"/>
          </a:lnRef>
          <a:fillRef idx="1">
            <a:schemeClr val="accent4">
              <a:tint val="40000"/>
              <a:hueOff val="0"/>
              <a:satOff val="0"/>
              <a:lumOff val="0"/>
              <a:alphaOff val="0"/>
            </a:schemeClr>
          </a:fillRef>
          <a:effectRef idx="0">
            <a:schemeClr val="accent4">
              <a:tint val="40000"/>
              <a:hueOff val="0"/>
              <a:satOff val="0"/>
              <a:lumOff val="0"/>
              <a:alphaOff val="0"/>
            </a:schemeClr>
          </a:effectRef>
          <a:fontRef idx="minor">
            <a:schemeClr val="dk1">
              <a:hueOff val="0"/>
              <a:satOff val="0"/>
              <a:lumOff val="0"/>
              <a:alphaOff val="0"/>
            </a:schemeClr>
          </a:fontRef>
        </p:style>
        <p:txBody>
          <a:bodyPr/>
          <a:lstStyle/>
          <a:p>
            <a:endParaRPr lang="es-CL" noProof="0" dirty="0"/>
          </a:p>
        </p:txBody>
      </p:sp>
      <p:sp>
        <p:nvSpPr>
          <p:cNvPr id="68" name="Forma libre: forma 67">
            <a:extLst>
              <a:ext uri="{FF2B5EF4-FFF2-40B4-BE49-F238E27FC236}">
                <a16:creationId xmlns:a16="http://schemas.microsoft.com/office/drawing/2014/main" id="{8E417DBE-FA7F-79B9-6F13-8BC9176E93F8}"/>
              </a:ext>
            </a:extLst>
          </p:cNvPr>
          <p:cNvSpPr/>
          <p:nvPr/>
        </p:nvSpPr>
        <p:spPr>
          <a:xfrm>
            <a:off x="520335"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69" name="Forma libre: forma 68">
            <a:extLst>
              <a:ext uri="{FF2B5EF4-FFF2-40B4-BE49-F238E27FC236}">
                <a16:creationId xmlns:a16="http://schemas.microsoft.com/office/drawing/2014/main" id="{7E6AA984-DC35-110B-61A8-BEACA3631BF4}"/>
              </a:ext>
            </a:extLst>
          </p:cNvPr>
          <p:cNvSpPr/>
          <p:nvPr/>
        </p:nvSpPr>
        <p:spPr>
          <a:xfrm>
            <a:off x="2578647"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792402"/>
              <a:satOff val="14520"/>
              <a:lumOff val="1830"/>
              <a:alphaOff val="0"/>
            </a:schemeClr>
          </a:fillRef>
          <a:effectRef idx="0">
            <a:schemeClr val="accent4">
              <a:hueOff val="-792402"/>
              <a:satOff val="14520"/>
              <a:lumOff val="183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r>
              <a:rPr lang="es-CL" sz="2000" b="1" kern="1200" noProof="0" dirty="0"/>
              <a:t> </a:t>
            </a:r>
            <a:endParaRPr lang="es-CL" sz="2000" kern="1200" noProof="0" dirty="0"/>
          </a:p>
        </p:txBody>
      </p:sp>
      <p:sp>
        <p:nvSpPr>
          <p:cNvPr id="70" name="Forma libre: forma 69">
            <a:extLst>
              <a:ext uri="{FF2B5EF4-FFF2-40B4-BE49-F238E27FC236}">
                <a16:creationId xmlns:a16="http://schemas.microsoft.com/office/drawing/2014/main" id="{3D53E7C1-953C-1DC7-5C9D-D3E53FD93902}"/>
              </a:ext>
            </a:extLst>
          </p:cNvPr>
          <p:cNvSpPr/>
          <p:nvPr/>
        </p:nvSpPr>
        <p:spPr>
          <a:xfrm>
            <a:off x="4636960"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1584803"/>
              <a:satOff val="29040"/>
              <a:lumOff val="3660"/>
              <a:alphaOff val="0"/>
            </a:schemeClr>
          </a:fillRef>
          <a:effectRef idx="0">
            <a:schemeClr val="accent4">
              <a:hueOff val="-1584803"/>
              <a:satOff val="29040"/>
              <a:lumOff val="366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1" name="Forma libre: forma 70">
            <a:extLst>
              <a:ext uri="{FF2B5EF4-FFF2-40B4-BE49-F238E27FC236}">
                <a16:creationId xmlns:a16="http://schemas.microsoft.com/office/drawing/2014/main" id="{D402A4EA-260C-6C78-E1AC-575C15324EC5}"/>
              </a:ext>
            </a:extLst>
          </p:cNvPr>
          <p:cNvSpPr/>
          <p:nvPr/>
        </p:nvSpPr>
        <p:spPr>
          <a:xfrm>
            <a:off x="6695272"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2377205"/>
              <a:satOff val="43560"/>
              <a:lumOff val="5490"/>
              <a:alphaOff val="0"/>
            </a:schemeClr>
          </a:fillRef>
          <a:effectRef idx="0">
            <a:schemeClr val="accent4">
              <a:hueOff val="-2377205"/>
              <a:satOff val="43560"/>
              <a:lumOff val="549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5" name="CuadroTexto 74">
            <a:extLst>
              <a:ext uri="{FF2B5EF4-FFF2-40B4-BE49-F238E27FC236}">
                <a16:creationId xmlns:a16="http://schemas.microsoft.com/office/drawing/2014/main" id="{D99FF29E-7CA2-0A3B-7E9F-5BFF359F517E}"/>
              </a:ext>
            </a:extLst>
          </p:cNvPr>
          <p:cNvSpPr txBox="1"/>
          <p:nvPr/>
        </p:nvSpPr>
        <p:spPr>
          <a:xfrm>
            <a:off x="823904" y="3632511"/>
            <a:ext cx="134302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err="1">
                <a:ln>
                  <a:noFill/>
                </a:ln>
                <a:solidFill>
                  <a:prstClr val="white"/>
                </a:solidFill>
                <a:effectLst/>
                <a:uLnTx/>
                <a:uFillTx/>
                <a:latin typeface="Eras Medium ITC" panose="020B0602030504020804" pitchFamily="34" charset="0"/>
              </a:rPr>
              <a:t>Quishing</a:t>
            </a: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 </a:t>
            </a:r>
          </a:p>
        </p:txBody>
      </p:sp>
      <p:sp>
        <p:nvSpPr>
          <p:cNvPr id="77" name="CuadroTexto 76">
            <a:extLst>
              <a:ext uri="{FF2B5EF4-FFF2-40B4-BE49-F238E27FC236}">
                <a16:creationId xmlns:a16="http://schemas.microsoft.com/office/drawing/2014/main" id="{7FF8784F-85B7-7641-6B0F-BDC722BC4ED2}"/>
              </a:ext>
            </a:extLst>
          </p:cNvPr>
          <p:cNvSpPr txBox="1"/>
          <p:nvPr/>
        </p:nvSpPr>
        <p:spPr>
          <a:xfrm>
            <a:off x="2819331" y="3632511"/>
            <a:ext cx="146879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Interfaces </a:t>
            </a:r>
          </a:p>
        </p:txBody>
      </p:sp>
      <p:sp>
        <p:nvSpPr>
          <p:cNvPr id="81" name="CuadroTexto 80">
            <a:extLst>
              <a:ext uri="{FF2B5EF4-FFF2-40B4-BE49-F238E27FC236}">
                <a16:creationId xmlns:a16="http://schemas.microsoft.com/office/drawing/2014/main" id="{EB59A0E8-E384-B2B5-E702-09830A0D920B}"/>
              </a:ext>
            </a:extLst>
          </p:cNvPr>
          <p:cNvSpPr txBox="1"/>
          <p:nvPr/>
        </p:nvSpPr>
        <p:spPr>
          <a:xfrm>
            <a:off x="4636960" y="3632510"/>
            <a:ext cx="1950164"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err="1">
                <a:ln>
                  <a:noFill/>
                </a:ln>
                <a:solidFill>
                  <a:prstClr val="white"/>
                </a:solidFill>
                <a:effectLst/>
                <a:uLnTx/>
                <a:uFillTx/>
                <a:latin typeface="Eras Medium ITC" panose="020B0602030504020804" pitchFamily="34" charset="0"/>
              </a:rPr>
              <a:t>Criptojacking</a:t>
            </a:r>
            <a:endPar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endParaRPr>
          </a:p>
        </p:txBody>
      </p:sp>
      <p:sp>
        <p:nvSpPr>
          <p:cNvPr id="85" name="CuadroTexto 84">
            <a:extLst>
              <a:ext uri="{FF2B5EF4-FFF2-40B4-BE49-F238E27FC236}">
                <a16:creationId xmlns:a16="http://schemas.microsoft.com/office/drawing/2014/main" id="{567D9679-AFCA-6DFD-41B0-CD9054FAAAE4}"/>
              </a:ext>
            </a:extLst>
          </p:cNvPr>
          <p:cNvSpPr txBox="1"/>
          <p:nvPr/>
        </p:nvSpPr>
        <p:spPr>
          <a:xfrm>
            <a:off x="6730089" y="3494010"/>
            <a:ext cx="1950164" cy="648126"/>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Guardar métricas</a:t>
            </a:r>
          </a:p>
        </p:txBody>
      </p:sp>
    </p:spTree>
    <p:extLst>
      <p:ext uri="{BB962C8B-B14F-4D97-AF65-F5344CB8AC3E}">
        <p14:creationId xmlns:p14="http://schemas.microsoft.com/office/powerpoint/2010/main" val="680734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83000">
              <a:schemeClr val="accent2">
                <a:lumMod val="50000"/>
              </a:schemeClr>
            </a:gs>
            <a:gs pos="33000">
              <a:schemeClr val="accent5">
                <a:lumMod val="50000"/>
              </a:schemeClr>
            </a:gs>
            <a:gs pos="0">
              <a:schemeClr val="accent6">
                <a:lumMod val="50000"/>
              </a:schemeClr>
            </a:gs>
            <a:gs pos="100000">
              <a:schemeClr val="accent1">
                <a:lumMod val="50000"/>
              </a:schemeClr>
            </a:gs>
          </a:gsLst>
          <a:lin ang="16200000" scaled="1"/>
          <a:tileRect/>
        </a:gradFill>
        <a:effectLst/>
      </p:bgPr>
    </p:bg>
    <p:spTree>
      <p:nvGrpSpPr>
        <p:cNvPr id="1" name="">
          <a:extLst>
            <a:ext uri="{FF2B5EF4-FFF2-40B4-BE49-F238E27FC236}">
              <a16:creationId xmlns:a16="http://schemas.microsoft.com/office/drawing/2014/main" id="{618CDC3A-0DD0-FBA4-D9C4-F0C16701A713}"/>
            </a:ext>
          </a:extLst>
        </p:cNvPr>
        <p:cNvGrpSpPr/>
        <p:nvPr/>
      </p:nvGrpSpPr>
      <p:grpSpPr>
        <a:xfrm>
          <a:off x="0" y="0"/>
          <a:ext cx="0" cy="0"/>
          <a:chOff x="0" y="0"/>
          <a:chExt cx="0" cy="0"/>
        </a:xfrm>
      </p:grpSpPr>
      <p:pic>
        <p:nvPicPr>
          <p:cNvPr id="65" name="Imagen 64">
            <a:extLst>
              <a:ext uri="{FF2B5EF4-FFF2-40B4-BE49-F238E27FC236}">
                <a16:creationId xmlns:a16="http://schemas.microsoft.com/office/drawing/2014/main" id="{703BD5BA-FF14-680B-4261-B640D95C94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CB7DCB26-CED2-9228-AA28-7019C63A2521}"/>
              </a:ext>
            </a:extLst>
          </p:cNvPr>
          <p:cNvSpPr txBox="1"/>
          <p:nvPr/>
        </p:nvSpPr>
        <p:spPr>
          <a:xfrm>
            <a:off x="377371" y="330591"/>
            <a:ext cx="11437257" cy="646331"/>
          </a:xfrm>
          <a:prstGeom prst="rect">
            <a:avLst/>
          </a:prstGeom>
          <a:noFill/>
        </p:spPr>
        <p:txBody>
          <a:bodyPr wrap="square">
            <a:spAutoFit/>
          </a:bodyPr>
          <a:lstStyle/>
          <a:p>
            <a:r>
              <a:rPr lang="es-CL" sz="3600" noProof="0" dirty="0">
                <a:solidFill>
                  <a:schemeClr val="accent1">
                    <a:lumMod val="75000"/>
                  </a:schemeClr>
                </a:solidFill>
                <a:latin typeface="Eras Demi ITC" panose="020B0805030504020804" pitchFamily="34" charset="0"/>
              </a:rPr>
              <a:t>Metodología y Arquitectura del Sistema</a:t>
            </a:r>
          </a:p>
        </p:txBody>
      </p:sp>
      <p:pic>
        <p:nvPicPr>
          <p:cNvPr id="22" name="Imagen 21">
            <a:extLst>
              <a:ext uri="{FF2B5EF4-FFF2-40B4-BE49-F238E27FC236}">
                <a16:creationId xmlns:a16="http://schemas.microsoft.com/office/drawing/2014/main" id="{ACF09530-59E8-9AD0-BDA9-865057A92D20}"/>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sharpenSoften amount="50000"/>
                    </a14:imgEffect>
                    <a14:imgEffect>
                      <a14:brightnessContrast bright="-40000" contrast="40000"/>
                    </a14:imgEffect>
                  </a14:imgLayer>
                </a14:imgProps>
              </a:ext>
            </a:extLst>
          </a:blip>
          <a:stretch>
            <a:fillRect/>
          </a:stretch>
        </p:blipFill>
        <p:spPr>
          <a:xfrm rot="16200000" flipV="1">
            <a:off x="8788401" y="-1091587"/>
            <a:ext cx="5500914" cy="5500914"/>
          </a:xfrm>
          <a:prstGeom prst="rect">
            <a:avLst/>
          </a:prstGeom>
        </p:spPr>
      </p:pic>
      <p:pic>
        <p:nvPicPr>
          <p:cNvPr id="24" name="Imagen 23">
            <a:extLst>
              <a:ext uri="{FF2B5EF4-FFF2-40B4-BE49-F238E27FC236}">
                <a16:creationId xmlns:a16="http://schemas.microsoft.com/office/drawing/2014/main" id="{E2377F16-1082-64D0-D689-15A4C38B9334}"/>
              </a:ext>
            </a:extLst>
          </p:cNvPr>
          <p:cNvPicPr>
            <a:picLocks noChangeAspect="1"/>
          </p:cNvPicPr>
          <p:nvPr/>
        </p:nvPicPr>
        <p:blipFill>
          <a:blip r:embed="rId6">
            <a:duotone>
              <a:schemeClr val="accent1">
                <a:shade val="45000"/>
                <a:satMod val="135000"/>
              </a:schemeClr>
              <a:prstClr val="white"/>
            </a:duotone>
            <a:extLst>
              <a:ext uri="{BEBA8EAE-BF5A-486C-A8C5-ECC9F3942E4B}">
                <a14:imgProps xmlns:a14="http://schemas.microsoft.com/office/drawing/2010/main">
                  <a14:imgLayer r:embed="rId5">
                    <a14:imgEffect>
                      <a14:artisticPlasticWrap/>
                    </a14:imgEffect>
                    <a14:imgEffect>
                      <a14:sharpenSoften amount="50000"/>
                    </a14:imgEffect>
                    <a14:imgEffect>
                      <a14:brightnessContrast bright="-40000" contrast="40000"/>
                    </a14:imgEffect>
                  </a14:imgLayer>
                </a14:imgProps>
              </a:ext>
            </a:extLst>
          </a:blip>
          <a:stretch>
            <a:fillRect/>
          </a:stretch>
        </p:blipFill>
        <p:spPr>
          <a:xfrm rot="5400000">
            <a:off x="8788401" y="2086817"/>
            <a:ext cx="5500914" cy="5500914"/>
          </a:xfrm>
          <a:prstGeom prst="rect">
            <a:avLst/>
          </a:prstGeom>
        </p:spPr>
      </p:pic>
      <p:sp>
        <p:nvSpPr>
          <p:cNvPr id="67" name="Flecha: a la derecha 66">
            <a:extLst>
              <a:ext uri="{FF2B5EF4-FFF2-40B4-BE49-F238E27FC236}">
                <a16:creationId xmlns:a16="http://schemas.microsoft.com/office/drawing/2014/main" id="{1EA6B85C-C715-928D-F058-5990D77600A6}"/>
              </a:ext>
            </a:extLst>
          </p:cNvPr>
          <p:cNvSpPr/>
          <p:nvPr/>
        </p:nvSpPr>
        <p:spPr>
          <a:xfrm>
            <a:off x="1128485" y="1108742"/>
            <a:ext cx="6908800" cy="5418667"/>
          </a:xfrm>
          <a:prstGeom prst="rightArrow">
            <a:avLst/>
          </a:prstGeom>
          <a:ln>
            <a:solidFill>
              <a:schemeClr val="accent1">
                <a:lumMod val="75000"/>
              </a:schemeClr>
            </a:solidFill>
          </a:ln>
        </p:spPr>
        <p:style>
          <a:lnRef idx="0">
            <a:scrgbClr r="0" g="0" b="0"/>
          </a:lnRef>
          <a:fillRef idx="1">
            <a:schemeClr val="accent4">
              <a:tint val="40000"/>
              <a:hueOff val="0"/>
              <a:satOff val="0"/>
              <a:lumOff val="0"/>
              <a:alphaOff val="0"/>
            </a:schemeClr>
          </a:fillRef>
          <a:effectRef idx="0">
            <a:schemeClr val="accent4">
              <a:tint val="40000"/>
              <a:hueOff val="0"/>
              <a:satOff val="0"/>
              <a:lumOff val="0"/>
              <a:alphaOff val="0"/>
            </a:schemeClr>
          </a:effectRef>
          <a:fontRef idx="minor">
            <a:schemeClr val="dk1">
              <a:hueOff val="0"/>
              <a:satOff val="0"/>
              <a:lumOff val="0"/>
              <a:alphaOff val="0"/>
            </a:schemeClr>
          </a:fontRef>
        </p:style>
        <p:txBody>
          <a:bodyPr/>
          <a:lstStyle/>
          <a:p>
            <a:endParaRPr lang="es-CL" noProof="0" dirty="0"/>
          </a:p>
        </p:txBody>
      </p:sp>
      <p:sp>
        <p:nvSpPr>
          <p:cNvPr id="68" name="Forma libre: forma 67">
            <a:extLst>
              <a:ext uri="{FF2B5EF4-FFF2-40B4-BE49-F238E27FC236}">
                <a16:creationId xmlns:a16="http://schemas.microsoft.com/office/drawing/2014/main" id="{FC3AD625-9897-227C-00E1-B0C6E6154581}"/>
              </a:ext>
            </a:extLst>
          </p:cNvPr>
          <p:cNvSpPr/>
          <p:nvPr/>
        </p:nvSpPr>
        <p:spPr>
          <a:xfrm>
            <a:off x="520335"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69" name="Forma libre: forma 68">
            <a:extLst>
              <a:ext uri="{FF2B5EF4-FFF2-40B4-BE49-F238E27FC236}">
                <a16:creationId xmlns:a16="http://schemas.microsoft.com/office/drawing/2014/main" id="{BF0959E8-449F-D031-EF65-2B0DB40889F3}"/>
              </a:ext>
            </a:extLst>
          </p:cNvPr>
          <p:cNvSpPr/>
          <p:nvPr/>
        </p:nvSpPr>
        <p:spPr>
          <a:xfrm>
            <a:off x="2578647"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792402"/>
              <a:satOff val="14520"/>
              <a:lumOff val="1830"/>
              <a:alphaOff val="0"/>
            </a:schemeClr>
          </a:fillRef>
          <a:effectRef idx="0">
            <a:schemeClr val="accent4">
              <a:hueOff val="-792402"/>
              <a:satOff val="14520"/>
              <a:lumOff val="183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r>
              <a:rPr lang="es-CL" sz="2000" b="1" kern="1200" noProof="0" dirty="0"/>
              <a:t> </a:t>
            </a:r>
            <a:endParaRPr lang="es-CL" sz="2000" kern="1200" noProof="0" dirty="0"/>
          </a:p>
        </p:txBody>
      </p:sp>
      <p:sp>
        <p:nvSpPr>
          <p:cNvPr id="70" name="Forma libre: forma 69">
            <a:extLst>
              <a:ext uri="{FF2B5EF4-FFF2-40B4-BE49-F238E27FC236}">
                <a16:creationId xmlns:a16="http://schemas.microsoft.com/office/drawing/2014/main" id="{9FE7266C-C78F-7ADE-F151-322C06B2C415}"/>
              </a:ext>
            </a:extLst>
          </p:cNvPr>
          <p:cNvSpPr/>
          <p:nvPr/>
        </p:nvSpPr>
        <p:spPr>
          <a:xfrm>
            <a:off x="4636960"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1584803"/>
              <a:satOff val="29040"/>
              <a:lumOff val="3660"/>
              <a:alphaOff val="0"/>
            </a:schemeClr>
          </a:fillRef>
          <a:effectRef idx="0">
            <a:schemeClr val="accent4">
              <a:hueOff val="-1584803"/>
              <a:satOff val="29040"/>
              <a:lumOff val="366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5" name="CuadroTexto 74">
            <a:extLst>
              <a:ext uri="{FF2B5EF4-FFF2-40B4-BE49-F238E27FC236}">
                <a16:creationId xmlns:a16="http://schemas.microsoft.com/office/drawing/2014/main" id="{7BCE94D9-39D6-A5DF-63F7-B380C05E1692}"/>
              </a:ext>
            </a:extLst>
          </p:cNvPr>
          <p:cNvSpPr txBox="1"/>
          <p:nvPr/>
        </p:nvSpPr>
        <p:spPr>
          <a:xfrm>
            <a:off x="823904" y="3632511"/>
            <a:ext cx="134302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b="1" i="0" u="none" strike="noStrike" kern="1200" cap="none" spc="0" normalizeH="0" baseline="0" noProof="0" dirty="0" err="1">
                <a:ln>
                  <a:noFill/>
                </a:ln>
                <a:solidFill>
                  <a:prstClr val="white"/>
                </a:solidFill>
                <a:effectLst/>
                <a:uLnTx/>
                <a:uFillTx/>
                <a:latin typeface="Aptos" panose="02110004020202020204"/>
                <a:ea typeface="+mn-ea"/>
                <a:cs typeface="+mn-cs"/>
              </a:rPr>
              <a:t>Quishing</a:t>
            </a:r>
            <a:r>
              <a:rPr kumimoji="0" lang="es-CL" sz="2000" b="1" i="0" u="none" strike="noStrike" kern="1200" cap="none" spc="0" normalizeH="0" baseline="0" noProof="0" dirty="0">
                <a:ln>
                  <a:noFill/>
                </a:ln>
                <a:solidFill>
                  <a:prstClr val="white"/>
                </a:solidFill>
                <a:effectLst/>
                <a:uLnTx/>
                <a:uFillTx/>
                <a:latin typeface="Aptos" panose="02110004020202020204"/>
                <a:ea typeface="+mn-ea"/>
                <a:cs typeface="+mn-cs"/>
              </a:rPr>
              <a:t> </a:t>
            </a:r>
            <a:endParaRPr kumimoji="0" lang="es-CL"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7" name="CuadroTexto 76">
            <a:extLst>
              <a:ext uri="{FF2B5EF4-FFF2-40B4-BE49-F238E27FC236}">
                <a16:creationId xmlns:a16="http://schemas.microsoft.com/office/drawing/2014/main" id="{4C734020-26F2-D6E2-E291-17EA43BA7964}"/>
              </a:ext>
            </a:extLst>
          </p:cNvPr>
          <p:cNvSpPr txBox="1"/>
          <p:nvPr/>
        </p:nvSpPr>
        <p:spPr>
          <a:xfrm>
            <a:off x="2819331" y="3632511"/>
            <a:ext cx="146879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b="1" i="0" u="none" strike="noStrike" kern="1200" cap="none" spc="0" normalizeH="0" baseline="0" noProof="0" dirty="0">
                <a:ln>
                  <a:noFill/>
                </a:ln>
                <a:solidFill>
                  <a:prstClr val="white"/>
                </a:solidFill>
                <a:effectLst/>
                <a:uLnTx/>
                <a:uFillTx/>
                <a:latin typeface="Aptos" panose="02110004020202020204"/>
                <a:ea typeface="+mn-ea"/>
                <a:cs typeface="+mn-cs"/>
              </a:rPr>
              <a:t>Interfaces </a:t>
            </a:r>
            <a:endParaRPr kumimoji="0" lang="es-CL"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1" name="CuadroTexto 80">
            <a:extLst>
              <a:ext uri="{FF2B5EF4-FFF2-40B4-BE49-F238E27FC236}">
                <a16:creationId xmlns:a16="http://schemas.microsoft.com/office/drawing/2014/main" id="{8D40A441-48F7-C10C-E4EB-349F4775B291}"/>
              </a:ext>
            </a:extLst>
          </p:cNvPr>
          <p:cNvSpPr txBox="1"/>
          <p:nvPr/>
        </p:nvSpPr>
        <p:spPr>
          <a:xfrm>
            <a:off x="4636960" y="3632510"/>
            <a:ext cx="1950164"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b="1" i="0" u="none" strike="noStrike" kern="1200" cap="none" spc="0" normalizeH="0" baseline="0" noProof="0" dirty="0" err="1">
                <a:ln>
                  <a:noFill/>
                </a:ln>
                <a:solidFill>
                  <a:prstClr val="white"/>
                </a:solidFill>
                <a:effectLst/>
                <a:uLnTx/>
                <a:uFillTx/>
                <a:latin typeface="Aptos" panose="02110004020202020204"/>
                <a:ea typeface="+mn-ea"/>
                <a:cs typeface="+mn-cs"/>
              </a:rPr>
              <a:t>Criptojacking</a:t>
            </a:r>
            <a:endParaRPr kumimoji="0" lang="es-CL"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1" name="Forma libre: forma 70">
            <a:extLst>
              <a:ext uri="{FF2B5EF4-FFF2-40B4-BE49-F238E27FC236}">
                <a16:creationId xmlns:a16="http://schemas.microsoft.com/office/drawing/2014/main" id="{CC4F28B9-ECC4-84B9-A65C-E02C2C09D90C}"/>
              </a:ext>
            </a:extLst>
          </p:cNvPr>
          <p:cNvSpPr/>
          <p:nvPr/>
        </p:nvSpPr>
        <p:spPr>
          <a:xfrm>
            <a:off x="520336" y="1108742"/>
            <a:ext cx="7516950" cy="54186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2377205"/>
              <a:satOff val="43560"/>
              <a:lumOff val="5490"/>
              <a:alphaOff val="0"/>
            </a:schemeClr>
          </a:fillRef>
          <a:effectRef idx="0">
            <a:schemeClr val="accent4">
              <a:hueOff val="-2377205"/>
              <a:satOff val="43560"/>
              <a:lumOff val="549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85" name="CuadroTexto 84">
            <a:extLst>
              <a:ext uri="{FF2B5EF4-FFF2-40B4-BE49-F238E27FC236}">
                <a16:creationId xmlns:a16="http://schemas.microsoft.com/office/drawing/2014/main" id="{1349FC15-B2BB-49A3-08E3-E5F47839F755}"/>
              </a:ext>
            </a:extLst>
          </p:cNvPr>
          <p:cNvSpPr txBox="1"/>
          <p:nvPr/>
        </p:nvSpPr>
        <p:spPr>
          <a:xfrm>
            <a:off x="190134" y="1418594"/>
            <a:ext cx="358176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Guardar métricas</a:t>
            </a:r>
          </a:p>
        </p:txBody>
      </p:sp>
      <p:sp>
        <p:nvSpPr>
          <p:cNvPr id="3" name="CuadroTexto 2">
            <a:extLst>
              <a:ext uri="{FF2B5EF4-FFF2-40B4-BE49-F238E27FC236}">
                <a16:creationId xmlns:a16="http://schemas.microsoft.com/office/drawing/2014/main" id="{795A4E17-FB41-55B7-51BC-124DB893A11E}"/>
              </a:ext>
            </a:extLst>
          </p:cNvPr>
          <p:cNvSpPr txBox="1"/>
          <p:nvPr/>
        </p:nvSpPr>
        <p:spPr>
          <a:xfrm>
            <a:off x="893535" y="1944400"/>
            <a:ext cx="7143750" cy="369332"/>
          </a:xfrm>
          <a:prstGeom prst="rect">
            <a:avLst/>
          </a:prstGeom>
          <a:noFill/>
        </p:spPr>
        <p:txBody>
          <a:bodyPr wrap="square">
            <a:spAutoFit/>
          </a:bodyPr>
          <a:lstStyle/>
          <a:p>
            <a:r>
              <a:rPr lang="es-CL" sz="1800" noProof="0" dirty="0">
                <a:solidFill>
                  <a:schemeClr val="bg1"/>
                </a:solidFill>
                <a:effectLst/>
                <a:latin typeface="Consolas" panose="020B0609020204030204" pitchFamily="49" charset="0"/>
                <a:ea typeface="Arial" panose="020B0604020202020204" pitchFamily="34" charset="0"/>
              </a:rPr>
              <a:t>Contador de visitas por rutas</a:t>
            </a:r>
            <a:endParaRPr lang="es-CL" noProof="0" dirty="0">
              <a:solidFill>
                <a:schemeClr val="bg1"/>
              </a:solidFill>
              <a:latin typeface="Consolas" panose="020B0609020204030204" pitchFamily="49" charset="0"/>
            </a:endParaRPr>
          </a:p>
        </p:txBody>
      </p:sp>
      <p:pic>
        <p:nvPicPr>
          <p:cNvPr id="5" name="Imagen 4">
            <a:extLst>
              <a:ext uri="{FF2B5EF4-FFF2-40B4-BE49-F238E27FC236}">
                <a16:creationId xmlns:a16="http://schemas.microsoft.com/office/drawing/2014/main" id="{95893BE9-D61C-6F22-00F5-C42C58932F1D}"/>
              </a:ext>
            </a:extLst>
          </p:cNvPr>
          <p:cNvPicPr>
            <a:picLocks noChangeAspect="1"/>
          </p:cNvPicPr>
          <p:nvPr/>
        </p:nvPicPr>
        <p:blipFill>
          <a:blip r:embed="rId7"/>
          <a:stretch>
            <a:fillRect/>
          </a:stretch>
        </p:blipFill>
        <p:spPr>
          <a:xfrm>
            <a:off x="1042672" y="2335649"/>
            <a:ext cx="3272596" cy="398692"/>
          </a:xfrm>
          <a:prstGeom prst="rect">
            <a:avLst/>
          </a:prstGeom>
        </p:spPr>
      </p:pic>
      <p:sp>
        <p:nvSpPr>
          <p:cNvPr id="8" name="CuadroTexto 7">
            <a:extLst>
              <a:ext uri="{FF2B5EF4-FFF2-40B4-BE49-F238E27FC236}">
                <a16:creationId xmlns:a16="http://schemas.microsoft.com/office/drawing/2014/main" id="{3DB19CD6-64EC-D489-BC03-14DBE005AD73}"/>
              </a:ext>
            </a:extLst>
          </p:cNvPr>
          <p:cNvSpPr txBox="1"/>
          <p:nvPr/>
        </p:nvSpPr>
        <p:spPr>
          <a:xfrm>
            <a:off x="893535" y="2914540"/>
            <a:ext cx="7143750" cy="369332"/>
          </a:xfrm>
          <a:prstGeom prst="rect">
            <a:avLst/>
          </a:prstGeom>
          <a:noFill/>
        </p:spPr>
        <p:txBody>
          <a:bodyPr wrap="square">
            <a:spAutoFit/>
          </a:bodyPr>
          <a:lstStyle/>
          <a:p>
            <a:r>
              <a:rPr lang="es-CL" sz="1800" noProof="0" dirty="0">
                <a:solidFill>
                  <a:schemeClr val="bg1"/>
                </a:solidFill>
                <a:effectLst/>
                <a:latin typeface="Consolas" panose="020B0609020204030204" pitchFamily="49" charset="0"/>
                <a:ea typeface="Arial" panose="020B0604020202020204" pitchFamily="34" charset="0"/>
              </a:rPr>
              <a:t>Historial de sesiones de minería de bitcoins</a:t>
            </a:r>
            <a:endParaRPr lang="es-CL" noProof="0" dirty="0">
              <a:solidFill>
                <a:schemeClr val="bg1"/>
              </a:solidFill>
              <a:latin typeface="Consolas" panose="020B0609020204030204" pitchFamily="49" charset="0"/>
            </a:endParaRPr>
          </a:p>
        </p:txBody>
      </p:sp>
      <p:pic>
        <p:nvPicPr>
          <p:cNvPr id="10" name="Imagen 9">
            <a:extLst>
              <a:ext uri="{FF2B5EF4-FFF2-40B4-BE49-F238E27FC236}">
                <a16:creationId xmlns:a16="http://schemas.microsoft.com/office/drawing/2014/main" id="{FA871B9E-D500-8F2A-052D-79644BF0CFD6}"/>
              </a:ext>
            </a:extLst>
          </p:cNvPr>
          <p:cNvPicPr>
            <a:picLocks noChangeAspect="1"/>
          </p:cNvPicPr>
          <p:nvPr/>
        </p:nvPicPr>
        <p:blipFill>
          <a:blip r:embed="rId8"/>
          <a:srcRect t="71546"/>
          <a:stretch>
            <a:fillRect/>
          </a:stretch>
        </p:blipFill>
        <p:spPr>
          <a:xfrm>
            <a:off x="1042672" y="3404577"/>
            <a:ext cx="6122714" cy="2133447"/>
          </a:xfrm>
          <a:prstGeom prst="rect">
            <a:avLst/>
          </a:prstGeom>
        </p:spPr>
      </p:pic>
    </p:spTree>
    <p:extLst>
      <p:ext uri="{BB962C8B-B14F-4D97-AF65-F5344CB8AC3E}">
        <p14:creationId xmlns:p14="http://schemas.microsoft.com/office/powerpoint/2010/main" val="11630863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83000">
              <a:schemeClr val="accent2">
                <a:lumMod val="50000"/>
              </a:schemeClr>
            </a:gs>
            <a:gs pos="33000">
              <a:schemeClr val="accent5">
                <a:lumMod val="50000"/>
              </a:schemeClr>
            </a:gs>
            <a:gs pos="0">
              <a:schemeClr val="accent6">
                <a:lumMod val="50000"/>
              </a:schemeClr>
            </a:gs>
            <a:gs pos="100000">
              <a:schemeClr val="accent1">
                <a:lumMod val="50000"/>
              </a:schemeClr>
            </a:gs>
          </a:gsLst>
          <a:lin ang="16200000" scaled="1"/>
          <a:tileRect/>
        </a:gradFill>
        <a:effectLst/>
      </p:bgPr>
    </p:bg>
    <p:spTree>
      <p:nvGrpSpPr>
        <p:cNvPr id="1" name="">
          <a:extLst>
            <a:ext uri="{FF2B5EF4-FFF2-40B4-BE49-F238E27FC236}">
              <a16:creationId xmlns:a16="http://schemas.microsoft.com/office/drawing/2014/main" id="{1B5058F0-1F3D-1439-8427-71DC4CEAA283}"/>
            </a:ext>
          </a:extLst>
        </p:cNvPr>
        <p:cNvGrpSpPr/>
        <p:nvPr/>
      </p:nvGrpSpPr>
      <p:grpSpPr>
        <a:xfrm>
          <a:off x="0" y="0"/>
          <a:ext cx="0" cy="0"/>
          <a:chOff x="0" y="0"/>
          <a:chExt cx="0" cy="0"/>
        </a:xfrm>
      </p:grpSpPr>
      <p:pic>
        <p:nvPicPr>
          <p:cNvPr id="65" name="Imagen 64">
            <a:extLst>
              <a:ext uri="{FF2B5EF4-FFF2-40B4-BE49-F238E27FC236}">
                <a16:creationId xmlns:a16="http://schemas.microsoft.com/office/drawing/2014/main" id="{EC9F8E10-4F64-89FC-E55C-EB04FD5C05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B17995C1-683D-DBEE-022E-97133F1ACC1F}"/>
              </a:ext>
            </a:extLst>
          </p:cNvPr>
          <p:cNvSpPr txBox="1"/>
          <p:nvPr/>
        </p:nvSpPr>
        <p:spPr>
          <a:xfrm>
            <a:off x="377371" y="330591"/>
            <a:ext cx="11437257" cy="646331"/>
          </a:xfrm>
          <a:prstGeom prst="rect">
            <a:avLst/>
          </a:prstGeom>
          <a:noFill/>
        </p:spPr>
        <p:txBody>
          <a:bodyPr wrap="square">
            <a:spAutoFit/>
          </a:bodyPr>
          <a:lstStyle/>
          <a:p>
            <a:r>
              <a:rPr lang="es-CL" sz="3600" noProof="0" dirty="0">
                <a:solidFill>
                  <a:schemeClr val="accent1">
                    <a:lumMod val="75000"/>
                  </a:schemeClr>
                </a:solidFill>
                <a:latin typeface="Eras Demi ITC" panose="020B0805030504020804" pitchFamily="34" charset="0"/>
              </a:rPr>
              <a:t>Metodología y Arquitectura del Sistema</a:t>
            </a:r>
          </a:p>
        </p:txBody>
      </p:sp>
      <p:pic>
        <p:nvPicPr>
          <p:cNvPr id="22" name="Imagen 21">
            <a:extLst>
              <a:ext uri="{FF2B5EF4-FFF2-40B4-BE49-F238E27FC236}">
                <a16:creationId xmlns:a16="http://schemas.microsoft.com/office/drawing/2014/main" id="{96F8053E-8B16-08C5-14B1-E5DC348DC07E}"/>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sharpenSoften amount="50000"/>
                    </a14:imgEffect>
                    <a14:imgEffect>
                      <a14:brightnessContrast bright="-40000" contrast="40000"/>
                    </a14:imgEffect>
                  </a14:imgLayer>
                </a14:imgProps>
              </a:ext>
            </a:extLst>
          </a:blip>
          <a:stretch>
            <a:fillRect/>
          </a:stretch>
        </p:blipFill>
        <p:spPr>
          <a:xfrm rot="16200000" flipV="1">
            <a:off x="8788401" y="-1091587"/>
            <a:ext cx="5500914" cy="5500914"/>
          </a:xfrm>
          <a:prstGeom prst="rect">
            <a:avLst/>
          </a:prstGeom>
        </p:spPr>
      </p:pic>
      <p:pic>
        <p:nvPicPr>
          <p:cNvPr id="24" name="Imagen 23">
            <a:extLst>
              <a:ext uri="{FF2B5EF4-FFF2-40B4-BE49-F238E27FC236}">
                <a16:creationId xmlns:a16="http://schemas.microsoft.com/office/drawing/2014/main" id="{DB2E0E10-AD96-DA24-DD31-E86E6CFEBA83}"/>
              </a:ext>
            </a:extLst>
          </p:cNvPr>
          <p:cNvPicPr>
            <a:picLocks noChangeAspect="1"/>
          </p:cNvPicPr>
          <p:nvPr/>
        </p:nvPicPr>
        <p:blipFill>
          <a:blip r:embed="rId6">
            <a:duotone>
              <a:schemeClr val="accent1">
                <a:shade val="45000"/>
                <a:satMod val="135000"/>
              </a:schemeClr>
              <a:prstClr val="white"/>
            </a:duotone>
            <a:extLst>
              <a:ext uri="{BEBA8EAE-BF5A-486C-A8C5-ECC9F3942E4B}">
                <a14:imgProps xmlns:a14="http://schemas.microsoft.com/office/drawing/2010/main">
                  <a14:imgLayer r:embed="rId5">
                    <a14:imgEffect>
                      <a14:artisticPlasticWrap/>
                    </a14:imgEffect>
                    <a14:imgEffect>
                      <a14:sharpenSoften amount="50000"/>
                    </a14:imgEffect>
                    <a14:imgEffect>
                      <a14:brightnessContrast bright="-40000" contrast="40000"/>
                    </a14:imgEffect>
                  </a14:imgLayer>
                </a14:imgProps>
              </a:ext>
            </a:extLst>
          </a:blip>
          <a:stretch>
            <a:fillRect/>
          </a:stretch>
        </p:blipFill>
        <p:spPr>
          <a:xfrm rot="5400000">
            <a:off x="8788401" y="2086817"/>
            <a:ext cx="5500914" cy="5500914"/>
          </a:xfrm>
          <a:prstGeom prst="rect">
            <a:avLst/>
          </a:prstGeom>
        </p:spPr>
      </p:pic>
      <p:sp>
        <p:nvSpPr>
          <p:cNvPr id="67" name="Flecha: a la derecha 66">
            <a:extLst>
              <a:ext uri="{FF2B5EF4-FFF2-40B4-BE49-F238E27FC236}">
                <a16:creationId xmlns:a16="http://schemas.microsoft.com/office/drawing/2014/main" id="{0FAA19D0-5CB8-228C-A2E0-56F9664D7FF5}"/>
              </a:ext>
            </a:extLst>
          </p:cNvPr>
          <p:cNvSpPr/>
          <p:nvPr/>
        </p:nvSpPr>
        <p:spPr>
          <a:xfrm>
            <a:off x="1128485" y="1108742"/>
            <a:ext cx="6908800" cy="5418667"/>
          </a:xfrm>
          <a:prstGeom prst="rightArrow">
            <a:avLst/>
          </a:prstGeom>
          <a:ln>
            <a:solidFill>
              <a:schemeClr val="accent1">
                <a:lumMod val="75000"/>
              </a:schemeClr>
            </a:solidFill>
          </a:ln>
        </p:spPr>
        <p:style>
          <a:lnRef idx="0">
            <a:scrgbClr r="0" g="0" b="0"/>
          </a:lnRef>
          <a:fillRef idx="1">
            <a:schemeClr val="accent4">
              <a:tint val="40000"/>
              <a:hueOff val="0"/>
              <a:satOff val="0"/>
              <a:lumOff val="0"/>
              <a:alphaOff val="0"/>
            </a:schemeClr>
          </a:fillRef>
          <a:effectRef idx="0">
            <a:schemeClr val="accent4">
              <a:tint val="40000"/>
              <a:hueOff val="0"/>
              <a:satOff val="0"/>
              <a:lumOff val="0"/>
              <a:alphaOff val="0"/>
            </a:schemeClr>
          </a:effectRef>
          <a:fontRef idx="minor">
            <a:schemeClr val="dk1">
              <a:hueOff val="0"/>
              <a:satOff val="0"/>
              <a:lumOff val="0"/>
              <a:alphaOff val="0"/>
            </a:schemeClr>
          </a:fontRef>
        </p:style>
        <p:txBody>
          <a:bodyPr/>
          <a:lstStyle/>
          <a:p>
            <a:endParaRPr lang="es-CL" noProof="0" dirty="0"/>
          </a:p>
        </p:txBody>
      </p:sp>
      <p:sp>
        <p:nvSpPr>
          <p:cNvPr id="68" name="Forma libre: forma 67">
            <a:extLst>
              <a:ext uri="{FF2B5EF4-FFF2-40B4-BE49-F238E27FC236}">
                <a16:creationId xmlns:a16="http://schemas.microsoft.com/office/drawing/2014/main" id="{CBE7825B-CC1A-A9AD-2A2B-15A6EC6254A5}"/>
              </a:ext>
            </a:extLst>
          </p:cNvPr>
          <p:cNvSpPr/>
          <p:nvPr/>
        </p:nvSpPr>
        <p:spPr>
          <a:xfrm>
            <a:off x="520335"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69" name="Forma libre: forma 68">
            <a:extLst>
              <a:ext uri="{FF2B5EF4-FFF2-40B4-BE49-F238E27FC236}">
                <a16:creationId xmlns:a16="http://schemas.microsoft.com/office/drawing/2014/main" id="{846F9B4A-C68C-5FFA-3BD3-CBF9D683C44F}"/>
              </a:ext>
            </a:extLst>
          </p:cNvPr>
          <p:cNvSpPr/>
          <p:nvPr/>
        </p:nvSpPr>
        <p:spPr>
          <a:xfrm>
            <a:off x="2578647"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792402"/>
              <a:satOff val="14520"/>
              <a:lumOff val="1830"/>
              <a:alphaOff val="0"/>
            </a:schemeClr>
          </a:fillRef>
          <a:effectRef idx="0">
            <a:schemeClr val="accent4">
              <a:hueOff val="-792402"/>
              <a:satOff val="14520"/>
              <a:lumOff val="183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r>
              <a:rPr lang="es-CL" sz="2000" b="1" kern="1200" noProof="0" dirty="0"/>
              <a:t> </a:t>
            </a:r>
            <a:endParaRPr lang="es-CL" sz="2000" kern="1200" noProof="0" dirty="0"/>
          </a:p>
        </p:txBody>
      </p:sp>
      <p:sp>
        <p:nvSpPr>
          <p:cNvPr id="70" name="Forma libre: forma 69">
            <a:extLst>
              <a:ext uri="{FF2B5EF4-FFF2-40B4-BE49-F238E27FC236}">
                <a16:creationId xmlns:a16="http://schemas.microsoft.com/office/drawing/2014/main" id="{F335249D-ACAE-8994-625E-91A09F213072}"/>
              </a:ext>
            </a:extLst>
          </p:cNvPr>
          <p:cNvSpPr/>
          <p:nvPr/>
        </p:nvSpPr>
        <p:spPr>
          <a:xfrm>
            <a:off x="4636960"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1584803"/>
              <a:satOff val="29040"/>
              <a:lumOff val="3660"/>
              <a:alphaOff val="0"/>
            </a:schemeClr>
          </a:fillRef>
          <a:effectRef idx="0">
            <a:schemeClr val="accent4">
              <a:hueOff val="-1584803"/>
              <a:satOff val="29040"/>
              <a:lumOff val="366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1" name="Forma libre: forma 70">
            <a:extLst>
              <a:ext uri="{FF2B5EF4-FFF2-40B4-BE49-F238E27FC236}">
                <a16:creationId xmlns:a16="http://schemas.microsoft.com/office/drawing/2014/main" id="{BF18F809-1C9A-B930-6F4E-F670C6B1C575}"/>
              </a:ext>
            </a:extLst>
          </p:cNvPr>
          <p:cNvSpPr/>
          <p:nvPr/>
        </p:nvSpPr>
        <p:spPr>
          <a:xfrm>
            <a:off x="6695272" y="2734342"/>
            <a:ext cx="1950164" cy="2167466"/>
          </a:xfrm>
          <a:custGeom>
            <a:avLst/>
            <a:gdLst>
              <a:gd name="csX0" fmla="*/ 0 w 1950164"/>
              <a:gd name="csY0" fmla="*/ 325034 h 2167466"/>
              <a:gd name="csX1" fmla="*/ 325034 w 1950164"/>
              <a:gd name="csY1" fmla="*/ 0 h 2167466"/>
              <a:gd name="csX2" fmla="*/ 1625130 w 1950164"/>
              <a:gd name="csY2" fmla="*/ 0 h 2167466"/>
              <a:gd name="csX3" fmla="*/ 1950164 w 1950164"/>
              <a:gd name="csY3" fmla="*/ 325034 h 2167466"/>
              <a:gd name="csX4" fmla="*/ 1950164 w 1950164"/>
              <a:gd name="csY4" fmla="*/ 1842432 h 2167466"/>
              <a:gd name="csX5" fmla="*/ 1625130 w 1950164"/>
              <a:gd name="csY5" fmla="*/ 2167466 h 2167466"/>
              <a:gd name="csX6" fmla="*/ 325034 w 1950164"/>
              <a:gd name="csY6" fmla="*/ 2167466 h 2167466"/>
              <a:gd name="csX7" fmla="*/ 0 w 1950164"/>
              <a:gd name="csY7" fmla="*/ 1842432 h 2167466"/>
              <a:gd name="csX8" fmla="*/ 0 w 1950164"/>
              <a:gd name="csY8" fmla="*/ 325034 h 2167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0164" h="2167466">
                <a:moveTo>
                  <a:pt x="0" y="325034"/>
                </a:moveTo>
                <a:cubicBezTo>
                  <a:pt x="0" y="145523"/>
                  <a:pt x="145523" y="0"/>
                  <a:pt x="325034" y="0"/>
                </a:cubicBezTo>
                <a:lnTo>
                  <a:pt x="1625130" y="0"/>
                </a:lnTo>
                <a:cubicBezTo>
                  <a:pt x="1804641" y="0"/>
                  <a:pt x="1950164" y="145523"/>
                  <a:pt x="1950164" y="325034"/>
                </a:cubicBezTo>
                <a:lnTo>
                  <a:pt x="1950164" y="1842432"/>
                </a:lnTo>
                <a:cubicBezTo>
                  <a:pt x="1950164" y="2021943"/>
                  <a:pt x="1804641" y="2167466"/>
                  <a:pt x="1625130" y="2167466"/>
                </a:cubicBezTo>
                <a:lnTo>
                  <a:pt x="325034" y="2167466"/>
                </a:lnTo>
                <a:cubicBezTo>
                  <a:pt x="145523" y="2167466"/>
                  <a:pt x="0" y="2021943"/>
                  <a:pt x="0" y="1842432"/>
                </a:cubicBezTo>
                <a:lnTo>
                  <a:pt x="0" y="325034"/>
                </a:lnTo>
                <a:close/>
              </a:path>
            </a:pathLst>
          </a:custGeom>
        </p:spPr>
        <p:style>
          <a:lnRef idx="2">
            <a:schemeClr val="lt1">
              <a:hueOff val="0"/>
              <a:satOff val="0"/>
              <a:lumOff val="0"/>
              <a:alphaOff val="0"/>
            </a:schemeClr>
          </a:lnRef>
          <a:fillRef idx="1">
            <a:schemeClr val="accent4">
              <a:hueOff val="-2377205"/>
              <a:satOff val="43560"/>
              <a:lumOff val="5490"/>
              <a:alphaOff val="0"/>
            </a:schemeClr>
          </a:fillRef>
          <a:effectRef idx="0">
            <a:schemeClr val="accent4">
              <a:hueOff val="-2377205"/>
              <a:satOff val="43560"/>
              <a:lumOff val="5490"/>
              <a:alphaOff val="0"/>
            </a:schemeClr>
          </a:effectRef>
          <a:fontRef idx="minor">
            <a:schemeClr val="lt1"/>
          </a:fontRef>
        </p:style>
        <p:txBody>
          <a:bodyPr spcFirstLastPara="0" vert="horz" wrap="square" lIns="171399" tIns="171399" rIns="171399" bIns="171399" numCol="1" spcCol="1270" anchor="ctr" anchorCtr="0">
            <a:noAutofit/>
          </a:bodyPr>
          <a:lstStyle/>
          <a:p>
            <a:pPr marL="0" lvl="0" indent="0" algn="ctr" defTabSz="889000">
              <a:lnSpc>
                <a:spcPct val="90000"/>
              </a:lnSpc>
              <a:spcBef>
                <a:spcPct val="0"/>
              </a:spcBef>
              <a:spcAft>
                <a:spcPct val="35000"/>
              </a:spcAft>
              <a:buNone/>
            </a:pPr>
            <a:endParaRPr lang="es-CL" sz="2000" kern="1200" noProof="0" dirty="0"/>
          </a:p>
        </p:txBody>
      </p:sp>
      <p:sp>
        <p:nvSpPr>
          <p:cNvPr id="75" name="CuadroTexto 74">
            <a:extLst>
              <a:ext uri="{FF2B5EF4-FFF2-40B4-BE49-F238E27FC236}">
                <a16:creationId xmlns:a16="http://schemas.microsoft.com/office/drawing/2014/main" id="{DC12ED22-1A82-3A1D-90B2-1A08120A2E42}"/>
              </a:ext>
            </a:extLst>
          </p:cNvPr>
          <p:cNvSpPr txBox="1"/>
          <p:nvPr/>
        </p:nvSpPr>
        <p:spPr>
          <a:xfrm>
            <a:off x="823904" y="3632511"/>
            <a:ext cx="134302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err="1">
                <a:ln>
                  <a:noFill/>
                </a:ln>
                <a:solidFill>
                  <a:prstClr val="white"/>
                </a:solidFill>
                <a:effectLst/>
                <a:uLnTx/>
                <a:uFillTx/>
                <a:latin typeface="Eras Medium ITC" panose="020B0602030504020804" pitchFamily="34" charset="0"/>
              </a:rPr>
              <a:t>Quishing</a:t>
            </a: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 </a:t>
            </a:r>
          </a:p>
        </p:txBody>
      </p:sp>
      <p:sp>
        <p:nvSpPr>
          <p:cNvPr id="77" name="CuadroTexto 76">
            <a:extLst>
              <a:ext uri="{FF2B5EF4-FFF2-40B4-BE49-F238E27FC236}">
                <a16:creationId xmlns:a16="http://schemas.microsoft.com/office/drawing/2014/main" id="{07724CC2-B3C1-2FE8-0966-36036D47D356}"/>
              </a:ext>
            </a:extLst>
          </p:cNvPr>
          <p:cNvSpPr txBox="1"/>
          <p:nvPr/>
        </p:nvSpPr>
        <p:spPr>
          <a:xfrm>
            <a:off x="2819331" y="3632511"/>
            <a:ext cx="1468795"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Interfaces </a:t>
            </a:r>
          </a:p>
        </p:txBody>
      </p:sp>
      <p:sp>
        <p:nvSpPr>
          <p:cNvPr id="81" name="CuadroTexto 80">
            <a:extLst>
              <a:ext uri="{FF2B5EF4-FFF2-40B4-BE49-F238E27FC236}">
                <a16:creationId xmlns:a16="http://schemas.microsoft.com/office/drawing/2014/main" id="{FB597D79-F1C6-4A8D-FD0B-3339C7BDD69D}"/>
              </a:ext>
            </a:extLst>
          </p:cNvPr>
          <p:cNvSpPr txBox="1"/>
          <p:nvPr/>
        </p:nvSpPr>
        <p:spPr>
          <a:xfrm>
            <a:off x="4636960" y="3632510"/>
            <a:ext cx="1950164" cy="371127"/>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err="1">
                <a:ln>
                  <a:noFill/>
                </a:ln>
                <a:solidFill>
                  <a:prstClr val="white"/>
                </a:solidFill>
                <a:effectLst/>
                <a:uLnTx/>
                <a:uFillTx/>
                <a:latin typeface="Eras Medium ITC" panose="020B0602030504020804" pitchFamily="34" charset="0"/>
              </a:rPr>
              <a:t>Criptojacking</a:t>
            </a:r>
            <a:endPar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endParaRPr>
          </a:p>
        </p:txBody>
      </p:sp>
      <p:sp>
        <p:nvSpPr>
          <p:cNvPr id="85" name="CuadroTexto 84">
            <a:extLst>
              <a:ext uri="{FF2B5EF4-FFF2-40B4-BE49-F238E27FC236}">
                <a16:creationId xmlns:a16="http://schemas.microsoft.com/office/drawing/2014/main" id="{17D16DD9-EA3D-6184-D137-0644B016960E}"/>
              </a:ext>
            </a:extLst>
          </p:cNvPr>
          <p:cNvSpPr txBox="1"/>
          <p:nvPr/>
        </p:nvSpPr>
        <p:spPr>
          <a:xfrm>
            <a:off x="6730089" y="3494010"/>
            <a:ext cx="1950164" cy="648126"/>
          </a:xfrm>
          <a:prstGeom prst="rect">
            <a:avLst/>
          </a:prstGeom>
          <a:noFill/>
        </p:spPr>
        <p:txBody>
          <a:bodyPr wrap="square">
            <a:sp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s-CL" sz="2000" i="0" u="none" strike="noStrike" kern="1200" cap="none" spc="0" normalizeH="0" baseline="0" noProof="0" dirty="0">
                <a:ln>
                  <a:noFill/>
                </a:ln>
                <a:solidFill>
                  <a:prstClr val="white"/>
                </a:solidFill>
                <a:effectLst/>
                <a:uLnTx/>
                <a:uFillTx/>
                <a:latin typeface="Eras Medium ITC" panose="020B0602030504020804" pitchFamily="34" charset="0"/>
              </a:rPr>
              <a:t>Guardar métricas</a:t>
            </a:r>
          </a:p>
        </p:txBody>
      </p:sp>
    </p:spTree>
    <p:extLst>
      <p:ext uri="{BB962C8B-B14F-4D97-AF65-F5344CB8AC3E}">
        <p14:creationId xmlns:p14="http://schemas.microsoft.com/office/powerpoint/2010/main" val="9706153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83000">
              <a:schemeClr val="accent2">
                <a:lumMod val="50000"/>
              </a:schemeClr>
            </a:gs>
            <a:gs pos="33000">
              <a:schemeClr val="accent5">
                <a:lumMod val="50000"/>
              </a:schemeClr>
            </a:gs>
            <a:gs pos="0">
              <a:schemeClr val="accent6">
                <a:lumMod val="50000"/>
              </a:schemeClr>
            </a:gs>
            <a:gs pos="100000">
              <a:schemeClr val="accent1">
                <a:lumMod val="50000"/>
              </a:schemeClr>
            </a:gs>
          </a:gsLst>
          <a:lin ang="16200000" scaled="1"/>
          <a:tileRect/>
        </a:gradFill>
        <a:effectLst/>
      </p:bgPr>
    </p:bg>
    <p:spTree>
      <p:nvGrpSpPr>
        <p:cNvPr id="1" name="">
          <a:extLst>
            <a:ext uri="{FF2B5EF4-FFF2-40B4-BE49-F238E27FC236}">
              <a16:creationId xmlns:a16="http://schemas.microsoft.com/office/drawing/2014/main" id="{0351F235-6B55-D92F-B5C7-F7C156D8527B}"/>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6A9D108E-582C-F5F9-D2E0-DE07B41B3610}"/>
              </a:ext>
            </a:extLst>
          </p:cNvPr>
          <p:cNvSpPr txBox="1"/>
          <p:nvPr/>
        </p:nvSpPr>
        <p:spPr>
          <a:xfrm>
            <a:off x="377371" y="330591"/>
            <a:ext cx="11437257" cy="646331"/>
          </a:xfrm>
          <a:prstGeom prst="rect">
            <a:avLst/>
          </a:prstGeom>
          <a:noFill/>
        </p:spPr>
        <p:txBody>
          <a:bodyPr wrap="square">
            <a:spAutoFit/>
          </a:bodyPr>
          <a:lstStyle/>
          <a:p>
            <a:r>
              <a:rPr lang="es-CL" sz="3600" noProof="0" dirty="0">
                <a:solidFill>
                  <a:schemeClr val="bg1"/>
                </a:solidFill>
                <a:latin typeface="Eras Demi ITC" panose="020B0805030504020804" pitchFamily="34" charset="0"/>
              </a:rPr>
              <a:t>Resultados</a:t>
            </a:r>
          </a:p>
        </p:txBody>
      </p:sp>
      <p:pic>
        <p:nvPicPr>
          <p:cNvPr id="22" name="Imagen 21">
            <a:extLst>
              <a:ext uri="{FF2B5EF4-FFF2-40B4-BE49-F238E27FC236}">
                <a16:creationId xmlns:a16="http://schemas.microsoft.com/office/drawing/2014/main" id="{5E1BF9C8-21EF-9FE1-2177-00537244FE88}"/>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sharpenSoften amount="50000"/>
                    </a14:imgEffect>
                    <a14:imgEffect>
                      <a14:brightnessContrast bright="-40000" contrast="40000"/>
                    </a14:imgEffect>
                  </a14:imgLayer>
                </a14:imgProps>
              </a:ext>
            </a:extLst>
          </a:blip>
          <a:stretch>
            <a:fillRect/>
          </a:stretch>
        </p:blipFill>
        <p:spPr>
          <a:xfrm flipV="1">
            <a:off x="-132442" y="4799622"/>
            <a:ext cx="5500914" cy="5500914"/>
          </a:xfrm>
          <a:prstGeom prst="rect">
            <a:avLst/>
          </a:prstGeom>
        </p:spPr>
      </p:pic>
      <p:pic>
        <p:nvPicPr>
          <p:cNvPr id="24" name="Imagen 23">
            <a:extLst>
              <a:ext uri="{FF2B5EF4-FFF2-40B4-BE49-F238E27FC236}">
                <a16:creationId xmlns:a16="http://schemas.microsoft.com/office/drawing/2014/main" id="{F1A03227-45CA-4DA0-FBE0-6AFF0F0AD996}"/>
              </a:ext>
            </a:extLst>
          </p:cNvPr>
          <p:cNvPicPr>
            <a:picLocks noChangeAspect="1"/>
          </p:cNvPicPr>
          <p:nvPr/>
        </p:nvPicPr>
        <p:blipFill>
          <a:blip r:embed="rId5">
            <a:lum bright="70000" contrast="-70000"/>
            <a:extLst>
              <a:ext uri="{BEBA8EAE-BF5A-486C-A8C5-ECC9F3942E4B}">
                <a14:imgProps xmlns:a14="http://schemas.microsoft.com/office/drawing/2010/main">
                  <a14:imgLayer r:embed="rId4">
                    <a14:imgEffect>
                      <a14:artisticPlasticWrap/>
                    </a14:imgEffect>
                    <a14:imgEffect>
                      <a14:sharpenSoften amount="50000"/>
                    </a14:imgEffect>
                    <a14:imgEffect>
                      <a14:brightnessContrast bright="-40000" contrast="40000"/>
                    </a14:imgEffect>
                  </a14:imgLayer>
                </a14:imgProps>
              </a:ext>
            </a:extLst>
          </a:blip>
          <a:stretch>
            <a:fillRect/>
          </a:stretch>
        </p:blipFill>
        <p:spPr>
          <a:xfrm rot="10800000">
            <a:off x="-2882899" y="1357086"/>
            <a:ext cx="5500914" cy="5500914"/>
          </a:xfrm>
          <a:prstGeom prst="rect">
            <a:avLst/>
          </a:prstGeom>
        </p:spPr>
      </p:pic>
      <p:graphicFrame>
        <p:nvGraphicFramePr>
          <p:cNvPr id="4" name="Gráfico 3">
            <a:extLst>
              <a:ext uri="{FF2B5EF4-FFF2-40B4-BE49-F238E27FC236}">
                <a16:creationId xmlns:a16="http://schemas.microsoft.com/office/drawing/2014/main" id="{A0ED8CCB-DFA0-A8B8-E1DC-5F0746284901}"/>
              </a:ext>
            </a:extLst>
          </p:cNvPr>
          <p:cNvGraphicFramePr/>
          <p:nvPr>
            <p:extLst>
              <p:ext uri="{D42A27DB-BD31-4B8C-83A1-F6EECF244321}">
                <p14:modId xmlns:p14="http://schemas.microsoft.com/office/powerpoint/2010/main" val="1203569513"/>
              </p:ext>
            </p:extLst>
          </p:nvPr>
        </p:nvGraphicFramePr>
        <p:xfrm>
          <a:off x="2806700" y="1191617"/>
          <a:ext cx="5651500" cy="3890434"/>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0" name="Gráfico 19">
            <a:extLst>
              <a:ext uri="{FF2B5EF4-FFF2-40B4-BE49-F238E27FC236}">
                <a16:creationId xmlns:a16="http://schemas.microsoft.com/office/drawing/2014/main" id="{51D43E7C-4607-6092-8D60-B8D29744746E}"/>
              </a:ext>
            </a:extLst>
          </p:cNvPr>
          <p:cNvGraphicFramePr/>
          <p:nvPr>
            <p:extLst>
              <p:ext uri="{D42A27DB-BD31-4B8C-83A1-F6EECF244321}">
                <p14:modId xmlns:p14="http://schemas.microsoft.com/office/powerpoint/2010/main" val="1355548531"/>
              </p:ext>
            </p:extLst>
          </p:nvPr>
        </p:nvGraphicFramePr>
        <p:xfrm>
          <a:off x="7933052" y="1828393"/>
          <a:ext cx="3551377" cy="2616882"/>
        </p:xfrm>
        <a:graphic>
          <a:graphicData uri="http://schemas.openxmlformats.org/drawingml/2006/chart">
            <c:chart xmlns:c="http://schemas.openxmlformats.org/drawingml/2006/chart" xmlns:r="http://schemas.openxmlformats.org/officeDocument/2006/relationships" r:id="rId7"/>
          </a:graphicData>
        </a:graphic>
      </p:graphicFrame>
      <p:sp>
        <p:nvSpPr>
          <p:cNvPr id="38" name="CuadroTexto 37">
            <a:extLst>
              <a:ext uri="{FF2B5EF4-FFF2-40B4-BE49-F238E27FC236}">
                <a16:creationId xmlns:a16="http://schemas.microsoft.com/office/drawing/2014/main" id="{82C74060-B8FA-7F42-21BA-DE6B0A9D62A6}"/>
              </a:ext>
            </a:extLst>
          </p:cNvPr>
          <p:cNvSpPr txBox="1"/>
          <p:nvPr/>
        </p:nvSpPr>
        <p:spPr>
          <a:xfrm>
            <a:off x="10732365" y="4120243"/>
            <a:ext cx="380135" cy="252000"/>
          </a:xfrm>
          <a:prstGeom prst="rect">
            <a:avLst/>
          </a:prstGeom>
          <a:solidFill>
            <a:srgbClr val="CCD9E5"/>
          </a:solidFill>
        </p:spPr>
        <p:txBody>
          <a:bodyPr wrap="square">
            <a:spAutoFit/>
          </a:bodyPr>
          <a:lstStyle/>
          <a:p>
            <a:r>
              <a:rPr lang="es-CL" sz="1050" noProof="0" dirty="0">
                <a:solidFill>
                  <a:schemeClr val="tx1">
                    <a:lumMod val="85000"/>
                    <a:lumOff val="15000"/>
                  </a:schemeClr>
                </a:solidFill>
              </a:rPr>
              <a:t>Sí</a:t>
            </a:r>
          </a:p>
        </p:txBody>
      </p:sp>
    </p:spTree>
    <p:extLst>
      <p:ext uri="{BB962C8B-B14F-4D97-AF65-F5344CB8AC3E}">
        <p14:creationId xmlns:p14="http://schemas.microsoft.com/office/powerpoint/2010/main" val="57253041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83000">
              <a:schemeClr val="accent2">
                <a:lumMod val="50000"/>
              </a:schemeClr>
            </a:gs>
            <a:gs pos="33000">
              <a:schemeClr val="accent5">
                <a:lumMod val="50000"/>
              </a:schemeClr>
            </a:gs>
            <a:gs pos="0">
              <a:schemeClr val="accent6">
                <a:lumMod val="50000"/>
              </a:schemeClr>
            </a:gs>
            <a:gs pos="100000">
              <a:schemeClr val="accent1">
                <a:lumMod val="50000"/>
              </a:schemeClr>
            </a:gs>
          </a:gsLst>
          <a:lin ang="16200000" scaled="1"/>
          <a:tileRect/>
        </a:gradFill>
        <a:effectLst/>
      </p:bgPr>
    </p:bg>
    <p:spTree>
      <p:nvGrpSpPr>
        <p:cNvPr id="1" name="">
          <a:extLst>
            <a:ext uri="{FF2B5EF4-FFF2-40B4-BE49-F238E27FC236}">
              <a16:creationId xmlns:a16="http://schemas.microsoft.com/office/drawing/2014/main" id="{74CBA99A-B316-4C49-9293-BCA79285157A}"/>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107887C9-C296-C14A-D1B3-BE13AEFBF8D0}"/>
              </a:ext>
            </a:extLst>
          </p:cNvPr>
          <p:cNvSpPr txBox="1"/>
          <p:nvPr/>
        </p:nvSpPr>
        <p:spPr>
          <a:xfrm>
            <a:off x="377371" y="330591"/>
            <a:ext cx="11437257" cy="646331"/>
          </a:xfrm>
          <a:prstGeom prst="rect">
            <a:avLst/>
          </a:prstGeom>
          <a:noFill/>
        </p:spPr>
        <p:txBody>
          <a:bodyPr wrap="square">
            <a:spAutoFit/>
          </a:bodyPr>
          <a:lstStyle/>
          <a:p>
            <a:r>
              <a:rPr lang="es-CL" sz="3600" noProof="0" dirty="0">
                <a:solidFill>
                  <a:schemeClr val="bg1"/>
                </a:solidFill>
                <a:latin typeface="Eras Demi ITC" panose="020B0805030504020804" pitchFamily="34" charset="0"/>
              </a:rPr>
              <a:t>Resultados</a:t>
            </a:r>
          </a:p>
        </p:txBody>
      </p:sp>
      <p:pic>
        <p:nvPicPr>
          <p:cNvPr id="22" name="Imagen 21">
            <a:extLst>
              <a:ext uri="{FF2B5EF4-FFF2-40B4-BE49-F238E27FC236}">
                <a16:creationId xmlns:a16="http://schemas.microsoft.com/office/drawing/2014/main" id="{A0825566-34EA-48C4-5570-7F47E8046976}"/>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sharpenSoften amount="50000"/>
                    </a14:imgEffect>
                    <a14:imgEffect>
                      <a14:brightnessContrast bright="-40000" contrast="40000"/>
                    </a14:imgEffect>
                  </a14:imgLayer>
                </a14:imgProps>
              </a:ext>
            </a:extLst>
          </a:blip>
          <a:stretch>
            <a:fillRect/>
          </a:stretch>
        </p:blipFill>
        <p:spPr>
          <a:xfrm flipV="1">
            <a:off x="-132442" y="4799622"/>
            <a:ext cx="5500914" cy="5500914"/>
          </a:xfrm>
          <a:prstGeom prst="rect">
            <a:avLst/>
          </a:prstGeom>
        </p:spPr>
      </p:pic>
      <p:pic>
        <p:nvPicPr>
          <p:cNvPr id="24" name="Imagen 23">
            <a:extLst>
              <a:ext uri="{FF2B5EF4-FFF2-40B4-BE49-F238E27FC236}">
                <a16:creationId xmlns:a16="http://schemas.microsoft.com/office/drawing/2014/main" id="{B7097E1E-45B5-7592-5914-770137E160B4}"/>
              </a:ext>
            </a:extLst>
          </p:cNvPr>
          <p:cNvPicPr>
            <a:picLocks noChangeAspect="1"/>
          </p:cNvPicPr>
          <p:nvPr/>
        </p:nvPicPr>
        <p:blipFill>
          <a:blip r:embed="rId5">
            <a:lum bright="70000" contrast="-70000"/>
            <a:extLst>
              <a:ext uri="{BEBA8EAE-BF5A-486C-A8C5-ECC9F3942E4B}">
                <a14:imgProps xmlns:a14="http://schemas.microsoft.com/office/drawing/2010/main">
                  <a14:imgLayer r:embed="rId4">
                    <a14:imgEffect>
                      <a14:artisticPlasticWrap/>
                    </a14:imgEffect>
                    <a14:imgEffect>
                      <a14:sharpenSoften amount="50000"/>
                    </a14:imgEffect>
                    <a14:imgEffect>
                      <a14:brightnessContrast bright="-40000" contrast="40000"/>
                    </a14:imgEffect>
                  </a14:imgLayer>
                </a14:imgProps>
              </a:ext>
            </a:extLst>
          </a:blip>
          <a:stretch>
            <a:fillRect/>
          </a:stretch>
        </p:blipFill>
        <p:spPr>
          <a:xfrm rot="10800000">
            <a:off x="-2882899" y="1357086"/>
            <a:ext cx="5500914" cy="5500914"/>
          </a:xfrm>
          <a:prstGeom prst="rect">
            <a:avLst/>
          </a:prstGeom>
        </p:spPr>
      </p:pic>
      <p:pic>
        <p:nvPicPr>
          <p:cNvPr id="10" name="Gráfico 9" descr="Dollar con relleno sólido">
            <a:extLst>
              <a:ext uri="{FF2B5EF4-FFF2-40B4-BE49-F238E27FC236}">
                <a16:creationId xmlns:a16="http://schemas.microsoft.com/office/drawing/2014/main" id="{FCFC79E3-2820-DBA1-CAB2-D4AC3EC83C5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51836" y="3286436"/>
            <a:ext cx="914400" cy="914400"/>
          </a:xfrm>
          <a:prstGeom prst="rect">
            <a:avLst/>
          </a:prstGeom>
        </p:spPr>
      </p:pic>
      <p:pic>
        <p:nvPicPr>
          <p:cNvPr id="12" name="Gráfico 11" descr="Bitcoin con relleno sólido">
            <a:extLst>
              <a:ext uri="{FF2B5EF4-FFF2-40B4-BE49-F238E27FC236}">
                <a16:creationId xmlns:a16="http://schemas.microsoft.com/office/drawing/2014/main" id="{FC310097-B08E-0D66-171F-D29962D4CDE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751836" y="1241045"/>
            <a:ext cx="914400" cy="914400"/>
          </a:xfrm>
          <a:prstGeom prst="rect">
            <a:avLst/>
          </a:prstGeom>
        </p:spPr>
      </p:pic>
      <p:sp>
        <p:nvSpPr>
          <p:cNvPr id="14" name="CuadroTexto 13">
            <a:extLst>
              <a:ext uri="{FF2B5EF4-FFF2-40B4-BE49-F238E27FC236}">
                <a16:creationId xmlns:a16="http://schemas.microsoft.com/office/drawing/2014/main" id="{4C32D164-AD61-EAC8-0CEC-BF9DFDD54C0B}"/>
              </a:ext>
            </a:extLst>
          </p:cNvPr>
          <p:cNvSpPr txBox="1"/>
          <p:nvPr/>
        </p:nvSpPr>
        <p:spPr>
          <a:xfrm>
            <a:off x="1820672" y="2107818"/>
            <a:ext cx="3691128" cy="626325"/>
          </a:xfrm>
          <a:prstGeom prst="rect">
            <a:avLst/>
          </a:prstGeom>
          <a:noFill/>
        </p:spPr>
        <p:txBody>
          <a:bodyPr wrap="square">
            <a:spAutoFit/>
          </a:bodyPr>
          <a:lstStyle/>
          <a:p>
            <a:pPr>
              <a:lnSpc>
                <a:spcPct val="116000"/>
              </a:lnSpc>
              <a:spcAft>
                <a:spcPts val="800"/>
              </a:spcAft>
              <a:buNone/>
            </a:pPr>
            <a:r>
              <a:rPr lang="es-CL" sz="3200" noProof="0" dirty="0">
                <a:solidFill>
                  <a:schemeClr val="bg1"/>
                </a:solidFill>
                <a:effectLst/>
                <a:latin typeface="Consolas" panose="020B0609020204030204" pitchFamily="49" charset="0"/>
              </a:rPr>
              <a:t>0.0000000159  </a:t>
            </a:r>
            <a:endParaRPr lang="es-CL" sz="3600" noProof="0" dirty="0">
              <a:solidFill>
                <a:schemeClr val="bg1"/>
              </a:solidFill>
              <a:effectLst/>
              <a:latin typeface="Consolas" panose="020B0609020204030204" pitchFamily="49" charset="0"/>
              <a:ea typeface="Calibri" panose="020F0502020204030204" pitchFamily="34" charset="0"/>
              <a:cs typeface="Arial" panose="020B0604020202020204" pitchFamily="34" charset="0"/>
            </a:endParaRPr>
          </a:p>
        </p:txBody>
      </p:sp>
      <p:sp>
        <p:nvSpPr>
          <p:cNvPr id="16" name="CuadroTexto 15">
            <a:extLst>
              <a:ext uri="{FF2B5EF4-FFF2-40B4-BE49-F238E27FC236}">
                <a16:creationId xmlns:a16="http://schemas.microsoft.com/office/drawing/2014/main" id="{EE772A5F-6261-25EC-EAF9-09DDCBCCDEDC}"/>
              </a:ext>
            </a:extLst>
          </p:cNvPr>
          <p:cNvSpPr txBox="1"/>
          <p:nvPr/>
        </p:nvSpPr>
        <p:spPr>
          <a:xfrm>
            <a:off x="1770454" y="4200836"/>
            <a:ext cx="3156564" cy="1197572"/>
          </a:xfrm>
          <a:prstGeom prst="rect">
            <a:avLst/>
          </a:prstGeom>
          <a:noFill/>
        </p:spPr>
        <p:txBody>
          <a:bodyPr wrap="square">
            <a:spAutoFit/>
          </a:bodyPr>
          <a:lstStyle/>
          <a:p>
            <a:pPr>
              <a:lnSpc>
                <a:spcPct val="116000"/>
              </a:lnSpc>
              <a:spcAft>
                <a:spcPts val="800"/>
              </a:spcAft>
              <a:buNone/>
            </a:pPr>
            <a:r>
              <a:rPr lang="es-CL" sz="3200" noProof="0" dirty="0">
                <a:solidFill>
                  <a:schemeClr val="bg1"/>
                </a:solidFill>
                <a:effectLst/>
                <a:latin typeface="Consolas" panose="020B0609020204030204" pitchFamily="49" charset="0"/>
              </a:rPr>
              <a:t>$0.001686566  </a:t>
            </a:r>
            <a:endParaRPr lang="es-CL" sz="3600" noProof="0" dirty="0">
              <a:solidFill>
                <a:schemeClr val="bg1"/>
              </a:solidFill>
              <a:effectLst/>
              <a:latin typeface="Consolas" panose="020B0609020204030204" pitchFamily="49" charset="0"/>
              <a:ea typeface="Calibri" panose="020F050202020403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58043029-548A-6EED-BA60-E6FD9DA22560}"/>
              </a:ext>
            </a:extLst>
          </p:cNvPr>
          <p:cNvGraphicFramePr>
            <a:graphicFrameLocks noGrp="1"/>
          </p:cNvGraphicFramePr>
          <p:nvPr>
            <p:extLst>
              <p:ext uri="{D42A27DB-BD31-4B8C-83A1-F6EECF244321}">
                <p14:modId xmlns:p14="http://schemas.microsoft.com/office/powerpoint/2010/main" val="1702855819"/>
              </p:ext>
            </p:extLst>
          </p:nvPr>
        </p:nvGraphicFramePr>
        <p:xfrm>
          <a:off x="4927018" y="1097144"/>
          <a:ext cx="7090229" cy="3993088"/>
        </p:xfrm>
        <a:graphic>
          <a:graphicData uri="http://schemas.openxmlformats.org/drawingml/2006/table">
            <a:tbl>
              <a:tblPr firstRow="1" firstCol="1">
                <a:tableStyleId>{7DF18680-E054-41AD-8BC1-D1AEF772440D}</a:tableStyleId>
              </a:tblPr>
              <a:tblGrid>
                <a:gridCol w="1987578">
                  <a:extLst>
                    <a:ext uri="{9D8B030D-6E8A-4147-A177-3AD203B41FA5}">
                      <a16:colId xmlns:a16="http://schemas.microsoft.com/office/drawing/2014/main" val="1356553275"/>
                    </a:ext>
                  </a:extLst>
                </a:gridCol>
                <a:gridCol w="1005763">
                  <a:extLst>
                    <a:ext uri="{9D8B030D-6E8A-4147-A177-3AD203B41FA5}">
                      <a16:colId xmlns:a16="http://schemas.microsoft.com/office/drawing/2014/main" val="1615728590"/>
                    </a:ext>
                  </a:extLst>
                </a:gridCol>
                <a:gridCol w="1019732">
                  <a:extLst>
                    <a:ext uri="{9D8B030D-6E8A-4147-A177-3AD203B41FA5}">
                      <a16:colId xmlns:a16="http://schemas.microsoft.com/office/drawing/2014/main" val="668748238"/>
                    </a:ext>
                  </a:extLst>
                </a:gridCol>
                <a:gridCol w="1285142">
                  <a:extLst>
                    <a:ext uri="{9D8B030D-6E8A-4147-A177-3AD203B41FA5}">
                      <a16:colId xmlns:a16="http://schemas.microsoft.com/office/drawing/2014/main" val="606945738"/>
                    </a:ext>
                  </a:extLst>
                </a:gridCol>
                <a:gridCol w="1792014">
                  <a:extLst>
                    <a:ext uri="{9D8B030D-6E8A-4147-A177-3AD203B41FA5}">
                      <a16:colId xmlns:a16="http://schemas.microsoft.com/office/drawing/2014/main" val="1652737816"/>
                    </a:ext>
                  </a:extLst>
                </a:gridCol>
              </a:tblGrid>
              <a:tr h="674078">
                <a:tc>
                  <a:txBody>
                    <a:bodyPr/>
                    <a:lstStyle/>
                    <a:p>
                      <a:pPr>
                        <a:lnSpc>
                          <a:spcPct val="116000"/>
                        </a:lnSpc>
                        <a:spcAft>
                          <a:spcPts val="800"/>
                        </a:spcAft>
                        <a:buNone/>
                      </a:pPr>
                      <a:r>
                        <a:rPr lang="es-ES" sz="1800" b="0" dirty="0">
                          <a:effectLst/>
                          <a:latin typeface="Consolas" panose="020B0609020204030204" pitchFamily="49" charset="0"/>
                        </a:rPr>
                        <a:t>Página</a:t>
                      </a:r>
                      <a:endParaRPr lang="es-CL" sz="2000" b="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ES" sz="1800" b="0">
                          <a:effectLst/>
                          <a:latin typeface="Consolas" panose="020B0609020204030204" pitchFamily="49" charset="0"/>
                        </a:rPr>
                        <a:t>Sesiones</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ES" sz="1800" b="0">
                          <a:effectLst/>
                          <a:latin typeface="Consolas" panose="020B0609020204030204" pitchFamily="49" charset="0"/>
                        </a:rPr>
                        <a:t>Bloques</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ES" sz="1800" b="0" dirty="0">
                          <a:effectLst/>
                          <a:latin typeface="Consolas" panose="020B0609020204030204" pitchFamily="49" charset="0"/>
                        </a:rPr>
                        <a:t>Tiempo (s)</a:t>
                      </a:r>
                      <a:endParaRPr lang="es-CL" sz="2000" b="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ES" sz="1800" b="0" dirty="0">
                          <a:effectLst/>
                          <a:latin typeface="Consolas" panose="020B0609020204030204" pitchFamily="49" charset="0"/>
                        </a:rPr>
                        <a:t>Total minado</a:t>
                      </a:r>
                      <a:endParaRPr lang="es-CL" sz="2000" b="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066993088"/>
                  </a:ext>
                </a:extLst>
              </a:tr>
              <a:tr h="424216">
                <a:tc>
                  <a:txBody>
                    <a:bodyPr/>
                    <a:lstStyle/>
                    <a:p>
                      <a:pPr>
                        <a:lnSpc>
                          <a:spcPct val="116000"/>
                        </a:lnSpc>
                        <a:spcAft>
                          <a:spcPts val="800"/>
                        </a:spcAft>
                        <a:buNone/>
                      </a:pPr>
                      <a:r>
                        <a:rPr lang="es-ES" sz="1800" b="0">
                          <a:effectLst/>
                          <a:latin typeface="Consolas" panose="020B0609020204030204" pitchFamily="49" charset="0"/>
                        </a:rPr>
                        <a:t>Bitcoin-miner</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ES" sz="1800" b="0">
                          <a:effectLst/>
                          <a:latin typeface="Consolas" panose="020B0609020204030204" pitchFamily="49" charset="0"/>
                        </a:rPr>
                        <a:t>7</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ES" sz="1800" b="0">
                          <a:effectLst/>
                          <a:latin typeface="Consolas" panose="020B0609020204030204" pitchFamily="49" charset="0"/>
                        </a:rPr>
                        <a:t>1370</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gn="r">
                        <a:lnSpc>
                          <a:spcPct val="116000"/>
                        </a:lnSpc>
                        <a:spcAft>
                          <a:spcPts val="800"/>
                        </a:spcAft>
                        <a:buNone/>
                      </a:pPr>
                      <a:r>
                        <a:rPr lang="es-ES" sz="1800" b="0" dirty="0">
                          <a:effectLst/>
                          <a:latin typeface="Consolas" panose="020B0609020204030204" pitchFamily="49" charset="0"/>
                        </a:rPr>
                        <a:t>4752</a:t>
                      </a:r>
                      <a:endParaRPr lang="es-CL" sz="2000" b="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gn="r">
                        <a:lnSpc>
                          <a:spcPct val="116000"/>
                        </a:lnSpc>
                        <a:spcAft>
                          <a:spcPts val="800"/>
                        </a:spcAft>
                        <a:buNone/>
                      </a:pPr>
                      <a:r>
                        <a:rPr lang="es-ES" sz="1800" b="0">
                          <a:effectLst/>
                          <a:latin typeface="Consolas" panose="020B0609020204030204" pitchFamily="49" charset="0"/>
                        </a:rPr>
                        <a:t>0.0000000043</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81307170"/>
                  </a:ext>
                </a:extLst>
              </a:tr>
              <a:tr h="509060">
                <a:tc>
                  <a:txBody>
                    <a:bodyPr/>
                    <a:lstStyle/>
                    <a:p>
                      <a:pPr>
                        <a:lnSpc>
                          <a:spcPct val="116000"/>
                        </a:lnSpc>
                        <a:spcAft>
                          <a:spcPts val="800"/>
                        </a:spcAft>
                        <a:buNone/>
                      </a:pPr>
                      <a:r>
                        <a:rPr lang="es-ES" sz="1800" b="0">
                          <a:effectLst/>
                          <a:latin typeface="Consolas" panose="020B0609020204030204" pitchFamily="49" charset="0"/>
                        </a:rPr>
                        <a:t>eduram</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ES" sz="1800" b="0">
                          <a:effectLst/>
                          <a:latin typeface="Consolas" panose="020B0609020204030204" pitchFamily="49" charset="0"/>
                        </a:rPr>
                        <a:t>35</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ES" sz="1800" b="0">
                          <a:effectLst/>
                          <a:latin typeface="Consolas" panose="020B0609020204030204" pitchFamily="49" charset="0"/>
                        </a:rPr>
                        <a:t>1225</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gn="r">
                        <a:lnSpc>
                          <a:spcPct val="116000"/>
                        </a:lnSpc>
                        <a:spcAft>
                          <a:spcPts val="800"/>
                        </a:spcAft>
                        <a:buNone/>
                      </a:pPr>
                      <a:r>
                        <a:rPr lang="es-ES" sz="1800" b="0">
                          <a:effectLst/>
                          <a:latin typeface="Consolas" panose="020B0609020204030204" pitchFamily="49" charset="0"/>
                        </a:rPr>
                        <a:t>31167</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gn="r">
                        <a:lnSpc>
                          <a:spcPct val="116000"/>
                        </a:lnSpc>
                        <a:spcAft>
                          <a:spcPts val="800"/>
                        </a:spcAft>
                        <a:buNone/>
                      </a:pPr>
                      <a:r>
                        <a:rPr lang="es-ES" sz="1800" b="0">
                          <a:effectLst/>
                          <a:latin typeface="Consolas" panose="020B0609020204030204" pitchFamily="49" charset="0"/>
                        </a:rPr>
                        <a:t>0.0000000038</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75024099"/>
                  </a:ext>
                </a:extLst>
              </a:tr>
              <a:tr h="843060">
                <a:tc>
                  <a:txBody>
                    <a:bodyPr/>
                    <a:lstStyle/>
                    <a:p>
                      <a:pPr>
                        <a:lnSpc>
                          <a:spcPct val="116000"/>
                        </a:lnSpc>
                        <a:spcAft>
                          <a:spcPts val="800"/>
                        </a:spcAft>
                        <a:buNone/>
                      </a:pPr>
                      <a:r>
                        <a:rPr lang="es-ES" sz="1800" b="0" dirty="0">
                          <a:effectLst/>
                          <a:latin typeface="Consolas" panose="020B0609020204030204" pitchFamily="49" charset="0"/>
                        </a:rPr>
                        <a:t>/encuesta-pasaje</a:t>
                      </a:r>
                      <a:endParaRPr lang="es-CL" sz="2000" b="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ES" sz="1800" b="0">
                          <a:effectLst/>
                          <a:latin typeface="Consolas" panose="020B0609020204030204" pitchFamily="49" charset="0"/>
                        </a:rPr>
                        <a:t>8</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ES" sz="1800" b="0">
                          <a:effectLst/>
                          <a:latin typeface="Consolas" panose="020B0609020204030204" pitchFamily="49" charset="0"/>
                        </a:rPr>
                        <a:t>267</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gn="r">
                        <a:lnSpc>
                          <a:spcPct val="116000"/>
                        </a:lnSpc>
                        <a:spcAft>
                          <a:spcPts val="800"/>
                        </a:spcAft>
                        <a:buNone/>
                      </a:pPr>
                      <a:r>
                        <a:rPr lang="es-ES" sz="1800" b="0">
                          <a:effectLst/>
                          <a:latin typeface="Consolas" panose="020B0609020204030204" pitchFamily="49" charset="0"/>
                        </a:rPr>
                        <a:t>5271</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gn="r">
                        <a:lnSpc>
                          <a:spcPct val="116000"/>
                        </a:lnSpc>
                        <a:spcAft>
                          <a:spcPts val="800"/>
                        </a:spcAft>
                        <a:buNone/>
                      </a:pPr>
                      <a:r>
                        <a:rPr lang="es-ES" sz="1800" b="0">
                          <a:effectLst/>
                          <a:latin typeface="Consolas" panose="020B0609020204030204" pitchFamily="49" charset="0"/>
                        </a:rPr>
                        <a:t>0.0000000008</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05018879"/>
                  </a:ext>
                </a:extLst>
              </a:tr>
              <a:tr h="694242">
                <a:tc>
                  <a:txBody>
                    <a:bodyPr/>
                    <a:lstStyle/>
                    <a:p>
                      <a:pPr>
                        <a:lnSpc>
                          <a:spcPct val="116000"/>
                        </a:lnSpc>
                        <a:spcAft>
                          <a:spcPts val="800"/>
                        </a:spcAft>
                        <a:buNone/>
                      </a:pPr>
                      <a:r>
                        <a:rPr lang="es-ES" sz="1800" b="0" dirty="0">
                          <a:effectLst/>
                          <a:latin typeface="Consolas" panose="020B0609020204030204" pitchFamily="49" charset="0"/>
                        </a:rPr>
                        <a:t>/</a:t>
                      </a:r>
                      <a:r>
                        <a:rPr lang="es-ES" sz="1800" b="0" dirty="0" err="1">
                          <a:effectLst/>
                          <a:latin typeface="Consolas" panose="020B0609020204030204" pitchFamily="49" charset="0"/>
                        </a:rPr>
                        <a:t>leccion</a:t>
                      </a:r>
                      <a:r>
                        <a:rPr lang="es-ES" sz="1800" b="0" dirty="0">
                          <a:effectLst/>
                          <a:latin typeface="Consolas" panose="020B0609020204030204" pitchFamily="49" charset="0"/>
                        </a:rPr>
                        <a:t>-seguridad</a:t>
                      </a:r>
                      <a:endParaRPr lang="es-CL" sz="2000" b="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ES" sz="1800" b="0">
                          <a:effectLst/>
                          <a:latin typeface="Consolas" panose="020B0609020204030204" pitchFamily="49" charset="0"/>
                        </a:rPr>
                        <a:t>29</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ES" sz="1800" b="0">
                          <a:effectLst/>
                          <a:latin typeface="Consolas" panose="020B0609020204030204" pitchFamily="49" charset="0"/>
                        </a:rPr>
                        <a:t>1957</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gn="r">
                        <a:lnSpc>
                          <a:spcPct val="116000"/>
                        </a:lnSpc>
                        <a:spcAft>
                          <a:spcPts val="800"/>
                        </a:spcAft>
                        <a:buNone/>
                      </a:pPr>
                      <a:r>
                        <a:rPr lang="es-ES" sz="1800" b="0">
                          <a:effectLst/>
                          <a:latin typeface="Consolas" panose="020B0609020204030204" pitchFamily="49" charset="0"/>
                        </a:rPr>
                        <a:t>8086</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gn="r">
                        <a:lnSpc>
                          <a:spcPct val="116000"/>
                        </a:lnSpc>
                        <a:spcAft>
                          <a:spcPts val="800"/>
                        </a:spcAft>
                        <a:buNone/>
                      </a:pPr>
                      <a:r>
                        <a:rPr lang="es-ES" sz="1800" b="0">
                          <a:effectLst/>
                          <a:latin typeface="Consolas" panose="020B0609020204030204" pitchFamily="49" charset="0"/>
                        </a:rPr>
                        <a:t>0.0000000061</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279289164"/>
                  </a:ext>
                </a:extLst>
              </a:tr>
              <a:tr h="424216">
                <a:tc>
                  <a:txBody>
                    <a:bodyPr/>
                    <a:lstStyle/>
                    <a:p>
                      <a:pPr>
                        <a:lnSpc>
                          <a:spcPct val="116000"/>
                        </a:lnSpc>
                        <a:spcAft>
                          <a:spcPts val="800"/>
                        </a:spcAft>
                        <a:buNone/>
                      </a:pPr>
                      <a:r>
                        <a:rPr lang="es-ES" sz="1800" b="0">
                          <a:effectLst/>
                          <a:latin typeface="Consolas" panose="020B0609020204030204" pitchFamily="49" charset="0"/>
                        </a:rPr>
                        <a:t>/micomunidad</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ES" sz="1800" b="0">
                          <a:effectLst/>
                          <a:latin typeface="Consolas" panose="020B0609020204030204" pitchFamily="49" charset="0"/>
                        </a:rPr>
                        <a:t>6</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ES" sz="1800" b="0">
                          <a:effectLst/>
                          <a:latin typeface="Consolas" panose="020B0609020204030204" pitchFamily="49" charset="0"/>
                        </a:rPr>
                        <a:t>146</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gn="r">
                        <a:lnSpc>
                          <a:spcPct val="116000"/>
                        </a:lnSpc>
                        <a:spcAft>
                          <a:spcPts val="800"/>
                        </a:spcAft>
                        <a:buNone/>
                      </a:pPr>
                      <a:r>
                        <a:rPr lang="es-ES" sz="1800" b="0">
                          <a:effectLst/>
                          <a:latin typeface="Consolas" panose="020B0609020204030204" pitchFamily="49" charset="0"/>
                        </a:rPr>
                        <a:t>150</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gn="r">
                        <a:lnSpc>
                          <a:spcPct val="116000"/>
                        </a:lnSpc>
                        <a:spcAft>
                          <a:spcPts val="800"/>
                        </a:spcAft>
                        <a:buNone/>
                      </a:pPr>
                      <a:r>
                        <a:rPr lang="es-ES" sz="1800" b="0">
                          <a:effectLst/>
                          <a:latin typeface="Consolas" panose="020B0609020204030204" pitchFamily="49" charset="0"/>
                        </a:rPr>
                        <a:t>0.0000000005</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599085707"/>
                  </a:ext>
                </a:extLst>
              </a:tr>
              <a:tr h="424216">
                <a:tc>
                  <a:txBody>
                    <a:bodyPr/>
                    <a:lstStyle/>
                    <a:p>
                      <a:pPr>
                        <a:lnSpc>
                          <a:spcPct val="116000"/>
                        </a:lnSpc>
                        <a:spcAft>
                          <a:spcPts val="800"/>
                        </a:spcAft>
                        <a:buNone/>
                      </a:pPr>
                      <a:r>
                        <a:rPr lang="es-ES" sz="1800" b="0">
                          <a:effectLst/>
                          <a:latin typeface="Consolas" panose="020B0609020204030204" pitchFamily="49" charset="0"/>
                        </a:rPr>
                        <a:t>/restaurante</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ES" sz="1800" b="0">
                          <a:effectLst/>
                          <a:latin typeface="Consolas" panose="020B0609020204030204" pitchFamily="49" charset="0"/>
                        </a:rPr>
                        <a:t>7</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nSpc>
                          <a:spcPct val="116000"/>
                        </a:lnSpc>
                        <a:spcAft>
                          <a:spcPts val="800"/>
                        </a:spcAft>
                        <a:buNone/>
                      </a:pPr>
                      <a:r>
                        <a:rPr lang="es-ES" sz="1800" b="0">
                          <a:effectLst/>
                          <a:latin typeface="Consolas" panose="020B0609020204030204" pitchFamily="49" charset="0"/>
                        </a:rPr>
                        <a:t>132</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gn="r">
                        <a:lnSpc>
                          <a:spcPct val="116000"/>
                        </a:lnSpc>
                        <a:spcAft>
                          <a:spcPts val="800"/>
                        </a:spcAft>
                        <a:buNone/>
                      </a:pPr>
                      <a:r>
                        <a:rPr lang="es-ES" sz="1800" b="0">
                          <a:effectLst/>
                          <a:latin typeface="Consolas" panose="020B0609020204030204" pitchFamily="49" charset="0"/>
                        </a:rPr>
                        <a:t>265</a:t>
                      </a:r>
                      <a:endParaRPr lang="es-CL" sz="2000" b="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tc>
                  <a:txBody>
                    <a:bodyPr/>
                    <a:lstStyle/>
                    <a:p>
                      <a:pPr algn="r">
                        <a:lnSpc>
                          <a:spcPct val="116000"/>
                        </a:lnSpc>
                        <a:spcAft>
                          <a:spcPts val="800"/>
                        </a:spcAft>
                        <a:buNone/>
                      </a:pPr>
                      <a:r>
                        <a:rPr lang="es-ES" sz="1800" b="0" dirty="0">
                          <a:effectLst/>
                          <a:latin typeface="Consolas" panose="020B0609020204030204" pitchFamily="49" charset="0"/>
                        </a:rPr>
                        <a:t>0.0000000004</a:t>
                      </a:r>
                      <a:endParaRPr lang="es-CL" sz="2000" b="0" dirty="0">
                        <a:effectLst/>
                        <a:latin typeface="Consolas" panose="020B0609020204030204" pitchFamily="49"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370717049"/>
                  </a:ext>
                </a:extLst>
              </a:tr>
            </a:tbl>
          </a:graphicData>
        </a:graphic>
      </p:graphicFrame>
    </p:spTree>
    <p:extLst>
      <p:ext uri="{BB962C8B-B14F-4D97-AF65-F5344CB8AC3E}">
        <p14:creationId xmlns:p14="http://schemas.microsoft.com/office/powerpoint/2010/main" val="1761563137"/>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83000">
              <a:schemeClr val="accent2">
                <a:lumMod val="50000"/>
              </a:schemeClr>
            </a:gs>
            <a:gs pos="33000">
              <a:schemeClr val="accent5">
                <a:lumMod val="50000"/>
              </a:schemeClr>
            </a:gs>
            <a:gs pos="0">
              <a:schemeClr val="accent6">
                <a:lumMod val="50000"/>
              </a:schemeClr>
            </a:gs>
            <a:gs pos="100000">
              <a:schemeClr val="accent1">
                <a:lumMod val="50000"/>
              </a:schemeClr>
            </a:gs>
          </a:gsLst>
          <a:lin ang="16200000" scaled="1"/>
          <a:tileRect/>
        </a:gradFill>
        <a:effectLst/>
      </p:bgPr>
    </p:bg>
    <p:spTree>
      <p:nvGrpSpPr>
        <p:cNvPr id="1" name="">
          <a:extLst>
            <a:ext uri="{FF2B5EF4-FFF2-40B4-BE49-F238E27FC236}">
              <a16:creationId xmlns:a16="http://schemas.microsoft.com/office/drawing/2014/main" id="{E1402F5A-AD48-C692-C8AF-3B26EEDEBC2E}"/>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60B2969B-5F39-A239-1E70-91C7422F39D7}"/>
              </a:ext>
            </a:extLst>
          </p:cNvPr>
          <p:cNvSpPr txBox="1"/>
          <p:nvPr/>
        </p:nvSpPr>
        <p:spPr>
          <a:xfrm>
            <a:off x="377371" y="330591"/>
            <a:ext cx="11437257" cy="646331"/>
          </a:xfrm>
          <a:prstGeom prst="rect">
            <a:avLst/>
          </a:prstGeom>
          <a:noFill/>
        </p:spPr>
        <p:txBody>
          <a:bodyPr wrap="square">
            <a:spAutoFit/>
          </a:bodyPr>
          <a:lstStyle/>
          <a:p>
            <a:r>
              <a:rPr lang="es-CL" sz="3600" noProof="0" dirty="0">
                <a:solidFill>
                  <a:schemeClr val="bg1"/>
                </a:solidFill>
                <a:latin typeface="Eras Demi ITC" panose="020B0805030504020804" pitchFamily="34" charset="0"/>
              </a:rPr>
              <a:t>Discusión de los Resultados</a:t>
            </a:r>
          </a:p>
        </p:txBody>
      </p:sp>
      <p:pic>
        <p:nvPicPr>
          <p:cNvPr id="22" name="Imagen 21">
            <a:extLst>
              <a:ext uri="{FF2B5EF4-FFF2-40B4-BE49-F238E27FC236}">
                <a16:creationId xmlns:a16="http://schemas.microsoft.com/office/drawing/2014/main" id="{B6776F83-9954-9B17-D573-CB90E597764E}"/>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sharpenSoften amount="50000"/>
                    </a14:imgEffect>
                    <a14:imgEffect>
                      <a14:brightnessContrast bright="-40000" contrast="40000"/>
                    </a14:imgEffect>
                  </a14:imgLayer>
                </a14:imgProps>
              </a:ext>
            </a:extLst>
          </a:blip>
          <a:stretch>
            <a:fillRect/>
          </a:stretch>
        </p:blipFill>
        <p:spPr>
          <a:xfrm flipV="1">
            <a:off x="-132442" y="4799622"/>
            <a:ext cx="5500914" cy="5500914"/>
          </a:xfrm>
          <a:prstGeom prst="rect">
            <a:avLst/>
          </a:prstGeom>
        </p:spPr>
      </p:pic>
      <p:pic>
        <p:nvPicPr>
          <p:cNvPr id="24" name="Imagen 23">
            <a:extLst>
              <a:ext uri="{FF2B5EF4-FFF2-40B4-BE49-F238E27FC236}">
                <a16:creationId xmlns:a16="http://schemas.microsoft.com/office/drawing/2014/main" id="{78B34A56-1165-7AC8-C72E-C357C619BD68}"/>
              </a:ext>
            </a:extLst>
          </p:cNvPr>
          <p:cNvPicPr>
            <a:picLocks noChangeAspect="1"/>
          </p:cNvPicPr>
          <p:nvPr/>
        </p:nvPicPr>
        <p:blipFill>
          <a:blip r:embed="rId5">
            <a:lum bright="70000" contrast="-70000"/>
            <a:extLst>
              <a:ext uri="{BEBA8EAE-BF5A-486C-A8C5-ECC9F3942E4B}">
                <a14:imgProps xmlns:a14="http://schemas.microsoft.com/office/drawing/2010/main">
                  <a14:imgLayer r:embed="rId4">
                    <a14:imgEffect>
                      <a14:artisticPlasticWrap/>
                    </a14:imgEffect>
                    <a14:imgEffect>
                      <a14:sharpenSoften amount="50000"/>
                    </a14:imgEffect>
                    <a14:imgEffect>
                      <a14:brightnessContrast bright="-40000" contrast="40000"/>
                    </a14:imgEffect>
                  </a14:imgLayer>
                </a14:imgProps>
              </a:ext>
            </a:extLst>
          </a:blip>
          <a:stretch>
            <a:fillRect/>
          </a:stretch>
        </p:blipFill>
        <p:spPr>
          <a:xfrm rot="10800000">
            <a:off x="-2882899" y="1357086"/>
            <a:ext cx="5500914" cy="5500914"/>
          </a:xfrm>
          <a:prstGeom prst="rect">
            <a:avLst/>
          </a:prstGeom>
        </p:spPr>
      </p:pic>
      <p:sp>
        <p:nvSpPr>
          <p:cNvPr id="2" name="CuadroTexto 1">
            <a:extLst>
              <a:ext uri="{FF2B5EF4-FFF2-40B4-BE49-F238E27FC236}">
                <a16:creationId xmlns:a16="http://schemas.microsoft.com/office/drawing/2014/main" id="{B0A91D47-0BCF-423E-9522-EC0D2373854A}"/>
              </a:ext>
            </a:extLst>
          </p:cNvPr>
          <p:cNvSpPr txBox="1"/>
          <p:nvPr/>
        </p:nvSpPr>
        <p:spPr>
          <a:xfrm>
            <a:off x="2390550" y="1542730"/>
            <a:ext cx="7289800" cy="369332"/>
          </a:xfrm>
          <a:prstGeom prst="rect">
            <a:avLst/>
          </a:prstGeom>
          <a:noFill/>
        </p:spPr>
        <p:txBody>
          <a:bodyPr wrap="square" rtlCol="0">
            <a:spAutoFit/>
          </a:bodyPr>
          <a:lstStyle/>
          <a:p>
            <a:pPr marL="285750" indent="-285750">
              <a:buFont typeface="Arial" panose="020B0604020202020204" pitchFamily="34" charset="0"/>
              <a:buChar char="•"/>
            </a:pPr>
            <a:r>
              <a:rPr lang="es-CL" noProof="0" dirty="0">
                <a:solidFill>
                  <a:schemeClr val="bg1"/>
                </a:solidFill>
                <a:latin typeface="Eras Medium ITC" panose="020B0602030504020804" pitchFamily="34" charset="0"/>
              </a:rPr>
              <a:t>Hay menos sesiones que visitas:</a:t>
            </a:r>
          </a:p>
        </p:txBody>
      </p:sp>
      <p:pic>
        <p:nvPicPr>
          <p:cNvPr id="5" name="Gráfico 4" descr="Brain in head con relleno sólido">
            <a:extLst>
              <a:ext uri="{FF2B5EF4-FFF2-40B4-BE49-F238E27FC236}">
                <a16:creationId xmlns:a16="http://schemas.microsoft.com/office/drawing/2014/main" id="{F41AEB87-149D-CEC4-E4C0-36425EF3EB8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91749" y="1264780"/>
            <a:ext cx="914400" cy="914400"/>
          </a:xfrm>
          <a:prstGeom prst="rect">
            <a:avLst/>
          </a:prstGeom>
        </p:spPr>
      </p:pic>
      <p:pic>
        <p:nvPicPr>
          <p:cNvPr id="8" name="Gráfico 7" descr="Hourglass Finished con relleno sólido">
            <a:extLst>
              <a:ext uri="{FF2B5EF4-FFF2-40B4-BE49-F238E27FC236}">
                <a16:creationId xmlns:a16="http://schemas.microsoft.com/office/drawing/2014/main" id="{792781D1-AC6F-B775-DE1A-8F8AC797725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96000" y="1264780"/>
            <a:ext cx="914400" cy="914400"/>
          </a:xfrm>
          <a:prstGeom prst="rect">
            <a:avLst/>
          </a:prstGeom>
        </p:spPr>
      </p:pic>
      <p:pic>
        <p:nvPicPr>
          <p:cNvPr id="11" name="Gráfico 10" descr="Disconnected con relleno sólido">
            <a:extLst>
              <a:ext uri="{FF2B5EF4-FFF2-40B4-BE49-F238E27FC236}">
                <a16:creationId xmlns:a16="http://schemas.microsoft.com/office/drawing/2014/main" id="{6CB1206F-F13D-3B69-BD11-67D4FC4DEF6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87498" y="1264780"/>
            <a:ext cx="914400" cy="914400"/>
          </a:xfrm>
          <a:prstGeom prst="rect">
            <a:avLst/>
          </a:prstGeom>
        </p:spPr>
      </p:pic>
      <p:sp>
        <p:nvSpPr>
          <p:cNvPr id="20" name="CuadroTexto 19">
            <a:extLst>
              <a:ext uri="{FF2B5EF4-FFF2-40B4-BE49-F238E27FC236}">
                <a16:creationId xmlns:a16="http://schemas.microsoft.com/office/drawing/2014/main" id="{88D9B1BC-6140-96E8-08B6-120E5D52ABE2}"/>
              </a:ext>
            </a:extLst>
          </p:cNvPr>
          <p:cNvSpPr txBox="1"/>
          <p:nvPr/>
        </p:nvSpPr>
        <p:spPr>
          <a:xfrm>
            <a:off x="2390550" y="2467038"/>
            <a:ext cx="8925150" cy="2031325"/>
          </a:xfrm>
          <a:prstGeom prst="rect">
            <a:avLst/>
          </a:prstGeom>
          <a:noFill/>
        </p:spPr>
        <p:txBody>
          <a:bodyPr wrap="square">
            <a:spAutoFit/>
          </a:bodyPr>
          <a:lstStyle/>
          <a:p>
            <a:pPr marL="285750" indent="-285750">
              <a:buFont typeface="Arial" panose="020B0604020202020204" pitchFamily="34" charset="0"/>
              <a:buChar char="•"/>
            </a:pPr>
            <a:r>
              <a:rPr lang="es-CL" dirty="0">
                <a:solidFill>
                  <a:schemeClr val="bg1"/>
                </a:solidFill>
                <a:latin typeface="Eras Medium ITC" panose="020B0602030504020804" pitchFamily="34" charset="0"/>
              </a:rPr>
              <a:t>No hubo constancia en la cantidad de </a:t>
            </a:r>
            <a:r>
              <a:rPr lang="es-CL" dirty="0" err="1">
                <a:solidFill>
                  <a:schemeClr val="bg1"/>
                </a:solidFill>
                <a:latin typeface="Eras Medium ITC" panose="020B0602030504020804" pitchFamily="34" charset="0"/>
              </a:rPr>
              <a:t>QRs</a:t>
            </a:r>
            <a:r>
              <a:rPr lang="es-CL" dirty="0">
                <a:solidFill>
                  <a:schemeClr val="bg1"/>
                </a:solidFill>
                <a:latin typeface="Eras Medium ITC" panose="020B0602030504020804" pitchFamily="34" charset="0"/>
              </a:rPr>
              <a:t> ni el tiempo que estuvieron pegados</a:t>
            </a:r>
            <a:endParaRPr lang="es-ES" sz="1800" dirty="0">
              <a:solidFill>
                <a:schemeClr val="bg1"/>
              </a:solidFill>
              <a:effectLst/>
              <a:latin typeface="Eras Medium ITC" panose="020B0602030504020804" pitchFamily="34" charset="0"/>
              <a:ea typeface="Arial" panose="020B0604020202020204" pitchFamily="34" charset="0"/>
            </a:endParaRPr>
          </a:p>
          <a:p>
            <a:pPr marL="285750" indent="-285750">
              <a:buFont typeface="Arial" panose="020B0604020202020204" pitchFamily="34" charset="0"/>
              <a:buChar char="•"/>
            </a:pPr>
            <a:endParaRPr lang="es-ES" dirty="0">
              <a:solidFill>
                <a:schemeClr val="bg1"/>
              </a:solidFill>
              <a:latin typeface="Eras Medium ITC" panose="020B0602030504020804" pitchFamily="34" charset="0"/>
              <a:ea typeface="Arial" panose="020B0604020202020204" pitchFamily="34" charset="0"/>
            </a:endParaRPr>
          </a:p>
          <a:p>
            <a:pPr marL="285750" indent="-285750">
              <a:buFont typeface="Arial" panose="020B0604020202020204" pitchFamily="34" charset="0"/>
              <a:buChar char="•"/>
            </a:pPr>
            <a:r>
              <a:rPr lang="es-ES" sz="1800" dirty="0">
                <a:solidFill>
                  <a:schemeClr val="bg1"/>
                </a:solidFill>
                <a:effectLst/>
                <a:latin typeface="Eras Medium ITC" panose="020B0602030504020804" pitchFamily="34" charset="0"/>
                <a:ea typeface="Arial" panose="020B0604020202020204" pitchFamily="34" charset="0"/>
              </a:rPr>
              <a:t>Los QR pegados en la universidad fueron los más efectivos</a:t>
            </a:r>
          </a:p>
          <a:p>
            <a:pPr marL="285750" indent="-285750">
              <a:buFont typeface="Arial" panose="020B0604020202020204" pitchFamily="34" charset="0"/>
              <a:buChar char="•"/>
            </a:pPr>
            <a:endParaRPr lang="es-ES" dirty="0">
              <a:solidFill>
                <a:schemeClr val="bg1"/>
              </a:solidFill>
              <a:latin typeface="Eras Medium ITC" panose="020B0602030504020804" pitchFamily="34" charset="0"/>
              <a:ea typeface="Arial" panose="020B0604020202020204" pitchFamily="34" charset="0"/>
            </a:endParaRPr>
          </a:p>
          <a:p>
            <a:pPr marL="285750" indent="-285750">
              <a:buFont typeface="Arial" panose="020B0604020202020204" pitchFamily="34" charset="0"/>
              <a:buChar char="•"/>
            </a:pPr>
            <a:r>
              <a:rPr lang="es-ES" dirty="0">
                <a:solidFill>
                  <a:schemeClr val="bg1"/>
                </a:solidFill>
                <a:latin typeface="Eras Medium ITC" panose="020B0602030504020804" pitchFamily="34" charset="0"/>
                <a:ea typeface="Arial" panose="020B0604020202020204" pitchFamily="34" charset="0"/>
              </a:rPr>
              <a:t>T</a:t>
            </a:r>
            <a:r>
              <a:rPr lang="es-ES" sz="1800" dirty="0">
                <a:solidFill>
                  <a:schemeClr val="bg1"/>
                </a:solidFill>
                <a:effectLst/>
                <a:latin typeface="Eras Medium ITC" panose="020B0602030504020804" pitchFamily="34" charset="0"/>
                <a:ea typeface="Arial" panose="020B0604020202020204" pitchFamily="34" charset="0"/>
              </a:rPr>
              <a:t>erceros quitaran</a:t>
            </a:r>
            <a:r>
              <a:rPr lang="es-ES" dirty="0">
                <a:solidFill>
                  <a:schemeClr val="bg1"/>
                </a:solidFill>
                <a:latin typeface="Eras Medium ITC" panose="020B0602030504020804" pitchFamily="34" charset="0"/>
                <a:ea typeface="Arial" panose="020B0604020202020204" pitchFamily="34" charset="0"/>
              </a:rPr>
              <a:t> los QR</a:t>
            </a:r>
          </a:p>
          <a:p>
            <a:pPr marL="285750" indent="-285750">
              <a:buFont typeface="Arial" panose="020B0604020202020204" pitchFamily="34" charset="0"/>
              <a:buChar char="•"/>
            </a:pPr>
            <a:endParaRPr lang="es-ES" dirty="0">
              <a:solidFill>
                <a:schemeClr val="bg1"/>
              </a:solidFill>
              <a:latin typeface="Eras Medium ITC" panose="020B0602030504020804" pitchFamily="34" charset="0"/>
            </a:endParaRPr>
          </a:p>
          <a:p>
            <a:pPr marL="285750" indent="-285750">
              <a:buFont typeface="Arial" panose="020B0604020202020204" pitchFamily="34" charset="0"/>
              <a:buChar char="•"/>
            </a:pPr>
            <a:r>
              <a:rPr lang="es-ES" dirty="0">
                <a:solidFill>
                  <a:schemeClr val="bg1"/>
                </a:solidFill>
                <a:latin typeface="Eras Medium ITC" panose="020B0602030504020804" pitchFamily="34" charset="0"/>
              </a:rPr>
              <a:t>Evitar errores</a:t>
            </a:r>
            <a:endParaRPr lang="es-CL" dirty="0">
              <a:solidFill>
                <a:schemeClr val="bg1"/>
              </a:solidFill>
              <a:latin typeface="Eras Medium ITC" panose="020B0602030504020804" pitchFamily="34" charset="0"/>
            </a:endParaRPr>
          </a:p>
        </p:txBody>
      </p:sp>
    </p:spTree>
    <p:extLst>
      <p:ext uri="{BB962C8B-B14F-4D97-AF65-F5344CB8AC3E}">
        <p14:creationId xmlns:p14="http://schemas.microsoft.com/office/powerpoint/2010/main" val="150624996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83000">
              <a:schemeClr val="accent2">
                <a:lumMod val="50000"/>
              </a:schemeClr>
            </a:gs>
            <a:gs pos="33000">
              <a:schemeClr val="accent5">
                <a:lumMod val="50000"/>
              </a:schemeClr>
            </a:gs>
            <a:gs pos="0">
              <a:schemeClr val="accent6">
                <a:lumMod val="50000"/>
              </a:schemeClr>
            </a:gs>
            <a:gs pos="100000">
              <a:schemeClr val="accent1">
                <a:lumMod val="50000"/>
              </a:schemeClr>
            </a:gs>
          </a:gsLst>
          <a:lin ang="16200000" scaled="1"/>
          <a:tileRect/>
        </a:gradFill>
        <a:effectLst/>
      </p:bgPr>
    </p:bg>
    <p:spTree>
      <p:nvGrpSpPr>
        <p:cNvPr id="1" name="">
          <a:extLst>
            <a:ext uri="{FF2B5EF4-FFF2-40B4-BE49-F238E27FC236}">
              <a16:creationId xmlns:a16="http://schemas.microsoft.com/office/drawing/2014/main" id="{A0925351-D279-3A5B-719A-7EE5DC9ECF8E}"/>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50DDE566-D532-9917-B135-0CCE3E33A1A5}"/>
              </a:ext>
            </a:extLst>
          </p:cNvPr>
          <p:cNvSpPr txBox="1"/>
          <p:nvPr/>
        </p:nvSpPr>
        <p:spPr>
          <a:xfrm>
            <a:off x="2032000" y="1097420"/>
            <a:ext cx="8619672" cy="1323439"/>
          </a:xfrm>
          <a:prstGeom prst="rect">
            <a:avLst/>
          </a:prstGeom>
          <a:noFill/>
        </p:spPr>
        <p:txBody>
          <a:bodyPr wrap="square">
            <a:spAutoFit/>
          </a:bodyPr>
          <a:lstStyle/>
          <a:p>
            <a:pPr algn="ctr"/>
            <a:r>
              <a:rPr lang="es-CL" sz="8000" noProof="0" dirty="0">
                <a:solidFill>
                  <a:schemeClr val="bg1"/>
                </a:solidFill>
                <a:latin typeface="Eras Demi ITC" panose="020B0805030504020804" pitchFamily="34" charset="0"/>
              </a:rPr>
              <a:t>Conclusión</a:t>
            </a:r>
          </a:p>
        </p:txBody>
      </p:sp>
      <p:pic>
        <p:nvPicPr>
          <p:cNvPr id="22" name="Imagen 21">
            <a:extLst>
              <a:ext uri="{FF2B5EF4-FFF2-40B4-BE49-F238E27FC236}">
                <a16:creationId xmlns:a16="http://schemas.microsoft.com/office/drawing/2014/main" id="{FB02C562-0CC8-BDB6-D58B-F3316D293E19}"/>
              </a:ext>
            </a:extLst>
          </p:cNvPr>
          <p:cNvPicPr>
            <a:picLocks noChangeAspect="1"/>
          </p:cNvPicPr>
          <p:nvPr/>
        </p:nvPicPr>
        <p:blipFill>
          <a:blip r:embed="rId3">
            <a:lum bright="70000" contrast="-70000"/>
            <a:extLst>
              <a:ext uri="{BEBA8EAE-BF5A-486C-A8C5-ECC9F3942E4B}">
                <a14:imgProps xmlns:a14="http://schemas.microsoft.com/office/drawing/2010/main">
                  <a14:imgLayer r:embed="rId4">
                    <a14:imgEffect>
                      <a14:sharpenSoften amount="50000"/>
                    </a14:imgEffect>
                    <a14:imgEffect>
                      <a14:brightnessContrast bright="-40000" contrast="40000"/>
                    </a14:imgEffect>
                  </a14:imgLayer>
                </a14:imgProps>
              </a:ext>
            </a:extLst>
          </a:blip>
          <a:stretch>
            <a:fillRect/>
          </a:stretch>
        </p:blipFill>
        <p:spPr>
          <a:xfrm flipV="1">
            <a:off x="-132442" y="4799622"/>
            <a:ext cx="5500914" cy="5500914"/>
          </a:xfrm>
          <a:prstGeom prst="rect">
            <a:avLst/>
          </a:prstGeom>
        </p:spPr>
      </p:pic>
      <p:pic>
        <p:nvPicPr>
          <p:cNvPr id="24" name="Imagen 23">
            <a:extLst>
              <a:ext uri="{FF2B5EF4-FFF2-40B4-BE49-F238E27FC236}">
                <a16:creationId xmlns:a16="http://schemas.microsoft.com/office/drawing/2014/main" id="{786EEBE6-323D-0859-B496-5CDDDE945D79}"/>
              </a:ext>
            </a:extLst>
          </p:cNvPr>
          <p:cNvPicPr>
            <a:picLocks noChangeAspect="1"/>
          </p:cNvPicPr>
          <p:nvPr/>
        </p:nvPicPr>
        <p:blipFill>
          <a:blip r:embed="rId5">
            <a:lum bright="70000" contrast="-70000"/>
            <a:extLst>
              <a:ext uri="{BEBA8EAE-BF5A-486C-A8C5-ECC9F3942E4B}">
                <a14:imgProps xmlns:a14="http://schemas.microsoft.com/office/drawing/2010/main">
                  <a14:imgLayer r:embed="rId4">
                    <a14:imgEffect>
                      <a14:artisticPlasticWrap/>
                    </a14:imgEffect>
                    <a14:imgEffect>
                      <a14:sharpenSoften amount="50000"/>
                    </a14:imgEffect>
                    <a14:imgEffect>
                      <a14:brightnessContrast bright="-40000" contrast="40000"/>
                    </a14:imgEffect>
                  </a14:imgLayer>
                </a14:imgProps>
              </a:ext>
            </a:extLst>
          </a:blip>
          <a:stretch>
            <a:fillRect/>
          </a:stretch>
        </p:blipFill>
        <p:spPr>
          <a:xfrm rot="10800000">
            <a:off x="-2882899" y="1357086"/>
            <a:ext cx="5500914" cy="5500914"/>
          </a:xfrm>
          <a:prstGeom prst="rect">
            <a:avLst/>
          </a:prstGeom>
        </p:spPr>
      </p:pic>
      <p:pic>
        <p:nvPicPr>
          <p:cNvPr id="4" name="Gráfico 3" descr="QR Code con relleno sólido">
            <a:extLst>
              <a:ext uri="{FF2B5EF4-FFF2-40B4-BE49-F238E27FC236}">
                <a16:creationId xmlns:a16="http://schemas.microsoft.com/office/drawing/2014/main" id="{2F992054-6BDB-8B2F-0743-548041F3866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4472" y="2855106"/>
            <a:ext cx="914400" cy="914400"/>
          </a:xfrm>
          <a:prstGeom prst="rect">
            <a:avLst/>
          </a:prstGeom>
        </p:spPr>
      </p:pic>
      <p:pic>
        <p:nvPicPr>
          <p:cNvPr id="9" name="Gráfico 8" descr="Group of people con relleno sólido">
            <a:extLst>
              <a:ext uri="{FF2B5EF4-FFF2-40B4-BE49-F238E27FC236}">
                <a16:creationId xmlns:a16="http://schemas.microsoft.com/office/drawing/2014/main" id="{126E6552-7C00-694A-43FE-1C0F8190FA1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04530" y="2836963"/>
            <a:ext cx="914400" cy="914400"/>
          </a:xfrm>
          <a:prstGeom prst="rect">
            <a:avLst/>
          </a:prstGeom>
        </p:spPr>
      </p:pic>
      <p:pic>
        <p:nvPicPr>
          <p:cNvPr id="12" name="Gráfico 11" descr="Schoolhouse con relleno sólido">
            <a:extLst>
              <a:ext uri="{FF2B5EF4-FFF2-40B4-BE49-F238E27FC236}">
                <a16:creationId xmlns:a16="http://schemas.microsoft.com/office/drawing/2014/main" id="{7FE4F473-1E00-CEBC-1AAA-9EAD61306E3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867481" y="2937483"/>
            <a:ext cx="914400" cy="914400"/>
          </a:xfrm>
          <a:prstGeom prst="rect">
            <a:avLst/>
          </a:prstGeom>
        </p:spPr>
      </p:pic>
      <p:pic>
        <p:nvPicPr>
          <p:cNvPr id="14" name="Gráfico 13" descr="Building con relleno sólido">
            <a:extLst>
              <a:ext uri="{FF2B5EF4-FFF2-40B4-BE49-F238E27FC236}">
                <a16:creationId xmlns:a16="http://schemas.microsoft.com/office/drawing/2014/main" id="{273090AE-DAEB-9E76-1F5D-5FE95B6F55C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671208" y="2814600"/>
            <a:ext cx="914400" cy="914400"/>
          </a:xfrm>
          <a:prstGeom prst="rect">
            <a:avLst/>
          </a:prstGeom>
        </p:spPr>
      </p:pic>
      <p:sp>
        <p:nvSpPr>
          <p:cNvPr id="15" name="CuadroTexto 14">
            <a:extLst>
              <a:ext uri="{FF2B5EF4-FFF2-40B4-BE49-F238E27FC236}">
                <a16:creationId xmlns:a16="http://schemas.microsoft.com/office/drawing/2014/main" id="{0C65BB4F-C791-3E35-E892-6857DB9BCED4}"/>
              </a:ext>
            </a:extLst>
          </p:cNvPr>
          <p:cNvSpPr txBox="1"/>
          <p:nvPr/>
        </p:nvSpPr>
        <p:spPr>
          <a:xfrm>
            <a:off x="5526314" y="2717802"/>
            <a:ext cx="2217059" cy="1107996"/>
          </a:xfrm>
          <a:prstGeom prst="rect">
            <a:avLst/>
          </a:prstGeom>
          <a:noFill/>
        </p:spPr>
        <p:txBody>
          <a:bodyPr wrap="square" rtlCol="0">
            <a:spAutoFit/>
          </a:bodyPr>
          <a:lstStyle/>
          <a:p>
            <a:r>
              <a:rPr lang="es-CL" sz="6600" dirty="0">
                <a:solidFill>
                  <a:schemeClr val="bg1"/>
                </a:solidFill>
                <a:latin typeface="Eras Medium ITC" panose="020B0602030504020804" pitchFamily="34" charset="0"/>
              </a:rPr>
              <a:t>55%</a:t>
            </a:r>
          </a:p>
        </p:txBody>
      </p:sp>
    </p:spTree>
    <p:extLst>
      <p:ext uri="{BB962C8B-B14F-4D97-AF65-F5344CB8AC3E}">
        <p14:creationId xmlns:p14="http://schemas.microsoft.com/office/powerpoint/2010/main" val="517158786"/>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DB429DA1-8259-75D5-9A02-49085D6BD0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1242C2B1-C6A9-92A4-AB43-92E89C878CCA}"/>
              </a:ext>
            </a:extLst>
          </p:cNvPr>
          <p:cNvSpPr>
            <a:spLocks noGrp="1"/>
          </p:cNvSpPr>
          <p:nvPr>
            <p:ph type="title"/>
          </p:nvPr>
        </p:nvSpPr>
        <p:spPr/>
        <p:txBody>
          <a:bodyPr/>
          <a:lstStyle/>
          <a:p>
            <a:r>
              <a:rPr lang="es-CL" noProof="0" dirty="0" err="1">
                <a:latin typeface="Eras Demi ITC" panose="020B0805030504020804" pitchFamily="34" charset="0"/>
              </a:rPr>
              <a:t>Bibliografia</a:t>
            </a:r>
            <a:endParaRPr lang="es-CL" noProof="0" dirty="0">
              <a:latin typeface="Eras Demi ITC" panose="020B0805030504020804" pitchFamily="34" charset="0"/>
            </a:endParaRPr>
          </a:p>
        </p:txBody>
      </p:sp>
      <p:graphicFrame>
        <p:nvGraphicFramePr>
          <p:cNvPr id="4" name="Marcador de contenido 3">
            <a:extLst>
              <a:ext uri="{FF2B5EF4-FFF2-40B4-BE49-F238E27FC236}">
                <a16:creationId xmlns:a16="http://schemas.microsoft.com/office/drawing/2014/main" id="{1284450A-4BD4-9C19-A125-B18B76A31187}"/>
              </a:ext>
            </a:extLst>
          </p:cNvPr>
          <p:cNvGraphicFramePr>
            <a:graphicFrameLocks noGrp="1"/>
          </p:cNvGraphicFramePr>
          <p:nvPr>
            <p:ph idx="1"/>
            <p:extLst>
              <p:ext uri="{D42A27DB-BD31-4B8C-83A1-F6EECF244321}">
                <p14:modId xmlns:p14="http://schemas.microsoft.com/office/powerpoint/2010/main" val="287355407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83726642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5BC0E-432C-0BCF-5A56-E4CD0AE7FE8D}"/>
            </a:ext>
          </a:extLst>
        </p:cNvPr>
        <p:cNvGrpSpPr/>
        <p:nvPr/>
      </p:nvGrpSpPr>
      <p:grpSpPr>
        <a:xfrm>
          <a:off x="0" y="0"/>
          <a:ext cx="0" cy="0"/>
          <a:chOff x="0" y="0"/>
          <a:chExt cx="0" cy="0"/>
        </a:xfrm>
      </p:grpSpPr>
      <p:pic>
        <p:nvPicPr>
          <p:cNvPr id="14" name="Imagen 13" descr="What is Quishing? - OPSWAT">
            <a:extLst>
              <a:ext uri="{FF2B5EF4-FFF2-40B4-BE49-F238E27FC236}">
                <a16:creationId xmlns:a16="http://schemas.microsoft.com/office/drawing/2014/main" id="{46E4C089-A358-B6DD-C090-B671A72E97A8}"/>
              </a:ext>
            </a:extLst>
          </p:cNvPr>
          <p:cNvPicPr>
            <a:picLocks noChangeAspect="1"/>
          </p:cNvPicPr>
          <p:nvPr/>
        </p:nvPicPr>
        <p:blipFill>
          <a:blip r:embed="rId3"/>
          <a:srcRect l="25405" r="23616"/>
          <a:stretch>
            <a:fillRect/>
          </a:stretch>
        </p:blipFill>
        <p:spPr>
          <a:xfrm flipH="1">
            <a:off x="5493802" y="-12700"/>
            <a:ext cx="6738460" cy="6912000"/>
          </a:xfrm>
          <a:prstGeom prst="flowChartDelay">
            <a:avLst/>
          </a:prstGeom>
        </p:spPr>
      </p:pic>
      <p:sp>
        <p:nvSpPr>
          <p:cNvPr id="2" name="Título 1">
            <a:extLst>
              <a:ext uri="{FF2B5EF4-FFF2-40B4-BE49-F238E27FC236}">
                <a16:creationId xmlns:a16="http://schemas.microsoft.com/office/drawing/2014/main" id="{3D303C26-A011-3D27-882C-12AB3B09DBD9}"/>
              </a:ext>
            </a:extLst>
          </p:cNvPr>
          <p:cNvSpPr>
            <a:spLocks noGrp="1"/>
          </p:cNvSpPr>
          <p:nvPr>
            <p:ph type="ctrTitle"/>
          </p:nvPr>
        </p:nvSpPr>
        <p:spPr>
          <a:xfrm>
            <a:off x="165100" y="1797255"/>
            <a:ext cx="5493802" cy="1372718"/>
          </a:xfrm>
        </p:spPr>
        <p:txBody>
          <a:bodyPr>
            <a:noAutofit/>
          </a:bodyPr>
          <a:lstStyle/>
          <a:p>
            <a:r>
              <a:rPr lang="es-CL" sz="4000" noProof="0" dirty="0">
                <a:solidFill>
                  <a:srgbClr val="2E0C27"/>
                </a:solidFill>
                <a:latin typeface="Eras Bold ITC" panose="020B0907030504020204" pitchFamily="34" charset="0"/>
              </a:rPr>
              <a:t>Entrega final de Proyecto</a:t>
            </a:r>
          </a:p>
        </p:txBody>
      </p:sp>
      <p:sp>
        <p:nvSpPr>
          <p:cNvPr id="3" name="Subtítulo 2">
            <a:extLst>
              <a:ext uri="{FF2B5EF4-FFF2-40B4-BE49-F238E27FC236}">
                <a16:creationId xmlns:a16="http://schemas.microsoft.com/office/drawing/2014/main" id="{3A35BD73-5872-E2A0-3699-6A377A3251BB}"/>
              </a:ext>
            </a:extLst>
          </p:cNvPr>
          <p:cNvSpPr>
            <a:spLocks noGrp="1"/>
          </p:cNvSpPr>
          <p:nvPr>
            <p:ph type="subTitle" idx="1"/>
          </p:nvPr>
        </p:nvSpPr>
        <p:spPr>
          <a:xfrm>
            <a:off x="79901" y="3264062"/>
            <a:ext cx="5334000" cy="1459436"/>
          </a:xfrm>
        </p:spPr>
        <p:txBody>
          <a:bodyPr>
            <a:normAutofit/>
          </a:bodyPr>
          <a:lstStyle/>
          <a:p>
            <a:r>
              <a:rPr lang="es-CL" sz="2800" noProof="0" dirty="0">
                <a:solidFill>
                  <a:srgbClr val="0B1C3A"/>
                </a:solidFill>
                <a:latin typeface="Eras Medium ITC" panose="020B0602030504020804" pitchFamily="34" charset="0"/>
              </a:rPr>
              <a:t>Análisis comparativo de Phishing mediante </a:t>
            </a:r>
            <a:r>
              <a:rPr lang="es-CL" sz="2800" noProof="0" dirty="0" err="1">
                <a:solidFill>
                  <a:srgbClr val="0B1C3A"/>
                </a:solidFill>
                <a:latin typeface="Eras Medium ITC" panose="020B0602030504020804" pitchFamily="34" charset="0"/>
              </a:rPr>
              <a:t>QRs</a:t>
            </a:r>
            <a:r>
              <a:rPr lang="es-CL" sz="2800" noProof="0" dirty="0">
                <a:solidFill>
                  <a:srgbClr val="0B1C3A"/>
                </a:solidFill>
                <a:latin typeface="Eras Medium ITC" panose="020B0602030504020804" pitchFamily="34" charset="0"/>
              </a:rPr>
              <a:t> en distintos medios de distribución.</a:t>
            </a:r>
          </a:p>
          <a:p>
            <a:endParaRPr lang="es-CL" sz="2800" noProof="0" dirty="0">
              <a:solidFill>
                <a:srgbClr val="0B1C3A"/>
              </a:solidFill>
              <a:latin typeface="Eras Light ITC" panose="020B0402030504020804" pitchFamily="34" charset="0"/>
            </a:endParaRPr>
          </a:p>
        </p:txBody>
      </p:sp>
      <p:sp>
        <p:nvSpPr>
          <p:cNvPr id="5" name="CuadroTexto 4">
            <a:extLst>
              <a:ext uri="{FF2B5EF4-FFF2-40B4-BE49-F238E27FC236}">
                <a16:creationId xmlns:a16="http://schemas.microsoft.com/office/drawing/2014/main" id="{FA0DD0E9-A82C-40B3-4DAB-EB1F33E6E13D}"/>
              </a:ext>
            </a:extLst>
          </p:cNvPr>
          <p:cNvSpPr txBox="1"/>
          <p:nvPr/>
        </p:nvSpPr>
        <p:spPr>
          <a:xfrm>
            <a:off x="1157003" y="4623996"/>
            <a:ext cx="3509996" cy="644920"/>
          </a:xfrm>
          <a:prstGeom prst="rect">
            <a:avLst/>
          </a:prstGeom>
          <a:noFill/>
        </p:spPr>
        <p:txBody>
          <a:bodyPr wrap="square">
            <a:spAutoFit/>
          </a:bodyPr>
          <a:lstStyle/>
          <a:p>
            <a:pPr algn="ctr">
              <a:lnSpc>
                <a:spcPct val="116000"/>
              </a:lnSpc>
              <a:spcAft>
                <a:spcPts val="800"/>
              </a:spcAft>
              <a:buNone/>
            </a:pPr>
            <a:r>
              <a:rPr lang="es-CL" sz="1600" i="0" noProof="0" dirty="0">
                <a:solidFill>
                  <a:srgbClr val="1C324E"/>
                </a:solidFill>
                <a:effectLst/>
                <a:latin typeface="Consolas" panose="020B0609020204030204" pitchFamily="49" charset="0"/>
                <a:ea typeface="Times New Roman" panose="02020603050405020304" pitchFamily="18" charset="0"/>
                <a:cs typeface="Arial" panose="020B0604020202020204" pitchFamily="34" charset="0"/>
              </a:rPr>
              <a:t>Camila Antonia Marcus Ruiz y </a:t>
            </a:r>
            <a:r>
              <a:rPr lang="es-CL" sz="1600" noProof="0" dirty="0" err="1">
                <a:solidFill>
                  <a:srgbClr val="1C324E"/>
                </a:solidFill>
                <a:effectLst/>
                <a:latin typeface="Consolas" panose="020B0609020204030204" pitchFamily="49" charset="0"/>
                <a:ea typeface="Times New Roman" panose="02020603050405020304" pitchFamily="18" charset="0"/>
                <a:cs typeface="Arial" panose="020B0604020202020204" pitchFamily="34" charset="0"/>
              </a:rPr>
              <a:t>Daniella</a:t>
            </a:r>
            <a:r>
              <a:rPr lang="es-CL" sz="1600" noProof="0" dirty="0">
                <a:solidFill>
                  <a:srgbClr val="1C324E"/>
                </a:solidFill>
                <a:effectLst/>
                <a:latin typeface="Consolas" panose="020B0609020204030204" pitchFamily="49" charset="0"/>
                <a:ea typeface="Times New Roman" panose="02020603050405020304" pitchFamily="18" charset="0"/>
                <a:cs typeface="Arial" panose="020B0604020202020204" pitchFamily="34" charset="0"/>
              </a:rPr>
              <a:t> Andrea Jofré Toro</a:t>
            </a:r>
            <a:endParaRPr lang="es-CL" sz="1400" noProof="0" dirty="0">
              <a:solidFill>
                <a:srgbClr val="1C324E"/>
              </a:solidFill>
              <a:effectLst/>
              <a:latin typeface="Consolas" panose="020B0609020204030204" pitchFamily="49" charset="0"/>
              <a:ea typeface="Calibri" panose="020F0502020204030204" pitchFamily="34" charset="0"/>
              <a:cs typeface="Arial" panose="020B0604020202020204" pitchFamily="34" charset="0"/>
            </a:endParaRPr>
          </a:p>
        </p:txBody>
      </p:sp>
      <p:sp>
        <p:nvSpPr>
          <p:cNvPr id="6" name="Rectangle 3">
            <a:extLst>
              <a:ext uri="{FF2B5EF4-FFF2-40B4-BE49-F238E27FC236}">
                <a16:creationId xmlns:a16="http://schemas.microsoft.com/office/drawing/2014/main" id="{B0A05202-D6D5-97F5-0213-C11551264B9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noProof="0" dirty="0"/>
          </a:p>
        </p:txBody>
      </p:sp>
      <p:sp>
        <p:nvSpPr>
          <p:cNvPr id="7" name="Rectangle 4">
            <a:extLst>
              <a:ext uri="{FF2B5EF4-FFF2-40B4-BE49-F238E27FC236}">
                <a16:creationId xmlns:a16="http://schemas.microsoft.com/office/drawing/2014/main" id="{21900BCB-D668-A692-0F00-2F0DCFEE14FA}"/>
              </a:ext>
            </a:extLst>
          </p:cNvPr>
          <p:cNvSpPr>
            <a:spLocks noChangeArrowheads="1"/>
          </p:cNvSpPr>
          <p:nvPr/>
        </p:nvSpPr>
        <p:spPr bwMode="auto">
          <a:xfrm>
            <a:off x="995362" y="417513"/>
            <a:ext cx="3562350"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L" sz="1100" b="0" i="0" u="none" strike="noStrike" cap="none" normalizeH="0" baseline="0" noProof="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PONTIFICIA UNIVERSIDAD CAT</a:t>
            </a:r>
            <a:r>
              <a:rPr kumimoji="0" lang="es-CL" sz="1100" b="0" i="0" u="none" strike="noStrike" cap="none" normalizeH="0" baseline="0" noProof="0" dirty="0">
                <a:ln>
                  <a:noFill/>
                </a:ln>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t>Ó</a:t>
            </a:r>
            <a:r>
              <a:rPr kumimoji="0" lang="es-CL" sz="1100" b="0" i="0" u="none" strike="noStrike" cap="none" normalizeH="0" baseline="0" noProof="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LICA DE CHILE </a:t>
            </a:r>
            <a:r>
              <a:rPr kumimoji="0" lang="es-CL" sz="1100" b="0" i="0" u="none" strike="noStrike" cap="none" normalizeH="0" baseline="0" noProof="0" dirty="0">
                <a:ln>
                  <a:noFill/>
                </a:ln>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t> </a:t>
            </a:r>
            <a:r>
              <a:rPr kumimoji="0" lang="es-CL" sz="1100" b="0" i="0" u="none" strike="noStrike" cap="none" normalizeH="0" baseline="0" noProof="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kumimoji="0" lang="es-CL" sz="1100" b="0" i="0" u="none" strike="noStrike" cap="none" normalizeH="0" baseline="0" noProof="0" dirty="0">
                <a:ln>
                  <a:noFill/>
                </a:ln>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t> </a:t>
            </a:r>
            <a:endParaRPr kumimoji="0" lang="es-CL" sz="800" b="0" i="0" u="none" strike="noStrike" cap="none" normalizeH="0" baseline="0" noProof="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sz="1100" b="0" i="0" u="none" strike="noStrike" cap="none" normalizeH="0" baseline="0" noProof="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ESCUELA DE INGENIER</a:t>
            </a:r>
            <a:r>
              <a:rPr kumimoji="0" lang="es-CL" sz="1100" b="0" i="0" u="none" strike="noStrike" cap="none" normalizeH="0" baseline="0" noProof="0" dirty="0">
                <a:ln>
                  <a:noFill/>
                </a:ln>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t>Í</a:t>
            </a:r>
            <a:r>
              <a:rPr kumimoji="0" lang="es-CL" sz="1100" b="0" i="0" u="none" strike="noStrike" cap="none" normalizeH="0" baseline="0" noProof="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a:t>
            </a:r>
            <a:endParaRPr kumimoji="0" lang="es-CL" sz="800" b="0" i="0" u="none" strike="noStrike" cap="none" normalizeH="0" baseline="0" noProof="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sz="1100" b="0" i="0" u="none" strike="noStrike" cap="none" normalizeH="0" baseline="0" noProof="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IIC2531 </a:t>
            </a:r>
            <a:r>
              <a:rPr kumimoji="0" lang="es-CL" sz="1100" b="0" i="0" u="none" strike="noStrike" cap="none" normalizeH="0" baseline="0" noProof="0" dirty="0">
                <a:ln>
                  <a:noFill/>
                </a:ln>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t>–</a:t>
            </a:r>
            <a:r>
              <a:rPr kumimoji="0" lang="es-CL" sz="1100" b="0" i="0" u="none" strike="noStrike" cap="none" normalizeH="0" baseline="0" noProof="0" dirty="0">
                <a:ln>
                  <a:noFill/>
                </a:ln>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SEGURIDAD COMPUTACIONAL</a:t>
            </a:r>
            <a:endParaRPr kumimoji="0" lang="es-CL" sz="1800" b="0" i="0" u="none" strike="noStrike" cap="none" normalizeH="0" baseline="0" noProof="0" dirty="0">
              <a:ln>
                <a:noFill/>
              </a:ln>
              <a:solidFill>
                <a:schemeClr val="tx1"/>
              </a:solidFill>
              <a:effectLst/>
              <a:latin typeface="Arial" panose="020B0604020202020204" pitchFamily="34" charset="0"/>
            </a:endParaRPr>
          </a:p>
        </p:txBody>
      </p:sp>
      <p:pic>
        <p:nvPicPr>
          <p:cNvPr id="10" name="Imagen 9" descr="Inicio - Departamento de Ingeniería Industrial y de Sistemas">
            <a:extLst>
              <a:ext uri="{FF2B5EF4-FFF2-40B4-BE49-F238E27FC236}">
                <a16:creationId xmlns:a16="http://schemas.microsoft.com/office/drawing/2014/main" id="{09E79ABB-4AE6-2F93-8B26-E503AA46E853}"/>
              </a:ext>
            </a:extLst>
          </p:cNvPr>
          <p:cNvPicPr>
            <a:picLocks noChangeAspect="1"/>
          </p:cNvPicPr>
          <p:nvPr/>
        </p:nvPicPr>
        <p:blipFill>
          <a:blip r:embed="rId4">
            <a:biLevel thresh="75000"/>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p:blipFill>
        <p:spPr>
          <a:xfrm>
            <a:off x="328559" y="261250"/>
            <a:ext cx="560925" cy="756427"/>
          </a:xfrm>
          <a:prstGeom prst="rect">
            <a:avLst/>
          </a:prstGeom>
        </p:spPr>
      </p:pic>
      <p:cxnSp>
        <p:nvCxnSpPr>
          <p:cNvPr id="16" name="Conector recto 15">
            <a:extLst>
              <a:ext uri="{FF2B5EF4-FFF2-40B4-BE49-F238E27FC236}">
                <a16:creationId xmlns:a16="http://schemas.microsoft.com/office/drawing/2014/main" id="{B41E6B71-4BEF-5467-8DCF-420857784F78}"/>
              </a:ext>
            </a:extLst>
          </p:cNvPr>
          <p:cNvCxnSpPr/>
          <p:nvPr/>
        </p:nvCxnSpPr>
        <p:spPr>
          <a:xfrm>
            <a:off x="-80963" y="1549400"/>
            <a:ext cx="3632200" cy="0"/>
          </a:xfrm>
          <a:prstGeom prst="line">
            <a:avLst/>
          </a:prstGeom>
          <a:ln w="63500">
            <a:solidFill>
              <a:srgbClr val="2E0C27"/>
            </a:solidFill>
          </a:ln>
        </p:spPr>
        <p:style>
          <a:lnRef idx="2">
            <a:schemeClr val="accent1"/>
          </a:lnRef>
          <a:fillRef idx="0">
            <a:schemeClr val="accent1"/>
          </a:fillRef>
          <a:effectRef idx="1">
            <a:schemeClr val="accent1"/>
          </a:effectRef>
          <a:fontRef idx="minor">
            <a:schemeClr val="tx1"/>
          </a:fontRef>
        </p:style>
      </p:cxnSp>
      <p:sp>
        <p:nvSpPr>
          <p:cNvPr id="17" name="Elipse 16">
            <a:extLst>
              <a:ext uri="{FF2B5EF4-FFF2-40B4-BE49-F238E27FC236}">
                <a16:creationId xmlns:a16="http://schemas.microsoft.com/office/drawing/2014/main" id="{97849FDD-AA3B-37F9-1960-823EEA12A53D}"/>
              </a:ext>
            </a:extLst>
          </p:cNvPr>
          <p:cNvSpPr/>
          <p:nvPr/>
        </p:nvSpPr>
        <p:spPr>
          <a:xfrm>
            <a:off x="3752850" y="1479550"/>
            <a:ext cx="139700" cy="139700"/>
          </a:xfrm>
          <a:prstGeom prst="ellipse">
            <a:avLst/>
          </a:prstGeom>
          <a:solidFill>
            <a:srgbClr val="2E0C27"/>
          </a:solidFill>
          <a:ln>
            <a:solidFill>
              <a:srgbClr val="2E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19" name="Elipse 18">
            <a:extLst>
              <a:ext uri="{FF2B5EF4-FFF2-40B4-BE49-F238E27FC236}">
                <a16:creationId xmlns:a16="http://schemas.microsoft.com/office/drawing/2014/main" id="{47F57DC8-7EAF-0B17-8C32-165B8196C4ED}"/>
              </a:ext>
            </a:extLst>
          </p:cNvPr>
          <p:cNvSpPr/>
          <p:nvPr/>
        </p:nvSpPr>
        <p:spPr>
          <a:xfrm>
            <a:off x="4094163" y="1479550"/>
            <a:ext cx="139700" cy="139700"/>
          </a:xfrm>
          <a:prstGeom prst="ellipse">
            <a:avLst/>
          </a:prstGeom>
          <a:solidFill>
            <a:srgbClr val="2E0C27"/>
          </a:solidFill>
          <a:ln>
            <a:solidFill>
              <a:srgbClr val="2E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21" name="Elipse 20">
            <a:extLst>
              <a:ext uri="{FF2B5EF4-FFF2-40B4-BE49-F238E27FC236}">
                <a16:creationId xmlns:a16="http://schemas.microsoft.com/office/drawing/2014/main" id="{9D69C2D2-3094-95CA-36D1-688D20BD567C}"/>
              </a:ext>
            </a:extLst>
          </p:cNvPr>
          <p:cNvSpPr/>
          <p:nvPr/>
        </p:nvSpPr>
        <p:spPr>
          <a:xfrm>
            <a:off x="4419332" y="1479550"/>
            <a:ext cx="139700" cy="139700"/>
          </a:xfrm>
          <a:prstGeom prst="ellipse">
            <a:avLst/>
          </a:prstGeom>
          <a:solidFill>
            <a:srgbClr val="2E0C27"/>
          </a:solidFill>
          <a:ln>
            <a:solidFill>
              <a:srgbClr val="2E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cxnSp>
        <p:nvCxnSpPr>
          <p:cNvPr id="22" name="Conector recto 21">
            <a:extLst>
              <a:ext uri="{FF2B5EF4-FFF2-40B4-BE49-F238E27FC236}">
                <a16:creationId xmlns:a16="http://schemas.microsoft.com/office/drawing/2014/main" id="{9C970FB0-7F18-F807-23A2-94FFC5CEA2FF}"/>
              </a:ext>
            </a:extLst>
          </p:cNvPr>
          <p:cNvCxnSpPr>
            <a:cxnSpLocks/>
          </p:cNvCxnSpPr>
          <p:nvPr/>
        </p:nvCxnSpPr>
        <p:spPr>
          <a:xfrm flipH="1">
            <a:off x="1616656" y="5614353"/>
            <a:ext cx="4785776" cy="0"/>
          </a:xfrm>
          <a:prstGeom prst="line">
            <a:avLst/>
          </a:prstGeom>
          <a:ln w="63500">
            <a:solidFill>
              <a:srgbClr val="0B1C3A"/>
            </a:solidFill>
          </a:ln>
        </p:spPr>
        <p:style>
          <a:lnRef idx="2">
            <a:schemeClr val="accent1"/>
          </a:lnRef>
          <a:fillRef idx="0">
            <a:schemeClr val="accent1"/>
          </a:fillRef>
          <a:effectRef idx="1">
            <a:schemeClr val="accent1"/>
          </a:effectRef>
          <a:fontRef idx="minor">
            <a:schemeClr val="tx1"/>
          </a:fontRef>
        </p:style>
      </p:cxnSp>
      <p:sp>
        <p:nvSpPr>
          <p:cNvPr id="23" name="Elipse 22">
            <a:extLst>
              <a:ext uri="{FF2B5EF4-FFF2-40B4-BE49-F238E27FC236}">
                <a16:creationId xmlns:a16="http://schemas.microsoft.com/office/drawing/2014/main" id="{826345BB-FE8D-9BCE-7E79-5750CD0CEFDB}"/>
              </a:ext>
            </a:extLst>
          </p:cNvPr>
          <p:cNvSpPr/>
          <p:nvPr/>
        </p:nvSpPr>
        <p:spPr>
          <a:xfrm rot="10800000">
            <a:off x="1275343" y="5544503"/>
            <a:ext cx="139700" cy="139700"/>
          </a:xfrm>
          <a:prstGeom prst="ellipse">
            <a:avLst/>
          </a:prstGeom>
          <a:solidFill>
            <a:srgbClr val="0B1C3A"/>
          </a:solidFill>
          <a:ln>
            <a:solidFill>
              <a:srgbClr val="2E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24" name="Elipse 23">
            <a:extLst>
              <a:ext uri="{FF2B5EF4-FFF2-40B4-BE49-F238E27FC236}">
                <a16:creationId xmlns:a16="http://schemas.microsoft.com/office/drawing/2014/main" id="{EA1879EA-8FDA-3005-F8DE-C0657C2D2C89}"/>
              </a:ext>
            </a:extLst>
          </p:cNvPr>
          <p:cNvSpPr/>
          <p:nvPr/>
        </p:nvSpPr>
        <p:spPr>
          <a:xfrm rot="10800000">
            <a:off x="934030" y="5544503"/>
            <a:ext cx="139700" cy="139700"/>
          </a:xfrm>
          <a:prstGeom prst="ellipse">
            <a:avLst/>
          </a:prstGeom>
          <a:solidFill>
            <a:srgbClr val="0B1C3A"/>
          </a:solidFill>
          <a:ln>
            <a:solidFill>
              <a:srgbClr val="2E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25" name="Elipse 24">
            <a:extLst>
              <a:ext uri="{FF2B5EF4-FFF2-40B4-BE49-F238E27FC236}">
                <a16:creationId xmlns:a16="http://schemas.microsoft.com/office/drawing/2014/main" id="{8318D66F-6ACB-BAE9-5B2C-823993C51497}"/>
              </a:ext>
            </a:extLst>
          </p:cNvPr>
          <p:cNvSpPr/>
          <p:nvPr/>
        </p:nvSpPr>
        <p:spPr>
          <a:xfrm rot="10800000">
            <a:off x="608861" y="5544503"/>
            <a:ext cx="139700" cy="139700"/>
          </a:xfrm>
          <a:prstGeom prst="ellipse">
            <a:avLst/>
          </a:prstGeom>
          <a:solidFill>
            <a:srgbClr val="0B1C3A"/>
          </a:solidFill>
          <a:ln>
            <a:solidFill>
              <a:srgbClr val="2E0C2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Tree>
    <p:extLst>
      <p:ext uri="{BB962C8B-B14F-4D97-AF65-F5344CB8AC3E}">
        <p14:creationId xmlns:p14="http://schemas.microsoft.com/office/powerpoint/2010/main" val="197318373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theme/theme1.xml><?xml version="1.0" encoding="utf-8"?>
<a:theme xmlns:a="http://schemas.openxmlformats.org/drawingml/2006/main" name="Office Theme">
  <a:themeElements>
    <a:clrScheme name="Personalizado 1">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491347"/>
      </a:hlink>
      <a:folHlink>
        <a:srgbClr val="666699"/>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3897F6DEAC8E479431DF5414E004B3" ma:contentTypeVersion="9" ma:contentTypeDescription="Create a new document." ma:contentTypeScope="" ma:versionID="476ff4cf5b7fbb1f56ea9b3531fe70c9">
  <xsd:schema xmlns:xsd="http://www.w3.org/2001/XMLSchema" xmlns:xs="http://www.w3.org/2001/XMLSchema" xmlns:p="http://schemas.microsoft.com/office/2006/metadata/properties" xmlns:ns3="f073f28a-8dc4-490b-bcfb-ad21017178c9" xmlns:ns4="c88165ea-1b6f-4343-bef4-2bdc04633770" targetNamespace="http://schemas.microsoft.com/office/2006/metadata/properties" ma:root="true" ma:fieldsID="6871791e727e7dd0d4cb4c98bf663d5b" ns3:_="" ns4:_="">
    <xsd:import namespace="f073f28a-8dc4-490b-bcfb-ad21017178c9"/>
    <xsd:import namespace="c88165ea-1b6f-4343-bef4-2bdc04633770"/>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73f28a-8dc4-490b-bcfb-ad21017178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BillingMetadata" ma:index="1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88165ea-1b6f-4343-bef4-2bdc04633770"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f073f28a-8dc4-490b-bcfb-ad21017178c9" xsi:nil="true"/>
  </documentManagement>
</p:properties>
</file>

<file path=customXml/itemProps1.xml><?xml version="1.0" encoding="utf-8"?>
<ds:datastoreItem xmlns:ds="http://schemas.openxmlformats.org/officeDocument/2006/customXml" ds:itemID="{2C462C4F-43F5-49E1-A9C7-ADC88A5233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73f28a-8dc4-490b-bcfb-ad21017178c9"/>
    <ds:schemaRef ds:uri="c88165ea-1b6f-4343-bef4-2bdc046337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7397E22-EE9A-4EB6-AF0F-5510A2E040F2}">
  <ds:schemaRefs>
    <ds:schemaRef ds:uri="http://schemas.microsoft.com/sharepoint/v3/contenttype/forms"/>
  </ds:schemaRefs>
</ds:datastoreItem>
</file>

<file path=customXml/itemProps3.xml><?xml version="1.0" encoding="utf-8"?>
<ds:datastoreItem xmlns:ds="http://schemas.openxmlformats.org/officeDocument/2006/customXml" ds:itemID="{F0A660C0-47CE-44D8-8A9C-CE9E4BB194A6}">
  <ds:schemaRefs>
    <ds:schemaRef ds:uri="http://purl.org/dc/elements/1.1/"/>
    <ds:schemaRef ds:uri="c88165ea-1b6f-4343-bef4-2bdc04633770"/>
    <ds:schemaRef ds:uri="http://schemas.microsoft.com/office/2006/documentManagement/types"/>
    <ds:schemaRef ds:uri="f073f28a-8dc4-490b-bcfb-ad21017178c9"/>
    <ds:schemaRef ds:uri="http://purl.org/dc/dcmitype/"/>
    <ds:schemaRef ds:uri="http://schemas.microsoft.com/office/infopath/2007/PartnerControls"/>
    <ds:schemaRef ds:uri="http://purl.org/dc/terms/"/>
    <ds:schemaRef ds:uri="http://schemas.openxmlformats.org/package/2006/metadata/core-propertie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579</TotalTime>
  <Words>2687</Words>
  <Application>Microsoft Office PowerPoint</Application>
  <PresentationFormat>Panorámica</PresentationFormat>
  <Paragraphs>294</Paragraphs>
  <Slides>22</Slides>
  <Notes>22</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22</vt:i4>
      </vt:variant>
    </vt:vector>
  </HeadingPairs>
  <TitlesOfParts>
    <vt:vector size="33" baseType="lpstr">
      <vt:lpstr>Aptos</vt:lpstr>
      <vt:lpstr>Aptos Display</vt:lpstr>
      <vt:lpstr>Arial</vt:lpstr>
      <vt:lpstr>Calibri</vt:lpstr>
      <vt:lpstr>Consolas</vt:lpstr>
      <vt:lpstr>Eras Bold ITC</vt:lpstr>
      <vt:lpstr>Eras Demi ITC</vt:lpstr>
      <vt:lpstr>Eras Light ITC</vt:lpstr>
      <vt:lpstr>Eras Medium ITC</vt:lpstr>
      <vt:lpstr>Times New Roman</vt:lpstr>
      <vt:lpstr>Office Theme</vt:lpstr>
      <vt:lpstr>Entrega final de Proyecto</vt:lpstr>
      <vt:lpstr>Presentación de PowerPoint</vt:lpstr>
      <vt:lpstr>Presentación de PowerPoint</vt:lpstr>
      <vt:lpstr>Objetivos</vt:lpstr>
      <vt:lpstr>Profundidad Técnica y Conceptos de Seguridad</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Bibliografia</vt:lpstr>
      <vt:lpstr>Entrega final de Proyecto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Camila Antonia Marcus Ruiz</dc:creator>
  <cp:lastModifiedBy>Camila Marcus Ruiz</cp:lastModifiedBy>
  <cp:revision>1</cp:revision>
  <dcterms:created xsi:type="dcterms:W3CDTF">2026-06-21T19:49:52Z</dcterms:created>
  <dcterms:modified xsi:type="dcterms:W3CDTF">2026-06-22T12:44:13Z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0x010100AC3897F6DEAC8E479431DF5414E004B3</vt:lpwstr>
  </property>
</Properties>
</file>